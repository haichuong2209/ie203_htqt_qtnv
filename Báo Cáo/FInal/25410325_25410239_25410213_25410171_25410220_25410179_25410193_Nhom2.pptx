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32" roundtripDataSignature="AMtx7migqIjX2bjmegbMBrC0fwpVHcPYj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60C12F0-EA0F-4C08-B8CF-7D1332A2121B}">
  <a:tblStyle styleId="{660C12F0-EA0F-4C08-B8CF-7D1332A2121B}"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b="off" i="off"/>
      <a:tcStyle>
        <a:fill>
          <a:solidFill>
            <a:srgbClr val="CFD7E7"/>
          </a:solidFill>
        </a:fill>
      </a:tcStyle>
    </a:band1H>
    <a:band2H>
      <a:tcTxStyle b="off" i="off"/>
    </a:band2H>
    <a:band1V>
      <a:tcTxStyle b="off" i="off"/>
      <a:tcStyle>
        <a:fill>
          <a:solidFill>
            <a:srgbClr val="CFD7E7"/>
          </a:solidFill>
        </a:fill>
      </a:tcStyle>
    </a:band1V>
    <a:band2V>
      <a:tcTxStyle b="off" i="off"/>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10" Type="http://schemas.openxmlformats.org/officeDocument/2006/relationships/slide" Target="slides/slide4.xml"/><Relationship Id="rId32" Type="http://customschemas.google.com/relationships/presentationmetadata" Target="meta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p:nvPr>
            <p:ph idx="2" type="sldImg"/>
          </p:nvPr>
        </p:nvSpPr>
        <p:spPr>
          <a:xfrm>
            <a:off x="-1166813" y="0"/>
            <a:ext cx="5334001"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b="0" i="0" lang="en-US" sz="1200" u="none" cap="none" strike="noStrike">
                <a:solidFill>
                  <a:schemeClr val="dk1"/>
                </a:solidFill>
                <a:latin typeface="Arial"/>
                <a:ea typeface="Arial"/>
                <a:cs typeface="Arial"/>
                <a:sym typeface="Arial"/>
              </a:rPr>
              <a:t>Chào hỏi, giới thiệu tên nhóm và đề tài: phân tích &amp; mô hình hóa quy trình nghiệp vụ tại một doanh nghiệp outsourcing phần mềm (bí danh 'OR Tech'). Nêu nhanh 3 quy trình sẽ đi sâu hôm nay, đại diện đúng 3 nhóm Management/Core/Support.</a:t>
            </a:r>
            <a:endParaRPr/>
          </a:p>
        </p:txBody>
      </p:sp>
      <p:sp>
        <p:nvSpPr>
          <p:cNvPr id="83" name="Google Shape;83;p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2:notes"/>
          <p:cNvSpPr/>
          <p:nvPr>
            <p:ph idx="2" type="sldImg"/>
          </p:nvPr>
        </p:nvSpPr>
        <p:spPr>
          <a:xfrm>
            <a:off x="-1166813" y="0"/>
            <a:ext cx="5334001"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0" name="Google Shape;140;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Trình bày nhanh 6 phần của bài thuyết trình theo thứ tự trên slide, nhấn mạnh phần 3-4-5 là trọng tâm (mỗi quy trình đại diện 1 nhóm Management/Core/Support).</a:t>
            </a:r>
            <a:endParaRPr/>
          </a:p>
        </p:txBody>
      </p:sp>
      <p:sp>
        <p:nvSpPr>
          <p:cNvPr id="141" name="Google Shape;141;p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3:notes"/>
          <p:cNvSpPr/>
          <p:nvPr>
            <p:ph idx="2" type="sldImg"/>
          </p:nvPr>
        </p:nvSpPr>
        <p:spPr>
          <a:xfrm>
            <a:off x="-1166813" y="0"/>
            <a:ext cx="5334001"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0" name="Google Shape;180;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OR Tech là công ty outsourcing phần mềm, phục vụ khách hàng quốc tế theo 3 mô hình hợp tác. Nhấn mạnh: vì cam kết SLA với khách hàng nước ngoài + 2 chứng nhận ISO, quy trình nội bộ chuẩn hóa là yếu tố sống còn — đây là lý do đồ án chọn phân tích quy trình nghiệp vụ của công ty này.</a:t>
            </a:r>
            <a:endParaRPr/>
          </a:p>
        </p:txBody>
      </p:sp>
      <p:sp>
        <p:nvSpPr>
          <p:cNvPr id="181" name="Google Shape;181;p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4:notes"/>
          <p:cNvSpPr/>
          <p:nvPr>
            <p:ph idx="2" type="sldImg"/>
          </p:nvPr>
        </p:nvSpPr>
        <p:spPr>
          <a:xfrm>
            <a:off x="-1166813" y="0"/>
            <a:ext cx="5334001"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0" name="Google Shape;200;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Đồ án khảo sát 10 quy trình nghiệp vụ cốt lõi của OR Tech theo kiến trúc Management/Core/Support. 6 quy trình được mô hình hóa BPMN chi tiết; trong phạm vi buổi báo cáo hôm nay, nhóm chọn trình bày sâu đúng 3 quy trình đại diện 3 nhóm. Phương pháp thu thập bằng chứng kết hợp phỏng vấn được áp dụng thống nhất cho cả 6 quy trình mô hình hóa.</a:t>
            </a:r>
            <a:endParaRPr/>
          </a:p>
        </p:txBody>
      </p:sp>
      <p:sp>
        <p:nvSpPr>
          <p:cNvPr id="201" name="Google Shape;201;p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5:notes"/>
          <p:cNvSpPr/>
          <p:nvPr>
            <p:ph idx="2" type="sldImg"/>
          </p:nvPr>
        </p:nvSpPr>
        <p:spPr>
          <a:xfrm>
            <a:off x="-1166813" y="0"/>
            <a:ext cx="5334001"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4" name="Google Shape;224;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Chuyển sang quy trình đầu tiên trong 3 quy trình trình bày sâu hôm nay: Quản lý Chất lượng, đại diện nhóm Management.</a:t>
            </a:r>
            <a:endParaRPr/>
          </a:p>
        </p:txBody>
      </p:sp>
      <p:sp>
        <p:nvSpPr>
          <p:cNvPr id="225" name="Google Shape;225;p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6:notes"/>
          <p:cNvSpPr/>
          <p:nvPr>
            <p:ph idx="2" type="sldImg"/>
          </p:nvPr>
        </p:nvSpPr>
        <p:spPr>
          <a:xfrm>
            <a:off x="-1166813" y="0"/>
            <a:ext cx="5334001"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0" name="Google Shape;240;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Sơ đồ chevron thể hiện 6 bước chính ở tầm nhìn tổng quan (process perspective): lập kế hoạch audit, audit thực tế &amp; rà soát tài liệu, đánh giá kết quả NC, xử lý CAPA nếu có NC, theo dõi &amp; đóng NC, báo cáo BOD. Actors chính là QA Manager và nhóm QA/QC, với PM là đối tượng bị audit.</a:t>
            </a:r>
            <a:endParaRPr/>
          </a:p>
        </p:txBody>
      </p:sp>
      <p:sp>
        <p:nvSpPr>
          <p:cNvPr id="241" name="Google Shape;241;p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7:notes"/>
          <p:cNvSpPr/>
          <p:nvPr>
            <p:ph idx="2" type="sldImg"/>
          </p:nvPr>
        </p:nvSpPr>
        <p:spPr>
          <a:xfrm>
            <a:off x="-1166813" y="0"/>
            <a:ext cx="5334001"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7" name="Google Shape;257;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Mô hình BPMN chi tiết có swimlane theo 3 bộ phận: QA Manager, Nhóm QA/QC, BOD. Độ phức tạp đạt mức Cao với 11 task, đúng 8 gateway (6 XOR + 2 AND) — một cặp AND-split/join tách audit thực tế song song với rà soát tài liệu PRO-*, và 2 vòng lặp phản ánh việc phân tích lại nguyên nhân gốc rễ hoặc gia hạn CAPA khi trễ hạn.</a:t>
            </a:r>
            <a:endParaRPr/>
          </a:p>
        </p:txBody>
      </p:sp>
      <p:sp>
        <p:nvSpPr>
          <p:cNvPr id="258" name="Google Shape;258;p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8:notes"/>
          <p:cNvSpPr/>
          <p:nvPr>
            <p:ph idx="2" type="sldImg"/>
          </p:nvPr>
        </p:nvSpPr>
        <p:spPr>
          <a:xfrm>
            <a:off x="-1166813" y="0"/>
            <a:ext cx="5334001"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1" name="Google Shape;271;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Bằng chứng thu thập theo phương pháp mô tả quy trình hiện có, kết hợp sơ đồ tổ chức (bên phải: BOD → QA Manager → Nhóm QA/QC, PM được audit, Process Owner) và bộ câu hỏi phỏng vấn cả định tính lẫn định lượng. Đây là 2 trong số các câu hỏi tiêu biểu được dùng để thu thập số liệu cho phần phân tích tiếp theo.</a:t>
            </a:r>
            <a:endParaRPr/>
          </a:p>
        </p:txBody>
      </p:sp>
      <p:sp>
        <p:nvSpPr>
          <p:cNvPr id="272" name="Google Shape;272;p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9:notes"/>
          <p:cNvSpPr/>
          <p:nvPr>
            <p:ph idx="2" type="sldImg"/>
          </p:nvPr>
        </p:nvSpPr>
        <p:spPr>
          <a:xfrm>
            <a:off x="-1166813" y="0"/>
            <a:ext cx="5334001"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8" name="Google Shape;288;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Phần lớn giá trị nằm ở bước audit thực tế và cập nhật chuẩn (VA); ghi NC thủ công trên bảng tính là NVA rõ ràng cần số hóa. 3 lãng phí chính: thông tin CAPA bị 'Move' qua nhiều kênh email, PM 'Hold' phản hồi CAPA làm chậm tiến độ đóng NC, và audit 'Overdo' áp dụng đồng đều bất kể rủi ro dự án.</a:t>
            </a:r>
            <a:endParaRPr/>
          </a:p>
        </p:txBody>
      </p:sp>
      <p:sp>
        <p:nvSpPr>
          <p:cNvPr id="289" name="Google Shape;289;p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10:notes"/>
          <p:cNvSpPr/>
          <p:nvPr>
            <p:ph idx="2" type="sldImg"/>
          </p:nvPr>
        </p:nvSpPr>
        <p:spPr>
          <a:xfrm>
            <a:off x="-1166813" y="0"/>
            <a:ext cx="5334001"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6" name="Google Shape;306;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Biểu đồ Pareto cho thấy 4/5 nhóm nguyên nhân đã chiếm khoảng 86% tổng số NC — đúng quy luật 80/20. Nguyên nhân hàng đầu là tài liệu PRO-* chưa cập nhật kịp, truy ngược gốc rễ cho thấy nút thắt là một mình QA Manager phải vừa audit vừa cập nhật tài liệu, không có lịch rà soát định kỳ. Lưu ý: vì báo cáo nguồn chưa khảo sát định lượng cho quy trình này, các số liệu ở đây là ước tính minh họa của nhóm, cần bổ sung khảo sát thực tế trước khi đưa vào báo cáo chính thức.</a:t>
            </a:r>
            <a:endParaRPr/>
          </a:p>
        </p:txBody>
      </p:sp>
      <p:sp>
        <p:nvSpPr>
          <p:cNvPr id="307" name="Google Shape;307;p1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11:notes"/>
          <p:cNvSpPr/>
          <p:nvPr>
            <p:ph idx="2" type="sldImg"/>
          </p:nvPr>
        </p:nvSpPr>
        <p:spPr>
          <a:xfrm>
            <a:off x="-1166813" y="0"/>
            <a:ext cx="5334001"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3" name="Google Shape;323;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Chuyển sang quy trình thứ 2: Quản lý Dự án theo Agile Scrum, đại diện nhóm Core — đây cũng là quy trình duy nhất có đầy đủ số liệu khảo sát Mục 4 trong báo cáo nguồn.</a:t>
            </a:r>
            <a:endParaRPr/>
          </a:p>
        </p:txBody>
      </p:sp>
      <p:sp>
        <p:nvSpPr>
          <p:cNvPr id="324" name="Google Shape;324;p1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12:notes"/>
          <p:cNvSpPr/>
          <p:nvPr>
            <p:ph idx="2" type="sldImg"/>
          </p:nvPr>
        </p:nvSpPr>
        <p:spPr>
          <a:xfrm>
            <a:off x="-1166813" y="0"/>
            <a:ext cx="5334001"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9" name="Google Shape;339;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6 bước chính: Sprint Zero (khởi tạo), Sprint Planning, Development + Daily Scrum, Sprint Review, Sprint Retrospective — lặp lại theo từng sprint cho đến khi hết backlog. Actors trung tâm là Scrum Master/PM và Dev Team, với Customer tham gia trực tiếp ở Sprint Review.</a:t>
            </a:r>
            <a:endParaRPr/>
          </a:p>
        </p:txBody>
      </p:sp>
      <p:sp>
        <p:nvSpPr>
          <p:cNvPr id="340" name="Google Shape;340;p1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13:notes"/>
          <p:cNvSpPr/>
          <p:nvPr>
            <p:ph idx="2" type="sldImg"/>
          </p:nvPr>
        </p:nvSpPr>
        <p:spPr>
          <a:xfrm>
            <a:off x="-1166813" y="0"/>
            <a:ext cx="5334001"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6" name="Google Shape;356;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Swimlane theo 3 vai trò: Scrum Master/PO, Dev Team, Customer/PM. 12 task, 8 gateway giống các quy trình khác nhưng đặc trưng riêng là 3 vòng lặp lồng nhau — kiểm thử lại khi bug, carry-over sang đầu sprint sau, và toàn bộ chu trình lặp lại cho sprint tiếp theo — phản ánh đúng bản chất iterative của Scrum.</a:t>
            </a:r>
            <a:endParaRPr/>
          </a:p>
        </p:txBody>
      </p:sp>
      <p:sp>
        <p:nvSpPr>
          <p:cNvPr id="357" name="Google Shape;357;p1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14:notes"/>
          <p:cNvSpPr/>
          <p:nvPr>
            <p:ph idx="2" type="sldImg"/>
          </p:nvPr>
        </p:nvSpPr>
        <p:spPr>
          <a:xfrm>
            <a:off x="-1166813" y="0"/>
            <a:ext cx="5334001"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0" name="Google Shape;370;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Sơ đồ tổ chức bên phải: Project Sponsor → Scrum Master/PM → Product Owner, Dev/Scrum Team, Customer. 2 câu hỏi tiêu biểu minh họa cách thu thập dữ liệu định tính (nguyên nhân sprint fail) và định lượng (velocity) phục vụ trực tiếp cho phần phân tích Mục 4 tiếp theo.</a:t>
            </a:r>
            <a:endParaRPr/>
          </a:p>
        </p:txBody>
      </p:sp>
      <p:sp>
        <p:nvSpPr>
          <p:cNvPr id="371" name="Google Shape;371;p1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15:notes"/>
          <p:cNvSpPr/>
          <p:nvPr>
            <p:ph idx="2" type="sldImg"/>
          </p:nvPr>
        </p:nvSpPr>
        <p:spPr>
          <a:xfrm>
            <a:off x="-1166813" y="0"/>
            <a:ext cx="5334001"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7" name="Google Shape;387;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VA tập trung ở coding, kiểm thử song song và sprint review — nơi tạo giá trị trực tiếp cho khách hàng. Cập nhật tài liệu closing là NVA rõ nhất, thường làm hình thức. 3 lãng phí chính: 'Move' do trao đổi qua nhiều kênh, 'Hold' khi chờ Product Owner làm rõ yêu cầu, và 'Overdo' khi viết tài liệu quá chi tiết cho task đơn giản.</a:t>
            </a:r>
            <a:endParaRPr/>
          </a:p>
        </p:txBody>
      </p:sp>
      <p:sp>
        <p:nvSpPr>
          <p:cNvPr id="388" name="Google Shape;388;p1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p16:notes"/>
          <p:cNvSpPr/>
          <p:nvPr>
            <p:ph idx="2" type="sldImg"/>
          </p:nvPr>
        </p:nvSpPr>
        <p:spPr>
          <a:xfrm>
            <a:off x="-1166813" y="0"/>
            <a:ext cx="5334001"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5" name="Google Shape;405;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Biểu đồ Pareto (số liệu khảo sát thực tế từ báo cáo): 4 nhóm nguyên nhân đầu chiếm 84% tổng số lần ghi nhận/quý. Root-cause của vấn đề nổi bật nhất — sprint không đạt DoD — bắt nguồn từ việc thiếu dữ liệu lịch sử velocity khiến ước lượng story point chưa sát, kéo theo kế hoạch sprint không thực tế. Hiệu suất thời gian quy trình đạt 98% — khá tốt, nhưng vẫn còn 25-30% sprint không đạt DoD cần cải thiện.</a:t>
            </a:r>
            <a:endParaRPr/>
          </a:p>
        </p:txBody>
      </p:sp>
      <p:sp>
        <p:nvSpPr>
          <p:cNvPr id="406" name="Google Shape;406;p1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17:notes"/>
          <p:cNvSpPr/>
          <p:nvPr>
            <p:ph idx="2" type="sldImg"/>
          </p:nvPr>
        </p:nvSpPr>
        <p:spPr>
          <a:xfrm>
            <a:off x="-1166813" y="0"/>
            <a:ext cx="5334001"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1" name="Google Shape;421;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Chuyển sang quy trình thứ 3: Tuyển dụng Nhân sự, đại diện nhóm Support.</a:t>
            </a:r>
            <a:endParaRPr/>
          </a:p>
        </p:txBody>
      </p:sp>
      <p:sp>
        <p:nvSpPr>
          <p:cNvPr id="422" name="Google Shape;422;p1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p18:notes"/>
          <p:cNvSpPr/>
          <p:nvPr>
            <p:ph idx="2" type="sldImg"/>
          </p:nvPr>
        </p:nvSpPr>
        <p:spPr>
          <a:xfrm>
            <a:off x="-1166813" y="0"/>
            <a:ext cx="5334001"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7" name="Google Shape;437;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6 bước chính: Opening Job Requisition, Recruitment Preparation (JD &amp; sourcing), Screening Applicants, Evaluating Candidates, Making an Offer Letter, Pre-On-Board. Actors trung tâm là TA Leader/member phối hợp BOD/COO phê duyệt và các Interviewer đánh giá ứng viên.</a:t>
            </a:r>
            <a:endParaRPr/>
          </a:p>
        </p:txBody>
      </p:sp>
      <p:sp>
        <p:nvSpPr>
          <p:cNvPr id="438" name="Google Shape;438;p1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p19:notes"/>
          <p:cNvSpPr/>
          <p:nvPr>
            <p:ph idx="2" type="sldImg"/>
          </p:nvPr>
        </p:nvSpPr>
        <p:spPr>
          <a:xfrm>
            <a:off x="-1166813" y="0"/>
            <a:ext cx="5334001"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4" name="Google Shape;454;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Swimlane theo 3 vai trò: Requester/BOD, HR Team, Interviewer/TA Lead. Đây là quy trình có SỐ VÒNG LẶP NHIỀU NHẤT trong 6 quy trình được mô hình hóa (5 vòng lặp) — phản ánh đúng tính bất định cao của tuyển dụng: yêu cầu có thể bị từ chối, ứng viên có thể không đạt ở bất kỳ vòng nào, hoặc đàm phán lương thất bại.</a:t>
            </a:r>
            <a:endParaRPr/>
          </a:p>
        </p:txBody>
      </p:sp>
      <p:sp>
        <p:nvSpPr>
          <p:cNvPr id="455" name="Google Shape;455;p1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p20:notes"/>
          <p:cNvSpPr/>
          <p:nvPr>
            <p:ph idx="2" type="sldImg"/>
          </p:nvPr>
        </p:nvSpPr>
        <p:spPr>
          <a:xfrm>
            <a:off x="-1166813" y="0"/>
            <a:ext cx="5334001"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8" name="Google Shape;468;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Sơ đồ tổ chức bên phải: BOD/COO → HR Manager/TA Lead → HR Team, Interviewers, Head of Departments, IT members. Câu hỏi phỏng vấn tiêu biểu hướng tới nguyên nhân ứng viên rút lui (định tính) và chỉ số time-to-hire (định lượng) — dữ liệu nền cho phần phân tích Mục 4 tiếp theo.</a:t>
            </a:r>
            <a:endParaRPr/>
          </a:p>
        </p:txBody>
      </p:sp>
      <p:sp>
        <p:nvSpPr>
          <p:cNvPr id="469" name="Google Shape;469;p2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p21:notes"/>
          <p:cNvSpPr/>
          <p:nvPr>
            <p:ph idx="2" type="sldImg"/>
          </p:nvPr>
        </p:nvSpPr>
        <p:spPr>
          <a:xfrm>
            <a:off x="-1166813" y="0"/>
            <a:ext cx="5334001"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4" name="Google Shape;484;p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VA rõ nhất là phỏng vấn đánh giá và sourcing — nơi tạo giá trị trực tiếp; nhập liệu thủ công qua nhiều kênh là NVA cần số hóa bằng ATS. 3 lãng phí chính: CV 'Move' qua nhiều kênh phân tán, 'Hold' khi chờ phê duyệt Job Requisition, và 'Overdo' khi áp nhiều vòng phỏng vấn cho vị trí đơn giản.</a:t>
            </a:r>
            <a:endParaRPr/>
          </a:p>
        </p:txBody>
      </p:sp>
      <p:sp>
        <p:nvSpPr>
          <p:cNvPr id="485" name="Google Shape;485;p2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p22:notes"/>
          <p:cNvSpPr/>
          <p:nvPr>
            <p:ph idx="2" type="sldImg"/>
          </p:nvPr>
        </p:nvSpPr>
        <p:spPr>
          <a:xfrm>
            <a:off x="-1166813" y="0"/>
            <a:ext cx="5334001"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2" name="Google Shape;502;p2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Biểu đồ Pareto cho thấy 2 nguyên nhân đầu (ứng viên rút lui + JD chưa rõ ràng) đã chiếm 53% tổng số trường hợp. Root-cause chính là thiếu SLA nội bộ về thời gian phản hồi ứng viên giữa các vòng phỏng vấn. Lưu ý: tương tự quy trình Quản lý Chất lượng, số liệu ở đây là ước tính minh họa của nhóm do báo cáo nguồn chưa khảo sát định lượng cho quy trình này — cần bổ sung khảo sát thực tế trước khi đưa vào báo cáo chính thức.</a:t>
            </a:r>
            <a:endParaRPr/>
          </a:p>
        </p:txBody>
      </p:sp>
      <p:sp>
        <p:nvSpPr>
          <p:cNvPr id="503" name="Google Shape;503;p2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p23:notes"/>
          <p:cNvSpPr/>
          <p:nvPr>
            <p:ph idx="2" type="sldImg"/>
          </p:nvPr>
        </p:nvSpPr>
        <p:spPr>
          <a:xfrm>
            <a:off x="-1166813" y="0"/>
            <a:ext cx="5334001"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9" name="Google Shape;519;p2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So sánh nhanh 3 quy trình: độ phức tạp BPMN tương đương nhau (đều 8 gateway theo đúng yêu cầu đồ án), nhưng khác biệt rõ ở số vòng lặp — Tuyển dụng Nhân sự có 5 vòng lặp vì phụ thuộc nhiều vào quyết định của con người (ứng viên có đồng ý hay không, BOD có duyệt hay không). Hiệu suất thời gian của cả 3 đều trên 95%, cho thấy vấn đề không nằm ở tốc độ xử lý mà ở tỷ lệ phải làm lại/lặp lại.</a:t>
            </a:r>
            <a:endParaRPr/>
          </a:p>
        </p:txBody>
      </p:sp>
      <p:sp>
        <p:nvSpPr>
          <p:cNvPr id="520" name="Google Shape;520;p2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p24:notes"/>
          <p:cNvSpPr/>
          <p:nvPr>
            <p:ph idx="2" type="sldImg"/>
          </p:nvPr>
        </p:nvSpPr>
        <p:spPr>
          <a:xfrm>
            <a:off x="-1166813" y="0"/>
            <a:ext cx="5334001"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4" name="Google Shape;534;p2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Kết luận: chuẩn hóa quy trình không phải bài tập hình thức mà là nhu cầu sống còn với công ty outsourcing — vì mọi quy trình đều gắn với SLA khách hàng quốc tế. Bài học lớn nhất của nhóm là việc thu thập số liệu định lượng cần được lên kế hoạch song song với khảo sát định tính ngay từ đầu, vì không phải lúc nào dữ liệu cũng có sẵn đầy đủ.</a:t>
            </a:r>
            <a:endParaRPr/>
          </a:p>
        </p:txBody>
      </p:sp>
      <p:sp>
        <p:nvSpPr>
          <p:cNvPr id="535" name="Google Shape;535;p2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p25:notes"/>
          <p:cNvSpPr/>
          <p:nvPr>
            <p:ph idx="2" type="sldImg"/>
          </p:nvPr>
        </p:nvSpPr>
        <p:spPr>
          <a:xfrm>
            <a:off x="-1166813" y="0"/>
            <a:ext cx="5334001"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0" name="Google Shape;550;p2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Mời thầy/cô và các bạn đặt câu hỏi. Chuẩn bị sẵn: chi tiết bảng VA/BVA/NVA đầy đủ, bộ 20 câu phỏng vấn, và số liệu Mục 4 gốc của Scrum trong báo cáo đầy đủ nếu được hỏi sâu hơn.</a:t>
            </a:r>
            <a:endParaRPr/>
          </a:p>
        </p:txBody>
      </p:sp>
      <p:sp>
        <p:nvSpPr>
          <p:cNvPr id="551" name="Google Shape;551;p2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8"/>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8"/>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30"/>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30"/>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3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31"/>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31"/>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3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32"/>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32"/>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32"/>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32"/>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3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34"/>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34"/>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7" name="Google Shape;57;p34"/>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8" name="Google Shape;58;p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35"/>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35"/>
          <p:cNvSpPr/>
          <p:nvPr>
            <p:ph idx="2" type="pic"/>
          </p:nvPr>
        </p:nvSpPr>
        <p:spPr>
          <a:xfrm>
            <a:off x="1792288" y="612775"/>
            <a:ext cx="5486400" cy="4114800"/>
          </a:xfrm>
          <a:prstGeom prst="rect">
            <a:avLst/>
          </a:prstGeom>
          <a:noFill/>
          <a:ln>
            <a:noFill/>
          </a:ln>
        </p:spPr>
      </p:sp>
      <p:sp>
        <p:nvSpPr>
          <p:cNvPr id="64" name="Google Shape;64;p35"/>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p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3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6"/>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3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37"/>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37"/>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3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3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2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
          <p:cNvSpPr/>
          <p:nvPr/>
        </p:nvSpPr>
        <p:spPr>
          <a:xfrm>
            <a:off x="0" y="0"/>
            <a:ext cx="12191700" cy="998100"/>
          </a:xfrm>
          <a:prstGeom prst="rect">
            <a:avLst/>
          </a:prstGeom>
          <a:solidFill>
            <a:srgbClr val="0D948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6" name="Google Shape;86;p1"/>
          <p:cNvSpPr/>
          <p:nvPr/>
        </p:nvSpPr>
        <p:spPr>
          <a:xfrm>
            <a:off x="457200" y="104100"/>
            <a:ext cx="86868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4748B"/>
              </a:buClr>
              <a:buSzPts val="1200"/>
              <a:buFont typeface="Calibri"/>
              <a:buNone/>
            </a:pPr>
            <a:r>
              <a:rPr b="1" i="0" lang="en-US" sz="1200" u="none" cap="none" strike="noStrike">
                <a:solidFill>
                  <a:schemeClr val="lt1"/>
                </a:solidFill>
                <a:latin typeface="Calibri"/>
                <a:ea typeface="Calibri"/>
                <a:cs typeface="Calibri"/>
                <a:sym typeface="Calibri"/>
              </a:rPr>
              <a:t>ĐẠI HỌC QUỐC GIA TP.HCM  –  TRƯỜNG ĐẠI HỌC CÔNG NGHỆ THÔNG TIN</a:t>
            </a:r>
            <a:endParaRPr b="0" i="0" sz="1200" u="none" cap="none" strike="noStrike">
              <a:solidFill>
                <a:schemeClr val="lt1"/>
              </a:solidFill>
              <a:latin typeface="Calibri"/>
              <a:ea typeface="Calibri"/>
              <a:cs typeface="Calibri"/>
              <a:sym typeface="Calibri"/>
            </a:endParaRPr>
          </a:p>
        </p:txBody>
      </p:sp>
      <p:sp>
        <p:nvSpPr>
          <p:cNvPr id="87" name="Google Shape;87;p1"/>
          <p:cNvSpPr/>
          <p:nvPr/>
        </p:nvSpPr>
        <p:spPr>
          <a:xfrm>
            <a:off x="457200" y="438790"/>
            <a:ext cx="8686800" cy="320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369A1"/>
              </a:buClr>
              <a:buSzPts val="1400"/>
              <a:buFont typeface="Calibri"/>
              <a:buNone/>
            </a:pPr>
            <a:r>
              <a:rPr b="1" i="0" lang="en-US" sz="2000" u="none" cap="none" strike="noStrike">
                <a:solidFill>
                  <a:schemeClr val="lt1"/>
                </a:solidFill>
                <a:latin typeface="Calibri"/>
                <a:ea typeface="Calibri"/>
                <a:cs typeface="Calibri"/>
                <a:sym typeface="Calibri"/>
              </a:rPr>
              <a:t>IE203 – HỆ THỐNG QUẢN TRỊ QUY TRÌNH NGHIỆP VỤ</a:t>
            </a:r>
            <a:endParaRPr b="0" i="0" sz="2000" u="none" cap="none" strike="noStrike">
              <a:solidFill>
                <a:schemeClr val="lt1"/>
              </a:solidFill>
              <a:latin typeface="Calibri"/>
              <a:ea typeface="Calibri"/>
              <a:cs typeface="Calibri"/>
              <a:sym typeface="Calibri"/>
            </a:endParaRPr>
          </a:p>
        </p:txBody>
      </p:sp>
      <p:sp>
        <p:nvSpPr>
          <p:cNvPr id="88" name="Google Shape;88;p1"/>
          <p:cNvSpPr/>
          <p:nvPr/>
        </p:nvSpPr>
        <p:spPr>
          <a:xfrm>
            <a:off x="457200" y="1216075"/>
            <a:ext cx="8503800" cy="1554600"/>
          </a:xfrm>
          <a:prstGeom prst="rect">
            <a:avLst/>
          </a:prstGeom>
          <a:noFill/>
          <a:ln>
            <a:noFill/>
          </a:ln>
        </p:spPr>
        <p:txBody>
          <a:bodyPr anchorCtr="0" anchor="ctr" bIns="45700" lIns="91425" spcFirstLastPara="1" rIns="91425" wrap="square" tIns="45700">
            <a:noAutofit/>
          </a:bodyPr>
          <a:lstStyle/>
          <a:p>
            <a:pPr indent="0" lvl="0" marL="0" marR="0" rtl="0" algn="l">
              <a:lnSpc>
                <a:spcPct val="105000"/>
              </a:lnSpc>
              <a:spcBef>
                <a:spcPts val="0"/>
              </a:spcBef>
              <a:spcAft>
                <a:spcPts val="0"/>
              </a:spcAft>
              <a:buClr>
                <a:srgbClr val="1E293B"/>
              </a:buClr>
              <a:buSzPts val="3600"/>
              <a:buFont typeface="Calibri"/>
              <a:buNone/>
            </a:pPr>
            <a:r>
              <a:rPr b="1" i="0" lang="en-US" sz="3600" u="none" cap="none" strike="noStrike">
                <a:solidFill>
                  <a:srgbClr val="1E293B"/>
                </a:solidFill>
                <a:latin typeface="Calibri"/>
                <a:ea typeface="Calibri"/>
                <a:cs typeface="Calibri"/>
                <a:sym typeface="Calibri"/>
              </a:rPr>
              <a:t>Phân tích &amp; Mô hình hóa</a:t>
            </a:r>
            <a:endParaRPr b="0" i="0" sz="3600" u="none" cap="none" strike="noStrike">
              <a:solidFill>
                <a:srgbClr val="000000"/>
              </a:solidFill>
              <a:latin typeface="Calibri"/>
              <a:ea typeface="Calibri"/>
              <a:cs typeface="Calibri"/>
              <a:sym typeface="Calibri"/>
            </a:endParaRPr>
          </a:p>
          <a:p>
            <a:pPr indent="0" lvl="0" marL="0" marR="0" rtl="0" algn="l">
              <a:lnSpc>
                <a:spcPct val="105000"/>
              </a:lnSpc>
              <a:spcBef>
                <a:spcPts val="0"/>
              </a:spcBef>
              <a:spcAft>
                <a:spcPts val="0"/>
              </a:spcAft>
              <a:buClr>
                <a:srgbClr val="1E293B"/>
              </a:buClr>
              <a:buSzPts val="3600"/>
              <a:buFont typeface="Calibri"/>
              <a:buNone/>
            </a:pPr>
            <a:r>
              <a:rPr b="1" i="0" lang="en-US" sz="3600" u="none" cap="none" strike="noStrike">
                <a:solidFill>
                  <a:srgbClr val="1E293B"/>
                </a:solidFill>
                <a:latin typeface="Calibri"/>
                <a:ea typeface="Calibri"/>
                <a:cs typeface="Calibri"/>
                <a:sym typeface="Calibri"/>
              </a:rPr>
              <a:t>Quy trình Nghiệp vụ tại OR Tech</a:t>
            </a:r>
            <a:endParaRPr b="0" i="0" sz="3600" u="none" cap="none" strike="noStrike">
              <a:solidFill>
                <a:srgbClr val="000000"/>
              </a:solidFill>
              <a:latin typeface="Calibri"/>
              <a:ea typeface="Calibri"/>
              <a:cs typeface="Calibri"/>
              <a:sym typeface="Calibri"/>
            </a:endParaRPr>
          </a:p>
        </p:txBody>
      </p:sp>
      <p:sp>
        <p:nvSpPr>
          <p:cNvPr id="89" name="Google Shape;89;p1"/>
          <p:cNvSpPr/>
          <p:nvPr/>
        </p:nvSpPr>
        <p:spPr>
          <a:xfrm>
            <a:off x="457200" y="2880360"/>
            <a:ext cx="8686800" cy="320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4155"/>
              </a:buClr>
              <a:buSzPts val="1400"/>
              <a:buFont typeface="Calibri"/>
              <a:buNone/>
            </a:pPr>
            <a:r>
              <a:rPr b="0" i="1" lang="en-US" sz="1400" u="none" cap="none" strike="noStrike">
                <a:solidFill>
                  <a:srgbClr val="334155"/>
                </a:solidFill>
                <a:latin typeface="Calibri"/>
                <a:ea typeface="Calibri"/>
                <a:cs typeface="Calibri"/>
                <a:sym typeface="Calibri"/>
              </a:rPr>
              <a:t>Nghiên cứu tình huống doanh nghiệp outsourcing phần mềm — 3 quy trình đại diện:</a:t>
            </a:r>
            <a:endParaRPr b="0" i="0" sz="1400" u="none" cap="none" strike="noStrike">
              <a:solidFill>
                <a:srgbClr val="000000"/>
              </a:solidFill>
              <a:latin typeface="Calibri"/>
              <a:ea typeface="Calibri"/>
              <a:cs typeface="Calibri"/>
              <a:sym typeface="Calibri"/>
            </a:endParaRPr>
          </a:p>
        </p:txBody>
      </p:sp>
      <p:sp>
        <p:nvSpPr>
          <p:cNvPr id="90" name="Google Shape;90;p1"/>
          <p:cNvSpPr/>
          <p:nvPr/>
        </p:nvSpPr>
        <p:spPr>
          <a:xfrm>
            <a:off x="457200" y="3310128"/>
            <a:ext cx="1932900" cy="365700"/>
          </a:xfrm>
          <a:prstGeom prst="roundRect">
            <a:avLst>
              <a:gd fmla="val 25000" name="adj"/>
            </a:avLst>
          </a:prstGeom>
          <a:solidFill>
            <a:srgbClr val="E6FBF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 name="Google Shape;91;p1"/>
          <p:cNvSpPr/>
          <p:nvPr/>
        </p:nvSpPr>
        <p:spPr>
          <a:xfrm>
            <a:off x="457200" y="3310128"/>
            <a:ext cx="1932900" cy="365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14B8A6"/>
              </a:buClr>
              <a:buSzPts val="1200"/>
              <a:buFont typeface="Calibri"/>
              <a:buNone/>
            </a:pPr>
            <a:r>
              <a:rPr b="1" i="0" lang="en-US" sz="1200" u="none" cap="none" strike="noStrike">
                <a:solidFill>
                  <a:schemeClr val="dk1"/>
                </a:solidFill>
                <a:latin typeface="Calibri"/>
                <a:ea typeface="Calibri"/>
                <a:cs typeface="Calibri"/>
                <a:sym typeface="Calibri"/>
              </a:rPr>
              <a:t>Quản lý Chất lượng</a:t>
            </a:r>
            <a:endParaRPr b="0" i="0" sz="1200" u="none" cap="none" strike="noStrike">
              <a:solidFill>
                <a:schemeClr val="dk1"/>
              </a:solidFill>
              <a:latin typeface="Calibri"/>
              <a:ea typeface="Calibri"/>
              <a:cs typeface="Calibri"/>
              <a:sym typeface="Calibri"/>
            </a:endParaRPr>
          </a:p>
        </p:txBody>
      </p:sp>
      <p:sp>
        <p:nvSpPr>
          <p:cNvPr id="92" name="Google Shape;92;p1"/>
          <p:cNvSpPr/>
          <p:nvPr/>
        </p:nvSpPr>
        <p:spPr>
          <a:xfrm>
            <a:off x="2554834" y="3310128"/>
            <a:ext cx="2739600" cy="365700"/>
          </a:xfrm>
          <a:prstGeom prst="roundRect">
            <a:avLst>
              <a:gd fmla="val 25000" name="adj"/>
            </a:avLst>
          </a:prstGeom>
          <a:solidFill>
            <a:srgbClr val="EEF0F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 name="Google Shape;93;p1"/>
          <p:cNvSpPr/>
          <p:nvPr/>
        </p:nvSpPr>
        <p:spPr>
          <a:xfrm>
            <a:off x="2554834" y="3310128"/>
            <a:ext cx="2739600" cy="365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6366F1"/>
              </a:buClr>
              <a:buSzPts val="1200"/>
              <a:buFont typeface="Calibri"/>
              <a:buNone/>
            </a:pPr>
            <a:r>
              <a:rPr b="1" i="0" lang="en-US" sz="1200" u="none" cap="none" strike="noStrike">
                <a:solidFill>
                  <a:schemeClr val="dk1"/>
                </a:solidFill>
                <a:latin typeface="Calibri"/>
                <a:ea typeface="Calibri"/>
                <a:cs typeface="Calibri"/>
                <a:sym typeface="Calibri"/>
              </a:rPr>
              <a:t>Quản lý Dự án (Agile Scrum)</a:t>
            </a:r>
            <a:endParaRPr b="0" i="0" sz="1200" u="none" cap="none" strike="noStrike">
              <a:solidFill>
                <a:schemeClr val="dk1"/>
              </a:solidFill>
              <a:latin typeface="Calibri"/>
              <a:ea typeface="Calibri"/>
              <a:cs typeface="Calibri"/>
              <a:sym typeface="Calibri"/>
            </a:endParaRPr>
          </a:p>
        </p:txBody>
      </p:sp>
      <p:sp>
        <p:nvSpPr>
          <p:cNvPr id="94" name="Google Shape;94;p1"/>
          <p:cNvSpPr/>
          <p:nvPr/>
        </p:nvSpPr>
        <p:spPr>
          <a:xfrm>
            <a:off x="5458968" y="3310128"/>
            <a:ext cx="1932900" cy="365700"/>
          </a:xfrm>
          <a:prstGeom prst="roundRect">
            <a:avLst>
              <a:gd fmla="val 25000" name="adj"/>
            </a:avLst>
          </a:prstGeom>
          <a:solidFill>
            <a:srgbClr val="FFF1E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 name="Google Shape;95;p1"/>
          <p:cNvSpPr/>
          <p:nvPr/>
        </p:nvSpPr>
        <p:spPr>
          <a:xfrm>
            <a:off x="5458968" y="3310128"/>
            <a:ext cx="1932900" cy="365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B7C58"/>
              </a:buClr>
              <a:buSzPts val="1200"/>
              <a:buFont typeface="Calibri"/>
              <a:buNone/>
            </a:pPr>
            <a:r>
              <a:rPr b="1" i="0" lang="en-US" sz="1200" u="none" cap="none" strike="noStrike">
                <a:solidFill>
                  <a:schemeClr val="dk1"/>
                </a:solidFill>
                <a:latin typeface="Calibri"/>
                <a:ea typeface="Calibri"/>
                <a:cs typeface="Calibri"/>
                <a:sym typeface="Calibri"/>
              </a:rPr>
              <a:t>Tuyển dụng Nhân sự</a:t>
            </a:r>
            <a:endParaRPr b="0" i="0" sz="1200" u="none" cap="none" strike="noStrike">
              <a:solidFill>
                <a:schemeClr val="dk1"/>
              </a:solidFill>
              <a:latin typeface="Calibri"/>
              <a:ea typeface="Calibri"/>
              <a:cs typeface="Calibri"/>
              <a:sym typeface="Calibri"/>
            </a:endParaRPr>
          </a:p>
        </p:txBody>
      </p:sp>
      <p:sp>
        <p:nvSpPr>
          <p:cNvPr id="96" name="Google Shape;96;p1"/>
          <p:cNvSpPr/>
          <p:nvPr/>
        </p:nvSpPr>
        <p:spPr>
          <a:xfrm>
            <a:off x="457200" y="3977640"/>
            <a:ext cx="7360800" cy="2331600"/>
          </a:xfrm>
          <a:prstGeom prst="roundRect">
            <a:avLst>
              <a:gd fmla="val 3922" name="adj"/>
            </a:avLst>
          </a:prstGeom>
          <a:solidFill>
            <a:srgbClr val="F8FAFC"/>
          </a:solidFill>
          <a:ln cap="flat" cmpd="sng" w="9525">
            <a:solidFill>
              <a:srgbClr val="E2E8F0"/>
            </a:solidFill>
            <a:prstDash val="solid"/>
            <a:round/>
            <a:headEnd len="sm" w="sm" type="none"/>
            <a:tailEnd len="sm" w="sm" type="none"/>
          </a:ln>
          <a:effectLst>
            <a:outerShdw blurRad="101600" rotWithShape="0" algn="bl" dir="5400000" dist="25400">
              <a:srgbClr val="1E293B">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 name="Google Shape;97;p1"/>
          <p:cNvSpPr/>
          <p:nvPr/>
        </p:nvSpPr>
        <p:spPr>
          <a:xfrm>
            <a:off x="731520" y="4114800"/>
            <a:ext cx="5486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369A1"/>
              </a:buClr>
              <a:buSzPts val="1200"/>
              <a:buFont typeface="Calibri"/>
              <a:buNone/>
            </a:pPr>
            <a:r>
              <a:rPr b="1" i="0" lang="en-US" sz="1200" u="none" cap="none" strike="noStrike">
                <a:solidFill>
                  <a:schemeClr val="dk1"/>
                </a:solidFill>
                <a:latin typeface="Calibri"/>
                <a:ea typeface="Calibri"/>
                <a:cs typeface="Calibri"/>
                <a:sym typeface="Calibri"/>
              </a:rPr>
              <a:t>NHÓM THỰC HIỆN · NHÓM </a:t>
            </a:r>
            <a:r>
              <a:rPr b="1" lang="en-US" sz="1200">
                <a:solidFill>
                  <a:schemeClr val="dk1"/>
                </a:solidFill>
                <a:latin typeface="Calibri"/>
                <a:ea typeface="Calibri"/>
                <a:cs typeface="Calibri"/>
                <a:sym typeface="Calibri"/>
              </a:rPr>
              <a:t>2</a:t>
            </a:r>
            <a:endParaRPr b="0" i="0" sz="1200" u="none" cap="none" strike="noStrike">
              <a:solidFill>
                <a:schemeClr val="dk1"/>
              </a:solidFill>
              <a:latin typeface="Calibri"/>
              <a:ea typeface="Calibri"/>
              <a:cs typeface="Calibri"/>
              <a:sym typeface="Calibri"/>
            </a:endParaRPr>
          </a:p>
        </p:txBody>
      </p:sp>
      <p:sp>
        <p:nvSpPr>
          <p:cNvPr id="98" name="Google Shape;98;p1"/>
          <p:cNvSpPr/>
          <p:nvPr/>
        </p:nvSpPr>
        <p:spPr>
          <a:xfrm>
            <a:off x="740664" y="4480560"/>
            <a:ext cx="237600" cy="237600"/>
          </a:xfrm>
          <a:prstGeom prst="ellipse">
            <a:avLst/>
          </a:prstGeom>
          <a:solidFill>
            <a:srgbClr val="14B8A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 name="Google Shape;99;p1"/>
          <p:cNvSpPr/>
          <p:nvPr/>
        </p:nvSpPr>
        <p:spPr>
          <a:xfrm>
            <a:off x="740664" y="4480560"/>
            <a:ext cx="237600" cy="2376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1</a:t>
            </a:r>
            <a:endParaRPr b="0" i="0" sz="900" u="none" cap="none" strike="noStrike">
              <a:solidFill>
                <a:srgbClr val="000000"/>
              </a:solidFill>
              <a:latin typeface="Calibri"/>
              <a:ea typeface="Calibri"/>
              <a:cs typeface="Calibri"/>
              <a:sym typeface="Calibri"/>
            </a:endParaRPr>
          </a:p>
        </p:txBody>
      </p:sp>
      <p:sp>
        <p:nvSpPr>
          <p:cNvPr id="100" name="Google Shape;100;p1"/>
          <p:cNvSpPr/>
          <p:nvPr/>
        </p:nvSpPr>
        <p:spPr>
          <a:xfrm>
            <a:off x="1042416" y="4480560"/>
            <a:ext cx="1691700" cy="240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1050"/>
              <a:buFont typeface="Calibri"/>
              <a:buNone/>
            </a:pPr>
            <a:r>
              <a:rPr b="1" i="0" lang="en-US" sz="1050" u="none" cap="none" strike="noStrike">
                <a:solidFill>
                  <a:srgbClr val="1E293B"/>
                </a:solidFill>
                <a:latin typeface="Calibri"/>
                <a:ea typeface="Calibri"/>
                <a:cs typeface="Calibri"/>
                <a:sym typeface="Calibri"/>
              </a:rPr>
              <a:t>Nguyễn Văn Trung</a:t>
            </a:r>
            <a:endParaRPr b="0" i="0" sz="1050" u="none" cap="none" strike="noStrike">
              <a:solidFill>
                <a:srgbClr val="000000"/>
              </a:solidFill>
              <a:latin typeface="Calibri"/>
              <a:ea typeface="Calibri"/>
              <a:cs typeface="Calibri"/>
              <a:sym typeface="Calibri"/>
            </a:endParaRPr>
          </a:p>
        </p:txBody>
      </p:sp>
      <p:sp>
        <p:nvSpPr>
          <p:cNvPr id="101" name="Google Shape;101;p1"/>
          <p:cNvSpPr/>
          <p:nvPr/>
        </p:nvSpPr>
        <p:spPr>
          <a:xfrm>
            <a:off x="2761488" y="4480560"/>
            <a:ext cx="777300" cy="240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4748B"/>
              </a:buClr>
              <a:buSzPts val="950"/>
              <a:buFont typeface="Calibri"/>
              <a:buNone/>
            </a:pPr>
            <a:r>
              <a:rPr b="0" i="0" lang="en-US" sz="950" u="none" cap="none" strike="noStrike">
                <a:solidFill>
                  <a:srgbClr val="64748B"/>
                </a:solidFill>
                <a:latin typeface="Calibri"/>
                <a:ea typeface="Calibri"/>
                <a:cs typeface="Calibri"/>
                <a:sym typeface="Calibri"/>
              </a:rPr>
              <a:t>25410325</a:t>
            </a:r>
            <a:endParaRPr b="0" i="0" sz="950" u="none" cap="none" strike="noStrike">
              <a:solidFill>
                <a:srgbClr val="000000"/>
              </a:solidFill>
              <a:latin typeface="Calibri"/>
              <a:ea typeface="Calibri"/>
              <a:cs typeface="Calibri"/>
              <a:sym typeface="Calibri"/>
            </a:endParaRPr>
          </a:p>
        </p:txBody>
      </p:sp>
      <p:sp>
        <p:nvSpPr>
          <p:cNvPr id="102" name="Google Shape;102;p1"/>
          <p:cNvSpPr/>
          <p:nvPr/>
        </p:nvSpPr>
        <p:spPr>
          <a:xfrm>
            <a:off x="3584448" y="4507992"/>
            <a:ext cx="914400" cy="192000"/>
          </a:xfrm>
          <a:prstGeom prst="roundRect">
            <a:avLst>
              <a:gd fmla="val 28571" name="adj"/>
            </a:avLst>
          </a:prstGeom>
          <a:solidFill>
            <a:srgbClr val="E6FBF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 name="Google Shape;103;p1"/>
          <p:cNvSpPr/>
          <p:nvPr/>
        </p:nvSpPr>
        <p:spPr>
          <a:xfrm>
            <a:off x="3584448" y="4507992"/>
            <a:ext cx="914400" cy="192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F766E"/>
              </a:buClr>
              <a:buSzPts val="750"/>
              <a:buFont typeface="Calibri"/>
              <a:buNone/>
            </a:pPr>
            <a:r>
              <a:rPr b="1" i="0" lang="en-US" sz="750" u="none" cap="none" strike="noStrike">
                <a:solidFill>
                  <a:schemeClr val="dk1"/>
                </a:solidFill>
                <a:latin typeface="Calibri"/>
                <a:ea typeface="Calibri"/>
                <a:cs typeface="Calibri"/>
                <a:sym typeface="Calibri"/>
              </a:rPr>
              <a:t>Nhóm trưởng</a:t>
            </a:r>
            <a:endParaRPr b="0" i="0" sz="750" u="none" cap="none" strike="noStrike">
              <a:solidFill>
                <a:schemeClr val="dk1"/>
              </a:solidFill>
              <a:latin typeface="Calibri"/>
              <a:ea typeface="Calibri"/>
              <a:cs typeface="Calibri"/>
              <a:sym typeface="Calibri"/>
            </a:endParaRPr>
          </a:p>
        </p:txBody>
      </p:sp>
      <p:sp>
        <p:nvSpPr>
          <p:cNvPr id="104" name="Google Shape;104;p1"/>
          <p:cNvSpPr/>
          <p:nvPr/>
        </p:nvSpPr>
        <p:spPr>
          <a:xfrm>
            <a:off x="740664" y="4721047"/>
            <a:ext cx="237600" cy="237600"/>
          </a:xfrm>
          <a:prstGeom prst="ellipse">
            <a:avLst/>
          </a:prstGeom>
          <a:solidFill>
            <a:srgbClr val="6366F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 name="Google Shape;105;p1"/>
          <p:cNvSpPr/>
          <p:nvPr/>
        </p:nvSpPr>
        <p:spPr>
          <a:xfrm>
            <a:off x="740664" y="4721047"/>
            <a:ext cx="237600" cy="2376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2</a:t>
            </a:r>
            <a:endParaRPr b="0" i="0" sz="900" u="none" cap="none" strike="noStrike">
              <a:solidFill>
                <a:srgbClr val="000000"/>
              </a:solidFill>
              <a:latin typeface="Calibri"/>
              <a:ea typeface="Calibri"/>
              <a:cs typeface="Calibri"/>
              <a:sym typeface="Calibri"/>
            </a:endParaRPr>
          </a:p>
        </p:txBody>
      </p:sp>
      <p:sp>
        <p:nvSpPr>
          <p:cNvPr id="106" name="Google Shape;106;p1"/>
          <p:cNvSpPr/>
          <p:nvPr/>
        </p:nvSpPr>
        <p:spPr>
          <a:xfrm>
            <a:off x="1042416" y="4721047"/>
            <a:ext cx="1691700" cy="240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1050"/>
              <a:buFont typeface="Calibri"/>
              <a:buNone/>
            </a:pPr>
            <a:r>
              <a:rPr b="1" i="0" lang="en-US" sz="1050" u="none" cap="none" strike="noStrike">
                <a:solidFill>
                  <a:srgbClr val="1E293B"/>
                </a:solidFill>
                <a:latin typeface="Calibri"/>
                <a:ea typeface="Calibri"/>
                <a:cs typeface="Calibri"/>
                <a:sym typeface="Calibri"/>
              </a:rPr>
              <a:t>Phạm Tuấn Kiệt</a:t>
            </a:r>
            <a:endParaRPr b="0" i="0" sz="1050" u="none" cap="none" strike="noStrike">
              <a:solidFill>
                <a:srgbClr val="000000"/>
              </a:solidFill>
              <a:latin typeface="Calibri"/>
              <a:ea typeface="Calibri"/>
              <a:cs typeface="Calibri"/>
              <a:sym typeface="Calibri"/>
            </a:endParaRPr>
          </a:p>
        </p:txBody>
      </p:sp>
      <p:sp>
        <p:nvSpPr>
          <p:cNvPr id="107" name="Google Shape;107;p1"/>
          <p:cNvSpPr/>
          <p:nvPr/>
        </p:nvSpPr>
        <p:spPr>
          <a:xfrm>
            <a:off x="2761488" y="4721047"/>
            <a:ext cx="777300" cy="240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4748B"/>
              </a:buClr>
              <a:buSzPts val="950"/>
              <a:buFont typeface="Calibri"/>
              <a:buNone/>
            </a:pPr>
            <a:r>
              <a:rPr b="0" i="0" lang="en-US" sz="950" u="none" cap="none" strike="noStrike">
                <a:solidFill>
                  <a:srgbClr val="64748B"/>
                </a:solidFill>
                <a:latin typeface="Calibri"/>
                <a:ea typeface="Calibri"/>
                <a:cs typeface="Calibri"/>
                <a:sym typeface="Calibri"/>
              </a:rPr>
              <a:t>25410239</a:t>
            </a:r>
            <a:endParaRPr b="0" i="0" sz="950" u="none" cap="none" strike="noStrike">
              <a:solidFill>
                <a:srgbClr val="000000"/>
              </a:solidFill>
              <a:latin typeface="Calibri"/>
              <a:ea typeface="Calibri"/>
              <a:cs typeface="Calibri"/>
              <a:sym typeface="Calibri"/>
            </a:endParaRPr>
          </a:p>
        </p:txBody>
      </p:sp>
      <p:sp>
        <p:nvSpPr>
          <p:cNvPr id="108" name="Google Shape;108;p1"/>
          <p:cNvSpPr/>
          <p:nvPr/>
        </p:nvSpPr>
        <p:spPr>
          <a:xfrm>
            <a:off x="740664" y="4961534"/>
            <a:ext cx="237600" cy="237600"/>
          </a:xfrm>
          <a:prstGeom prst="ellipse">
            <a:avLst/>
          </a:prstGeom>
          <a:solidFill>
            <a:srgbClr val="FB7C5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 name="Google Shape;109;p1"/>
          <p:cNvSpPr/>
          <p:nvPr/>
        </p:nvSpPr>
        <p:spPr>
          <a:xfrm>
            <a:off x="740664" y="4961534"/>
            <a:ext cx="237600" cy="2376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3</a:t>
            </a:r>
            <a:endParaRPr b="0" i="0" sz="900" u="none" cap="none" strike="noStrike">
              <a:solidFill>
                <a:srgbClr val="000000"/>
              </a:solidFill>
              <a:latin typeface="Calibri"/>
              <a:ea typeface="Calibri"/>
              <a:cs typeface="Calibri"/>
              <a:sym typeface="Calibri"/>
            </a:endParaRPr>
          </a:p>
        </p:txBody>
      </p:sp>
      <p:sp>
        <p:nvSpPr>
          <p:cNvPr id="110" name="Google Shape;110;p1"/>
          <p:cNvSpPr/>
          <p:nvPr/>
        </p:nvSpPr>
        <p:spPr>
          <a:xfrm>
            <a:off x="1042416" y="4961534"/>
            <a:ext cx="1691700" cy="240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1050"/>
              <a:buFont typeface="Calibri"/>
              <a:buNone/>
            </a:pPr>
            <a:r>
              <a:rPr b="1" i="0" lang="en-US" sz="1050" u="none" cap="none" strike="noStrike">
                <a:solidFill>
                  <a:srgbClr val="1E293B"/>
                </a:solidFill>
                <a:latin typeface="Calibri"/>
                <a:ea typeface="Calibri"/>
                <a:cs typeface="Calibri"/>
                <a:sym typeface="Calibri"/>
              </a:rPr>
              <a:t>Phan Chí Hiếu</a:t>
            </a:r>
            <a:endParaRPr b="0" i="0" sz="1050" u="none" cap="none" strike="noStrike">
              <a:solidFill>
                <a:srgbClr val="000000"/>
              </a:solidFill>
              <a:latin typeface="Calibri"/>
              <a:ea typeface="Calibri"/>
              <a:cs typeface="Calibri"/>
              <a:sym typeface="Calibri"/>
            </a:endParaRPr>
          </a:p>
        </p:txBody>
      </p:sp>
      <p:sp>
        <p:nvSpPr>
          <p:cNvPr id="111" name="Google Shape;111;p1"/>
          <p:cNvSpPr/>
          <p:nvPr/>
        </p:nvSpPr>
        <p:spPr>
          <a:xfrm>
            <a:off x="2761488" y="4961534"/>
            <a:ext cx="777300" cy="240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4748B"/>
              </a:buClr>
              <a:buSzPts val="950"/>
              <a:buFont typeface="Calibri"/>
              <a:buNone/>
            </a:pPr>
            <a:r>
              <a:rPr b="0" i="0" lang="en-US" sz="950" u="none" cap="none" strike="noStrike">
                <a:solidFill>
                  <a:srgbClr val="64748B"/>
                </a:solidFill>
                <a:latin typeface="Calibri"/>
                <a:ea typeface="Calibri"/>
                <a:cs typeface="Calibri"/>
                <a:sym typeface="Calibri"/>
              </a:rPr>
              <a:t>25410213</a:t>
            </a:r>
            <a:endParaRPr b="0" i="0" sz="950" u="none" cap="none" strike="noStrike">
              <a:solidFill>
                <a:srgbClr val="000000"/>
              </a:solidFill>
              <a:latin typeface="Calibri"/>
              <a:ea typeface="Calibri"/>
              <a:cs typeface="Calibri"/>
              <a:sym typeface="Calibri"/>
            </a:endParaRPr>
          </a:p>
        </p:txBody>
      </p:sp>
      <p:sp>
        <p:nvSpPr>
          <p:cNvPr id="112" name="Google Shape;112;p1"/>
          <p:cNvSpPr/>
          <p:nvPr/>
        </p:nvSpPr>
        <p:spPr>
          <a:xfrm>
            <a:off x="740664" y="5202022"/>
            <a:ext cx="237600" cy="237600"/>
          </a:xfrm>
          <a:prstGeom prst="ellipse">
            <a:avLst/>
          </a:prstGeom>
          <a:solidFill>
            <a:srgbClr val="0EA5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p1"/>
          <p:cNvSpPr/>
          <p:nvPr/>
        </p:nvSpPr>
        <p:spPr>
          <a:xfrm>
            <a:off x="740664" y="5202022"/>
            <a:ext cx="237600" cy="2376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4</a:t>
            </a:r>
            <a:endParaRPr b="0" i="0" sz="900" u="none" cap="none" strike="noStrike">
              <a:solidFill>
                <a:srgbClr val="000000"/>
              </a:solidFill>
              <a:latin typeface="Calibri"/>
              <a:ea typeface="Calibri"/>
              <a:cs typeface="Calibri"/>
              <a:sym typeface="Calibri"/>
            </a:endParaRPr>
          </a:p>
        </p:txBody>
      </p:sp>
      <p:sp>
        <p:nvSpPr>
          <p:cNvPr id="114" name="Google Shape;114;p1"/>
          <p:cNvSpPr/>
          <p:nvPr/>
        </p:nvSpPr>
        <p:spPr>
          <a:xfrm>
            <a:off x="1042416" y="5202022"/>
            <a:ext cx="1691700" cy="240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1050"/>
              <a:buFont typeface="Calibri"/>
              <a:buNone/>
            </a:pPr>
            <a:r>
              <a:rPr b="1" i="0" lang="en-US" sz="1050" u="none" cap="none" strike="noStrike">
                <a:solidFill>
                  <a:srgbClr val="1E293B"/>
                </a:solidFill>
                <a:latin typeface="Calibri"/>
                <a:ea typeface="Calibri"/>
                <a:cs typeface="Calibri"/>
                <a:sym typeface="Calibri"/>
              </a:rPr>
              <a:t>Lê Thị Tú Anh</a:t>
            </a:r>
            <a:endParaRPr b="0" i="0" sz="1050" u="none" cap="none" strike="noStrike">
              <a:solidFill>
                <a:srgbClr val="000000"/>
              </a:solidFill>
              <a:latin typeface="Calibri"/>
              <a:ea typeface="Calibri"/>
              <a:cs typeface="Calibri"/>
              <a:sym typeface="Calibri"/>
            </a:endParaRPr>
          </a:p>
        </p:txBody>
      </p:sp>
      <p:sp>
        <p:nvSpPr>
          <p:cNvPr id="115" name="Google Shape;115;p1"/>
          <p:cNvSpPr/>
          <p:nvPr/>
        </p:nvSpPr>
        <p:spPr>
          <a:xfrm>
            <a:off x="2761488" y="5202022"/>
            <a:ext cx="777300" cy="240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4748B"/>
              </a:buClr>
              <a:buSzPts val="950"/>
              <a:buFont typeface="Calibri"/>
              <a:buNone/>
            </a:pPr>
            <a:r>
              <a:rPr b="0" i="0" lang="en-US" sz="950" u="none" cap="none" strike="noStrike">
                <a:solidFill>
                  <a:srgbClr val="64748B"/>
                </a:solidFill>
                <a:latin typeface="Calibri"/>
                <a:ea typeface="Calibri"/>
                <a:cs typeface="Calibri"/>
                <a:sym typeface="Calibri"/>
              </a:rPr>
              <a:t>25410171</a:t>
            </a:r>
            <a:endParaRPr b="0" i="0" sz="950" u="none" cap="none" strike="noStrike">
              <a:solidFill>
                <a:srgbClr val="000000"/>
              </a:solidFill>
              <a:latin typeface="Calibri"/>
              <a:ea typeface="Calibri"/>
              <a:cs typeface="Calibri"/>
              <a:sym typeface="Calibri"/>
            </a:endParaRPr>
          </a:p>
        </p:txBody>
      </p:sp>
      <p:sp>
        <p:nvSpPr>
          <p:cNvPr id="116" name="Google Shape;116;p1"/>
          <p:cNvSpPr/>
          <p:nvPr/>
        </p:nvSpPr>
        <p:spPr>
          <a:xfrm>
            <a:off x="4672584" y="4480560"/>
            <a:ext cx="237600" cy="237600"/>
          </a:xfrm>
          <a:prstGeom prst="ellipse">
            <a:avLst/>
          </a:prstGeom>
          <a:solidFill>
            <a:srgbClr val="0D948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p1"/>
          <p:cNvSpPr/>
          <p:nvPr/>
        </p:nvSpPr>
        <p:spPr>
          <a:xfrm>
            <a:off x="4672584" y="4480560"/>
            <a:ext cx="237600" cy="2376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5</a:t>
            </a:r>
            <a:endParaRPr b="0" i="0" sz="900" u="none" cap="none" strike="noStrike">
              <a:solidFill>
                <a:srgbClr val="000000"/>
              </a:solidFill>
              <a:latin typeface="Calibri"/>
              <a:ea typeface="Calibri"/>
              <a:cs typeface="Calibri"/>
              <a:sym typeface="Calibri"/>
            </a:endParaRPr>
          </a:p>
        </p:txBody>
      </p:sp>
      <p:sp>
        <p:nvSpPr>
          <p:cNvPr id="118" name="Google Shape;118;p1"/>
          <p:cNvSpPr/>
          <p:nvPr/>
        </p:nvSpPr>
        <p:spPr>
          <a:xfrm>
            <a:off x="4974336" y="4480560"/>
            <a:ext cx="1691700" cy="240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1050"/>
              <a:buFont typeface="Calibri"/>
              <a:buNone/>
            </a:pPr>
            <a:r>
              <a:rPr b="1" i="0" lang="en-US" sz="1050" u="none" cap="none" strike="noStrike">
                <a:solidFill>
                  <a:srgbClr val="1E293B"/>
                </a:solidFill>
                <a:latin typeface="Calibri"/>
                <a:ea typeface="Calibri"/>
                <a:cs typeface="Calibri"/>
                <a:sym typeface="Calibri"/>
              </a:rPr>
              <a:t>Vũ Huy Hoàng</a:t>
            </a:r>
            <a:endParaRPr b="0" i="0" sz="1050" u="none" cap="none" strike="noStrike">
              <a:solidFill>
                <a:srgbClr val="000000"/>
              </a:solidFill>
              <a:latin typeface="Calibri"/>
              <a:ea typeface="Calibri"/>
              <a:cs typeface="Calibri"/>
              <a:sym typeface="Calibri"/>
            </a:endParaRPr>
          </a:p>
        </p:txBody>
      </p:sp>
      <p:sp>
        <p:nvSpPr>
          <p:cNvPr id="119" name="Google Shape;119;p1"/>
          <p:cNvSpPr/>
          <p:nvPr/>
        </p:nvSpPr>
        <p:spPr>
          <a:xfrm>
            <a:off x="6693408" y="4480560"/>
            <a:ext cx="777300" cy="240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4748B"/>
              </a:buClr>
              <a:buSzPts val="950"/>
              <a:buFont typeface="Calibri"/>
              <a:buNone/>
            </a:pPr>
            <a:r>
              <a:rPr b="0" i="0" lang="en-US" sz="950" u="none" cap="none" strike="noStrike">
                <a:solidFill>
                  <a:srgbClr val="64748B"/>
                </a:solidFill>
                <a:latin typeface="Calibri"/>
                <a:ea typeface="Calibri"/>
                <a:cs typeface="Calibri"/>
                <a:sym typeface="Calibri"/>
              </a:rPr>
              <a:t>25410220</a:t>
            </a:r>
            <a:endParaRPr b="0" i="0" sz="950" u="none" cap="none" strike="noStrike">
              <a:solidFill>
                <a:srgbClr val="000000"/>
              </a:solidFill>
              <a:latin typeface="Calibri"/>
              <a:ea typeface="Calibri"/>
              <a:cs typeface="Calibri"/>
              <a:sym typeface="Calibri"/>
            </a:endParaRPr>
          </a:p>
        </p:txBody>
      </p:sp>
      <p:sp>
        <p:nvSpPr>
          <p:cNvPr id="120" name="Google Shape;120;p1"/>
          <p:cNvSpPr/>
          <p:nvPr/>
        </p:nvSpPr>
        <p:spPr>
          <a:xfrm>
            <a:off x="4672584" y="4721047"/>
            <a:ext cx="237600" cy="237600"/>
          </a:xfrm>
          <a:prstGeom prst="ellipse">
            <a:avLst/>
          </a:prstGeom>
          <a:solidFill>
            <a:srgbClr val="4F46E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 name="Google Shape;121;p1"/>
          <p:cNvSpPr/>
          <p:nvPr/>
        </p:nvSpPr>
        <p:spPr>
          <a:xfrm>
            <a:off x="4672584" y="4721047"/>
            <a:ext cx="237600" cy="2376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6</a:t>
            </a:r>
            <a:endParaRPr b="0" i="0" sz="900" u="none" cap="none" strike="noStrike">
              <a:solidFill>
                <a:srgbClr val="000000"/>
              </a:solidFill>
              <a:latin typeface="Calibri"/>
              <a:ea typeface="Calibri"/>
              <a:cs typeface="Calibri"/>
              <a:sym typeface="Calibri"/>
            </a:endParaRPr>
          </a:p>
        </p:txBody>
      </p:sp>
      <p:sp>
        <p:nvSpPr>
          <p:cNvPr id="122" name="Google Shape;122;p1"/>
          <p:cNvSpPr/>
          <p:nvPr/>
        </p:nvSpPr>
        <p:spPr>
          <a:xfrm>
            <a:off x="4974336" y="4721047"/>
            <a:ext cx="1691700" cy="240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1050"/>
              <a:buFont typeface="Calibri"/>
              <a:buNone/>
            </a:pPr>
            <a:r>
              <a:rPr b="1" i="0" lang="en-US" sz="1050" u="none" cap="none" strike="noStrike">
                <a:solidFill>
                  <a:srgbClr val="1E293B"/>
                </a:solidFill>
                <a:latin typeface="Calibri"/>
                <a:ea typeface="Calibri"/>
                <a:cs typeface="Calibri"/>
                <a:sym typeface="Calibri"/>
              </a:rPr>
              <a:t>Giang Hải Chương</a:t>
            </a:r>
            <a:endParaRPr b="0" i="0" sz="1050" u="none" cap="none" strike="noStrike">
              <a:solidFill>
                <a:srgbClr val="000000"/>
              </a:solidFill>
              <a:latin typeface="Calibri"/>
              <a:ea typeface="Calibri"/>
              <a:cs typeface="Calibri"/>
              <a:sym typeface="Calibri"/>
            </a:endParaRPr>
          </a:p>
        </p:txBody>
      </p:sp>
      <p:sp>
        <p:nvSpPr>
          <p:cNvPr id="123" name="Google Shape;123;p1"/>
          <p:cNvSpPr/>
          <p:nvPr/>
        </p:nvSpPr>
        <p:spPr>
          <a:xfrm>
            <a:off x="6693408" y="4721047"/>
            <a:ext cx="777300" cy="240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4748B"/>
              </a:buClr>
              <a:buSzPts val="950"/>
              <a:buFont typeface="Calibri"/>
              <a:buNone/>
            </a:pPr>
            <a:r>
              <a:rPr b="0" i="0" lang="en-US" sz="950" u="none" cap="none" strike="noStrike">
                <a:solidFill>
                  <a:srgbClr val="64748B"/>
                </a:solidFill>
                <a:latin typeface="Calibri"/>
                <a:ea typeface="Calibri"/>
                <a:cs typeface="Calibri"/>
                <a:sym typeface="Calibri"/>
              </a:rPr>
              <a:t>25410179</a:t>
            </a:r>
            <a:endParaRPr b="0" i="0" sz="950" u="none" cap="none" strike="noStrike">
              <a:solidFill>
                <a:srgbClr val="000000"/>
              </a:solidFill>
              <a:latin typeface="Calibri"/>
              <a:ea typeface="Calibri"/>
              <a:cs typeface="Calibri"/>
              <a:sym typeface="Calibri"/>
            </a:endParaRPr>
          </a:p>
        </p:txBody>
      </p:sp>
      <p:sp>
        <p:nvSpPr>
          <p:cNvPr id="124" name="Google Shape;124;p1"/>
          <p:cNvSpPr/>
          <p:nvPr/>
        </p:nvSpPr>
        <p:spPr>
          <a:xfrm>
            <a:off x="4672584" y="4961534"/>
            <a:ext cx="237600" cy="237600"/>
          </a:xfrm>
          <a:prstGeom prst="ellipse">
            <a:avLst/>
          </a:prstGeom>
          <a:solidFill>
            <a:srgbClr val="EA580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 name="Google Shape;125;p1"/>
          <p:cNvSpPr/>
          <p:nvPr/>
        </p:nvSpPr>
        <p:spPr>
          <a:xfrm>
            <a:off x="4672584" y="4961534"/>
            <a:ext cx="237600" cy="2376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7</a:t>
            </a:r>
            <a:endParaRPr b="0" i="0" sz="900" u="none" cap="none" strike="noStrike">
              <a:solidFill>
                <a:srgbClr val="000000"/>
              </a:solidFill>
              <a:latin typeface="Calibri"/>
              <a:ea typeface="Calibri"/>
              <a:cs typeface="Calibri"/>
              <a:sym typeface="Calibri"/>
            </a:endParaRPr>
          </a:p>
        </p:txBody>
      </p:sp>
      <p:sp>
        <p:nvSpPr>
          <p:cNvPr id="126" name="Google Shape;126;p1"/>
          <p:cNvSpPr/>
          <p:nvPr/>
        </p:nvSpPr>
        <p:spPr>
          <a:xfrm>
            <a:off x="4974336" y="4961534"/>
            <a:ext cx="1691700" cy="240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1050"/>
              <a:buFont typeface="Calibri"/>
              <a:buNone/>
            </a:pPr>
            <a:r>
              <a:rPr b="1" i="0" lang="en-US" sz="1050" u="none" cap="none" strike="noStrike">
                <a:solidFill>
                  <a:srgbClr val="1E293B"/>
                </a:solidFill>
                <a:latin typeface="Calibri"/>
                <a:ea typeface="Calibri"/>
                <a:cs typeface="Calibri"/>
                <a:sym typeface="Calibri"/>
              </a:rPr>
              <a:t>Nguyễn Minh Duy</a:t>
            </a:r>
            <a:endParaRPr b="0" i="0" sz="1050" u="none" cap="none" strike="noStrike">
              <a:solidFill>
                <a:srgbClr val="000000"/>
              </a:solidFill>
              <a:latin typeface="Calibri"/>
              <a:ea typeface="Calibri"/>
              <a:cs typeface="Calibri"/>
              <a:sym typeface="Calibri"/>
            </a:endParaRPr>
          </a:p>
        </p:txBody>
      </p:sp>
      <p:sp>
        <p:nvSpPr>
          <p:cNvPr id="127" name="Google Shape;127;p1"/>
          <p:cNvSpPr/>
          <p:nvPr/>
        </p:nvSpPr>
        <p:spPr>
          <a:xfrm>
            <a:off x="6693408" y="4961534"/>
            <a:ext cx="777300" cy="240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4748B"/>
              </a:buClr>
              <a:buSzPts val="950"/>
              <a:buFont typeface="Calibri"/>
              <a:buNone/>
            </a:pPr>
            <a:r>
              <a:rPr b="0" i="0" lang="en-US" sz="950" u="none" cap="none" strike="noStrike">
                <a:solidFill>
                  <a:srgbClr val="64748B"/>
                </a:solidFill>
                <a:latin typeface="Calibri"/>
                <a:ea typeface="Calibri"/>
                <a:cs typeface="Calibri"/>
                <a:sym typeface="Calibri"/>
              </a:rPr>
              <a:t>25410193</a:t>
            </a:r>
            <a:endParaRPr b="0" i="0" sz="950" u="none" cap="none" strike="noStrike">
              <a:solidFill>
                <a:srgbClr val="000000"/>
              </a:solidFill>
              <a:latin typeface="Calibri"/>
              <a:ea typeface="Calibri"/>
              <a:cs typeface="Calibri"/>
              <a:sym typeface="Calibri"/>
            </a:endParaRPr>
          </a:p>
        </p:txBody>
      </p:sp>
      <p:sp>
        <p:nvSpPr>
          <p:cNvPr id="128" name="Google Shape;128;p1"/>
          <p:cNvSpPr/>
          <p:nvPr/>
        </p:nvSpPr>
        <p:spPr>
          <a:xfrm>
            <a:off x="8046720" y="3977640"/>
            <a:ext cx="3684900" cy="2331600"/>
          </a:xfrm>
          <a:prstGeom prst="roundRect">
            <a:avLst>
              <a:gd fmla="val 3922" name="adj"/>
            </a:avLst>
          </a:prstGeom>
          <a:solidFill>
            <a:srgbClr val="EEF0F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p1"/>
          <p:cNvSpPr/>
          <p:nvPr/>
        </p:nvSpPr>
        <p:spPr>
          <a:xfrm>
            <a:off x="8275320" y="4224528"/>
            <a:ext cx="3246000" cy="255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338CA"/>
              </a:buClr>
              <a:buSzPts val="1050"/>
              <a:buFont typeface="Calibri"/>
              <a:buNone/>
            </a:pPr>
            <a:r>
              <a:rPr b="1" i="0" lang="en-US" sz="1050" u="none" cap="none" strike="noStrike">
                <a:solidFill>
                  <a:schemeClr val="dk1"/>
                </a:solidFill>
                <a:latin typeface="Calibri"/>
                <a:ea typeface="Calibri"/>
                <a:cs typeface="Calibri"/>
                <a:sym typeface="Calibri"/>
              </a:rPr>
              <a:t>GIẢNG VIÊN HƯỚNG DẪN</a:t>
            </a:r>
            <a:endParaRPr b="0" i="0" sz="1050" u="none" cap="none" strike="noStrike">
              <a:solidFill>
                <a:schemeClr val="dk1"/>
              </a:solidFill>
              <a:latin typeface="Calibri"/>
              <a:ea typeface="Calibri"/>
              <a:cs typeface="Calibri"/>
              <a:sym typeface="Calibri"/>
            </a:endParaRPr>
          </a:p>
        </p:txBody>
      </p:sp>
      <p:sp>
        <p:nvSpPr>
          <p:cNvPr id="130" name="Google Shape;130;p1"/>
          <p:cNvSpPr/>
          <p:nvPr/>
        </p:nvSpPr>
        <p:spPr>
          <a:xfrm>
            <a:off x="8275320" y="4498848"/>
            <a:ext cx="3246000" cy="365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1600"/>
              <a:buFont typeface="Calibri"/>
              <a:buNone/>
            </a:pPr>
            <a:r>
              <a:rPr b="1" i="0" lang="en-US" sz="1600" u="none" cap="none" strike="noStrike">
                <a:solidFill>
                  <a:srgbClr val="1E293B"/>
                </a:solidFill>
                <a:latin typeface="Calibri"/>
                <a:ea typeface="Calibri"/>
                <a:cs typeface="Calibri"/>
                <a:sym typeface="Calibri"/>
              </a:rPr>
              <a:t>Hà Lê Hoài Trung</a:t>
            </a:r>
            <a:endParaRPr b="0" i="0" sz="1600" u="none" cap="none" strike="noStrike">
              <a:solidFill>
                <a:srgbClr val="000000"/>
              </a:solidFill>
              <a:latin typeface="Calibri"/>
              <a:ea typeface="Calibri"/>
              <a:cs typeface="Calibri"/>
              <a:sym typeface="Calibri"/>
            </a:endParaRPr>
          </a:p>
        </p:txBody>
      </p:sp>
      <p:cxnSp>
        <p:nvCxnSpPr>
          <p:cNvPr id="131" name="Google Shape;131;p1"/>
          <p:cNvCxnSpPr/>
          <p:nvPr/>
        </p:nvCxnSpPr>
        <p:spPr>
          <a:xfrm>
            <a:off x="8275320" y="5074920"/>
            <a:ext cx="3017400" cy="0"/>
          </a:xfrm>
          <a:prstGeom prst="straightConnector1">
            <a:avLst/>
          </a:prstGeom>
          <a:noFill/>
          <a:ln cap="flat" cmpd="sng" w="12700">
            <a:solidFill>
              <a:srgbClr val="C7D2FE"/>
            </a:solidFill>
            <a:prstDash val="solid"/>
            <a:round/>
            <a:headEnd len="sm" w="sm" type="none"/>
            <a:tailEnd len="sm" w="sm" type="none"/>
          </a:ln>
        </p:spPr>
      </p:cxnSp>
      <p:sp>
        <p:nvSpPr>
          <p:cNvPr id="132" name="Google Shape;132;p1"/>
          <p:cNvSpPr/>
          <p:nvPr/>
        </p:nvSpPr>
        <p:spPr>
          <a:xfrm>
            <a:off x="8275320" y="5230368"/>
            <a:ext cx="3246000" cy="255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338CA"/>
              </a:buClr>
              <a:buSzPts val="1050"/>
              <a:buFont typeface="Calibri"/>
              <a:buNone/>
            </a:pPr>
            <a:r>
              <a:rPr b="1" i="0" lang="en-US" sz="1050" u="none" cap="none" strike="noStrike">
                <a:solidFill>
                  <a:schemeClr val="dk1"/>
                </a:solidFill>
                <a:latin typeface="Calibri"/>
                <a:ea typeface="Calibri"/>
                <a:cs typeface="Calibri"/>
                <a:sym typeface="Calibri"/>
              </a:rPr>
              <a:t>NĂM HỌC</a:t>
            </a:r>
            <a:endParaRPr b="0" i="0" sz="1050" u="none" cap="none" strike="noStrike">
              <a:solidFill>
                <a:schemeClr val="dk1"/>
              </a:solidFill>
              <a:latin typeface="Calibri"/>
              <a:ea typeface="Calibri"/>
              <a:cs typeface="Calibri"/>
              <a:sym typeface="Calibri"/>
            </a:endParaRPr>
          </a:p>
        </p:txBody>
      </p:sp>
      <p:sp>
        <p:nvSpPr>
          <p:cNvPr id="133" name="Google Shape;133;p1"/>
          <p:cNvSpPr/>
          <p:nvPr/>
        </p:nvSpPr>
        <p:spPr>
          <a:xfrm>
            <a:off x="8275320" y="5486400"/>
            <a:ext cx="3246000" cy="365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1600"/>
              <a:buFont typeface="Calibri"/>
              <a:buNone/>
            </a:pPr>
            <a:r>
              <a:rPr b="1" i="0" lang="en-US" sz="1600" u="none" cap="none" strike="noStrike">
                <a:solidFill>
                  <a:srgbClr val="1E293B"/>
                </a:solidFill>
                <a:latin typeface="Calibri"/>
                <a:ea typeface="Calibri"/>
                <a:cs typeface="Calibri"/>
                <a:sym typeface="Calibri"/>
              </a:rPr>
              <a:t>2025 – 2026</a:t>
            </a:r>
            <a:endParaRPr b="0" i="0" sz="1600" u="none" cap="none" strike="noStrike">
              <a:solidFill>
                <a:srgbClr val="000000"/>
              </a:solidFill>
              <a:latin typeface="Calibri"/>
              <a:ea typeface="Calibri"/>
              <a:cs typeface="Calibri"/>
              <a:sym typeface="Calibri"/>
            </a:endParaRPr>
          </a:p>
        </p:txBody>
      </p:sp>
      <p:sp>
        <p:nvSpPr>
          <p:cNvPr id="134" name="Google Shape;134;p1"/>
          <p:cNvSpPr/>
          <p:nvPr/>
        </p:nvSpPr>
        <p:spPr>
          <a:xfrm>
            <a:off x="0" y="960120"/>
            <a:ext cx="12191700" cy="38100"/>
          </a:xfrm>
          <a:prstGeom prst="rect">
            <a:avLst/>
          </a:prstGeom>
          <a:solidFill>
            <a:srgbClr val="E0A2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5" name="Google Shape;135;p1"/>
          <p:cNvSpPr/>
          <p:nvPr/>
        </p:nvSpPr>
        <p:spPr>
          <a:xfrm>
            <a:off x="8778240" y="-1005840"/>
            <a:ext cx="4023300" cy="4023300"/>
          </a:xfrm>
          <a:prstGeom prst="ellipse">
            <a:avLst/>
          </a:prstGeom>
          <a:solidFill>
            <a:srgbClr val="E6FBF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p1"/>
          <p:cNvSpPr/>
          <p:nvPr/>
        </p:nvSpPr>
        <p:spPr>
          <a:xfrm>
            <a:off x="10149840" y="274320"/>
            <a:ext cx="2743200" cy="2743200"/>
          </a:xfrm>
          <a:prstGeom prst="ellipse">
            <a:avLst/>
          </a:prstGeom>
          <a:solidFill>
            <a:srgbClr val="EEF0F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 name="Google Shape;137;p1"/>
          <p:cNvSpPr/>
          <p:nvPr/>
        </p:nvSpPr>
        <p:spPr>
          <a:xfrm>
            <a:off x="9601200" y="1920240"/>
            <a:ext cx="1554600" cy="1554600"/>
          </a:xfrm>
          <a:prstGeom prst="ellipse">
            <a:avLst/>
          </a:prstGeom>
          <a:solidFill>
            <a:srgbClr val="FFF1E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
          <p:cNvSpPr/>
          <p:nvPr/>
        </p:nvSpPr>
        <p:spPr>
          <a:xfrm>
            <a:off x="0" y="0"/>
            <a:ext cx="12191695" cy="960120"/>
          </a:xfrm>
          <a:prstGeom prst="rect">
            <a:avLst/>
          </a:prstGeom>
          <a:solidFill>
            <a:srgbClr val="0D948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44" name="Google Shape;144;p2"/>
          <p:cNvSpPr/>
          <p:nvPr/>
        </p:nvSpPr>
        <p:spPr>
          <a:xfrm>
            <a:off x="0" y="960120"/>
            <a:ext cx="12191695" cy="38100"/>
          </a:xfrm>
          <a:prstGeom prst="rect">
            <a:avLst/>
          </a:prstGeom>
          <a:solidFill>
            <a:srgbClr val="E0A2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45" name="Google Shape;145;p2"/>
          <p:cNvSpPr txBox="1"/>
          <p:nvPr/>
        </p:nvSpPr>
        <p:spPr>
          <a:xfrm>
            <a:off x="502920" y="106990"/>
            <a:ext cx="100584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lt1"/>
                </a:solidFill>
                <a:latin typeface="Calibri"/>
                <a:ea typeface="Calibri"/>
                <a:cs typeface="Calibri"/>
                <a:sym typeface="Calibri"/>
              </a:rPr>
              <a:t>AGENDA</a:t>
            </a:r>
            <a:endParaRPr b="1" i="0" sz="1400" u="none" cap="none" strike="noStrike">
              <a:solidFill>
                <a:schemeClr val="lt1"/>
              </a:solidFill>
              <a:latin typeface="Arial"/>
              <a:ea typeface="Arial"/>
              <a:cs typeface="Arial"/>
              <a:sym typeface="Arial"/>
            </a:endParaRPr>
          </a:p>
        </p:txBody>
      </p:sp>
      <p:sp>
        <p:nvSpPr>
          <p:cNvPr id="146" name="Google Shape;146;p2"/>
          <p:cNvSpPr txBox="1"/>
          <p:nvPr/>
        </p:nvSpPr>
        <p:spPr>
          <a:xfrm>
            <a:off x="502920" y="304485"/>
            <a:ext cx="10972800" cy="400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FFFFFF"/>
                </a:solidFill>
                <a:latin typeface="Calibri"/>
                <a:ea typeface="Calibri"/>
                <a:cs typeface="Calibri"/>
                <a:sym typeface="Calibri"/>
              </a:rPr>
              <a:t>Nội dung trình bày</a:t>
            </a:r>
            <a:endParaRPr b="0" i="0" sz="1400" u="none" cap="none" strike="noStrike">
              <a:solidFill>
                <a:srgbClr val="000000"/>
              </a:solidFill>
              <a:latin typeface="Arial"/>
              <a:ea typeface="Arial"/>
              <a:cs typeface="Arial"/>
              <a:sym typeface="Arial"/>
            </a:endParaRPr>
          </a:p>
        </p:txBody>
      </p:sp>
      <p:sp>
        <p:nvSpPr>
          <p:cNvPr id="147" name="Google Shape;147;p2"/>
          <p:cNvSpPr txBox="1"/>
          <p:nvPr/>
        </p:nvSpPr>
        <p:spPr>
          <a:xfrm>
            <a:off x="502920" y="6528816"/>
            <a:ext cx="731520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50"/>
              <a:buFont typeface="Arial"/>
              <a:buNone/>
            </a:pPr>
            <a:r>
              <a:rPr b="0" i="1" lang="en-US" sz="950" u="none" cap="none" strike="noStrike">
                <a:solidFill>
                  <a:srgbClr val="595959"/>
                </a:solidFill>
                <a:latin typeface="Calibri"/>
                <a:ea typeface="Calibri"/>
                <a:cs typeface="Calibri"/>
                <a:sym typeface="Calibri"/>
              </a:rPr>
              <a:t>IE203 – Quản trị quy trình nghiệp vụ  |  OR Tech</a:t>
            </a:r>
            <a:endParaRPr b="0" i="0" sz="1400" u="none" cap="none" strike="noStrike">
              <a:solidFill>
                <a:srgbClr val="000000"/>
              </a:solidFill>
              <a:latin typeface="Arial"/>
              <a:ea typeface="Arial"/>
              <a:cs typeface="Arial"/>
              <a:sym typeface="Arial"/>
            </a:endParaRPr>
          </a:p>
        </p:txBody>
      </p:sp>
      <p:sp>
        <p:nvSpPr>
          <p:cNvPr id="148" name="Google Shape;148;p2"/>
          <p:cNvSpPr txBox="1"/>
          <p:nvPr/>
        </p:nvSpPr>
        <p:spPr>
          <a:xfrm>
            <a:off x="11338560" y="6528816"/>
            <a:ext cx="457200" cy="27432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050"/>
              <a:buFont typeface="Arial"/>
              <a:buNone/>
            </a:pPr>
            <a:r>
              <a:rPr b="1" i="0" lang="en-US" sz="1050" u="none" cap="none" strike="noStrike">
                <a:solidFill>
                  <a:srgbClr val="595959"/>
                </a:solidFill>
                <a:latin typeface="Calibri"/>
                <a:ea typeface="Calibri"/>
                <a:cs typeface="Calibri"/>
                <a:sym typeface="Calibri"/>
              </a:rPr>
              <a:t>1</a:t>
            </a:r>
            <a:endParaRPr b="0" i="0" sz="1400" u="none" cap="none" strike="noStrike">
              <a:solidFill>
                <a:srgbClr val="000000"/>
              </a:solidFill>
              <a:latin typeface="Arial"/>
              <a:ea typeface="Arial"/>
              <a:cs typeface="Arial"/>
              <a:sym typeface="Arial"/>
            </a:endParaRPr>
          </a:p>
        </p:txBody>
      </p:sp>
      <p:sp>
        <p:nvSpPr>
          <p:cNvPr id="149" name="Google Shape;149;p2"/>
          <p:cNvSpPr/>
          <p:nvPr/>
        </p:nvSpPr>
        <p:spPr>
          <a:xfrm>
            <a:off x="626388" y="1424585"/>
            <a:ext cx="512100" cy="512100"/>
          </a:xfrm>
          <a:prstGeom prst="ellipse">
            <a:avLst/>
          </a:prstGeom>
          <a:solidFill>
            <a:srgbClr val="0EA5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 name="Google Shape;150;p2"/>
          <p:cNvSpPr/>
          <p:nvPr/>
        </p:nvSpPr>
        <p:spPr>
          <a:xfrm>
            <a:off x="626388" y="1424585"/>
            <a:ext cx="512100" cy="512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01</a:t>
            </a:r>
            <a:endParaRPr b="0" i="0" sz="1500" u="none" cap="none" strike="noStrike">
              <a:solidFill>
                <a:srgbClr val="000000"/>
              </a:solidFill>
              <a:latin typeface="Calibri"/>
              <a:ea typeface="Calibri"/>
              <a:cs typeface="Calibri"/>
              <a:sym typeface="Calibri"/>
            </a:endParaRPr>
          </a:p>
        </p:txBody>
      </p:sp>
      <p:sp>
        <p:nvSpPr>
          <p:cNvPr id="151" name="Google Shape;151;p2"/>
          <p:cNvSpPr/>
          <p:nvPr/>
        </p:nvSpPr>
        <p:spPr>
          <a:xfrm>
            <a:off x="1385340" y="1340003"/>
            <a:ext cx="9966900" cy="3291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1E293B"/>
              </a:buClr>
              <a:buSzPts val="1550"/>
              <a:buFont typeface="Calibri"/>
              <a:buNone/>
            </a:pPr>
            <a:r>
              <a:rPr b="1" i="0" lang="en-US" sz="1550" u="none" cap="none" strike="noStrike">
                <a:solidFill>
                  <a:srgbClr val="1E293B"/>
                </a:solidFill>
                <a:latin typeface="Calibri"/>
                <a:ea typeface="Calibri"/>
                <a:cs typeface="Calibri"/>
                <a:sym typeface="Calibri"/>
              </a:rPr>
              <a:t>Giới thiệu OR Tech</a:t>
            </a:r>
            <a:endParaRPr b="0" i="0" sz="1550" u="none" cap="none" strike="noStrike">
              <a:solidFill>
                <a:srgbClr val="000000"/>
              </a:solidFill>
              <a:latin typeface="Calibri"/>
              <a:ea typeface="Calibri"/>
              <a:cs typeface="Calibri"/>
              <a:sym typeface="Calibri"/>
            </a:endParaRPr>
          </a:p>
        </p:txBody>
      </p:sp>
      <p:sp>
        <p:nvSpPr>
          <p:cNvPr id="152" name="Google Shape;152;p2"/>
          <p:cNvSpPr/>
          <p:nvPr/>
        </p:nvSpPr>
        <p:spPr>
          <a:xfrm>
            <a:off x="1385340" y="1669187"/>
            <a:ext cx="9966900" cy="292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64748B"/>
              </a:buClr>
              <a:buSzPts val="1150"/>
              <a:buFont typeface="Calibri"/>
              <a:buNone/>
            </a:pPr>
            <a:r>
              <a:rPr b="0" i="0" lang="en-US" sz="1150" u="none" cap="none" strike="noStrike">
                <a:solidFill>
                  <a:srgbClr val="64748B"/>
                </a:solidFill>
                <a:latin typeface="Calibri"/>
                <a:ea typeface="Calibri"/>
                <a:cs typeface="Calibri"/>
                <a:sym typeface="Calibri"/>
              </a:rPr>
              <a:t>Mô hình outsourcing phần mềm, dịch vụ &amp; khách hàng</a:t>
            </a:r>
            <a:endParaRPr b="0" i="0" sz="1150" u="none" cap="none" strike="noStrike">
              <a:solidFill>
                <a:srgbClr val="000000"/>
              </a:solidFill>
              <a:latin typeface="Calibri"/>
              <a:ea typeface="Calibri"/>
              <a:cs typeface="Calibri"/>
              <a:sym typeface="Calibri"/>
            </a:endParaRPr>
          </a:p>
        </p:txBody>
      </p:sp>
      <p:cxnSp>
        <p:nvCxnSpPr>
          <p:cNvPr id="153" name="Google Shape;153;p2"/>
          <p:cNvCxnSpPr/>
          <p:nvPr/>
        </p:nvCxnSpPr>
        <p:spPr>
          <a:xfrm>
            <a:off x="1385340" y="2057807"/>
            <a:ext cx="9966900" cy="0"/>
          </a:xfrm>
          <a:prstGeom prst="straightConnector1">
            <a:avLst/>
          </a:prstGeom>
          <a:noFill/>
          <a:ln cap="flat" cmpd="sng" w="9525">
            <a:solidFill>
              <a:srgbClr val="E2E8F0"/>
            </a:solidFill>
            <a:prstDash val="solid"/>
            <a:round/>
            <a:headEnd len="sm" w="sm" type="none"/>
            <a:tailEnd len="sm" w="sm" type="none"/>
          </a:ln>
        </p:spPr>
      </p:cxnSp>
      <p:sp>
        <p:nvSpPr>
          <p:cNvPr id="154" name="Google Shape;154;p2"/>
          <p:cNvSpPr/>
          <p:nvPr/>
        </p:nvSpPr>
        <p:spPr>
          <a:xfrm>
            <a:off x="626388" y="2197253"/>
            <a:ext cx="512100" cy="512100"/>
          </a:xfrm>
          <a:prstGeom prst="ellipse">
            <a:avLst/>
          </a:prstGeom>
          <a:solidFill>
            <a:srgbClr val="0EA5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 name="Google Shape;155;p2"/>
          <p:cNvSpPr/>
          <p:nvPr/>
        </p:nvSpPr>
        <p:spPr>
          <a:xfrm>
            <a:off x="626388" y="2197253"/>
            <a:ext cx="512100" cy="512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02</a:t>
            </a:r>
            <a:endParaRPr b="0" i="0" sz="1500" u="none" cap="none" strike="noStrike">
              <a:solidFill>
                <a:srgbClr val="000000"/>
              </a:solidFill>
              <a:latin typeface="Calibri"/>
              <a:ea typeface="Calibri"/>
              <a:cs typeface="Calibri"/>
              <a:sym typeface="Calibri"/>
            </a:endParaRPr>
          </a:p>
        </p:txBody>
      </p:sp>
      <p:sp>
        <p:nvSpPr>
          <p:cNvPr id="156" name="Google Shape;156;p2"/>
          <p:cNvSpPr/>
          <p:nvPr/>
        </p:nvSpPr>
        <p:spPr>
          <a:xfrm>
            <a:off x="1385340" y="2112671"/>
            <a:ext cx="9966900" cy="3291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1E293B"/>
              </a:buClr>
              <a:buSzPts val="1550"/>
              <a:buFont typeface="Calibri"/>
              <a:buNone/>
            </a:pPr>
            <a:r>
              <a:rPr b="1" i="0" lang="en-US" sz="1550" u="none" cap="none" strike="noStrike">
                <a:solidFill>
                  <a:srgbClr val="1E293B"/>
                </a:solidFill>
                <a:latin typeface="Calibri"/>
                <a:ea typeface="Calibri"/>
                <a:cs typeface="Calibri"/>
                <a:sym typeface="Calibri"/>
              </a:rPr>
              <a:t>Tổng quan đề tài &amp; phương pháp</a:t>
            </a:r>
            <a:endParaRPr b="0" i="0" sz="1550" u="none" cap="none" strike="noStrike">
              <a:solidFill>
                <a:srgbClr val="000000"/>
              </a:solidFill>
              <a:latin typeface="Calibri"/>
              <a:ea typeface="Calibri"/>
              <a:cs typeface="Calibri"/>
              <a:sym typeface="Calibri"/>
            </a:endParaRPr>
          </a:p>
        </p:txBody>
      </p:sp>
      <p:sp>
        <p:nvSpPr>
          <p:cNvPr id="157" name="Google Shape;157;p2"/>
          <p:cNvSpPr/>
          <p:nvPr/>
        </p:nvSpPr>
        <p:spPr>
          <a:xfrm>
            <a:off x="1385340" y="2441855"/>
            <a:ext cx="9966900" cy="292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64748B"/>
              </a:buClr>
              <a:buSzPts val="1150"/>
              <a:buFont typeface="Calibri"/>
              <a:buNone/>
            </a:pPr>
            <a:r>
              <a:rPr b="0" i="0" lang="en-US" sz="1150" u="none" cap="none" strike="noStrike">
                <a:solidFill>
                  <a:srgbClr val="64748B"/>
                </a:solidFill>
                <a:latin typeface="Calibri"/>
                <a:ea typeface="Calibri"/>
                <a:cs typeface="Calibri"/>
                <a:sym typeface="Calibri"/>
              </a:rPr>
              <a:t>10 quy trình → 6 mô hình hóa → 3 trình bày sâu</a:t>
            </a:r>
            <a:endParaRPr b="0" i="0" sz="1150" u="none" cap="none" strike="noStrike">
              <a:solidFill>
                <a:srgbClr val="000000"/>
              </a:solidFill>
              <a:latin typeface="Calibri"/>
              <a:ea typeface="Calibri"/>
              <a:cs typeface="Calibri"/>
              <a:sym typeface="Calibri"/>
            </a:endParaRPr>
          </a:p>
        </p:txBody>
      </p:sp>
      <p:cxnSp>
        <p:nvCxnSpPr>
          <p:cNvPr id="158" name="Google Shape;158;p2"/>
          <p:cNvCxnSpPr/>
          <p:nvPr/>
        </p:nvCxnSpPr>
        <p:spPr>
          <a:xfrm>
            <a:off x="1385340" y="2830475"/>
            <a:ext cx="9966900" cy="0"/>
          </a:xfrm>
          <a:prstGeom prst="straightConnector1">
            <a:avLst/>
          </a:prstGeom>
          <a:noFill/>
          <a:ln cap="flat" cmpd="sng" w="9525">
            <a:solidFill>
              <a:srgbClr val="E2E8F0"/>
            </a:solidFill>
            <a:prstDash val="solid"/>
            <a:round/>
            <a:headEnd len="sm" w="sm" type="none"/>
            <a:tailEnd len="sm" w="sm" type="none"/>
          </a:ln>
        </p:spPr>
      </p:cxnSp>
      <p:sp>
        <p:nvSpPr>
          <p:cNvPr id="159" name="Google Shape;159;p2"/>
          <p:cNvSpPr/>
          <p:nvPr/>
        </p:nvSpPr>
        <p:spPr>
          <a:xfrm>
            <a:off x="626388" y="2969921"/>
            <a:ext cx="512100" cy="512100"/>
          </a:xfrm>
          <a:prstGeom prst="ellipse">
            <a:avLst/>
          </a:prstGeom>
          <a:solidFill>
            <a:srgbClr val="14B8A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 name="Google Shape;160;p2"/>
          <p:cNvSpPr/>
          <p:nvPr/>
        </p:nvSpPr>
        <p:spPr>
          <a:xfrm>
            <a:off x="626388" y="2969921"/>
            <a:ext cx="512100" cy="512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03</a:t>
            </a:r>
            <a:endParaRPr b="0" i="0" sz="1500" u="none" cap="none" strike="noStrike">
              <a:solidFill>
                <a:srgbClr val="000000"/>
              </a:solidFill>
              <a:latin typeface="Calibri"/>
              <a:ea typeface="Calibri"/>
              <a:cs typeface="Calibri"/>
              <a:sym typeface="Calibri"/>
            </a:endParaRPr>
          </a:p>
        </p:txBody>
      </p:sp>
      <p:sp>
        <p:nvSpPr>
          <p:cNvPr id="161" name="Google Shape;161;p2"/>
          <p:cNvSpPr/>
          <p:nvPr/>
        </p:nvSpPr>
        <p:spPr>
          <a:xfrm>
            <a:off x="1385340" y="2885339"/>
            <a:ext cx="9966900" cy="3291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1E293B"/>
              </a:buClr>
              <a:buSzPts val="1550"/>
              <a:buFont typeface="Calibri"/>
              <a:buNone/>
            </a:pPr>
            <a:r>
              <a:rPr b="1" i="0" lang="en-US" sz="1550" u="none" cap="none" strike="noStrike">
                <a:solidFill>
                  <a:srgbClr val="1E293B"/>
                </a:solidFill>
                <a:latin typeface="Calibri"/>
                <a:ea typeface="Calibri"/>
                <a:cs typeface="Calibri"/>
                <a:sym typeface="Calibri"/>
              </a:rPr>
              <a:t>Quy trình Quản lý Chất lượng</a:t>
            </a:r>
            <a:endParaRPr b="0" i="0" sz="1550" u="none" cap="none" strike="noStrike">
              <a:solidFill>
                <a:srgbClr val="000000"/>
              </a:solidFill>
              <a:latin typeface="Calibri"/>
              <a:ea typeface="Calibri"/>
              <a:cs typeface="Calibri"/>
              <a:sym typeface="Calibri"/>
            </a:endParaRPr>
          </a:p>
        </p:txBody>
      </p:sp>
      <p:sp>
        <p:nvSpPr>
          <p:cNvPr id="162" name="Google Shape;162;p2"/>
          <p:cNvSpPr/>
          <p:nvPr/>
        </p:nvSpPr>
        <p:spPr>
          <a:xfrm>
            <a:off x="1385340" y="3214523"/>
            <a:ext cx="9966900" cy="292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64748B"/>
              </a:buClr>
              <a:buSzPts val="1150"/>
              <a:buFont typeface="Calibri"/>
              <a:buNone/>
            </a:pPr>
            <a:r>
              <a:rPr b="0" i="0" lang="en-US" sz="1150" u="none" cap="none" strike="noStrike">
                <a:solidFill>
                  <a:srgbClr val="64748B"/>
                </a:solidFill>
                <a:latin typeface="Calibri"/>
                <a:ea typeface="Calibri"/>
                <a:cs typeface="Calibri"/>
                <a:sym typeface="Calibri"/>
              </a:rPr>
              <a:t>Management – Process Perspective, BPMN, phân tích VA/waste/Pareto</a:t>
            </a:r>
            <a:endParaRPr b="0" i="0" sz="1150" u="none" cap="none" strike="noStrike">
              <a:solidFill>
                <a:srgbClr val="000000"/>
              </a:solidFill>
              <a:latin typeface="Calibri"/>
              <a:ea typeface="Calibri"/>
              <a:cs typeface="Calibri"/>
              <a:sym typeface="Calibri"/>
            </a:endParaRPr>
          </a:p>
        </p:txBody>
      </p:sp>
      <p:cxnSp>
        <p:nvCxnSpPr>
          <p:cNvPr id="163" name="Google Shape;163;p2"/>
          <p:cNvCxnSpPr/>
          <p:nvPr/>
        </p:nvCxnSpPr>
        <p:spPr>
          <a:xfrm>
            <a:off x="1385340" y="3603143"/>
            <a:ext cx="9966900" cy="0"/>
          </a:xfrm>
          <a:prstGeom prst="straightConnector1">
            <a:avLst/>
          </a:prstGeom>
          <a:noFill/>
          <a:ln cap="flat" cmpd="sng" w="9525">
            <a:solidFill>
              <a:srgbClr val="E2E8F0"/>
            </a:solidFill>
            <a:prstDash val="solid"/>
            <a:round/>
            <a:headEnd len="sm" w="sm" type="none"/>
            <a:tailEnd len="sm" w="sm" type="none"/>
          </a:ln>
        </p:spPr>
      </p:cxnSp>
      <p:sp>
        <p:nvSpPr>
          <p:cNvPr id="164" name="Google Shape;164;p2"/>
          <p:cNvSpPr/>
          <p:nvPr/>
        </p:nvSpPr>
        <p:spPr>
          <a:xfrm>
            <a:off x="626388" y="3742589"/>
            <a:ext cx="512100" cy="512100"/>
          </a:xfrm>
          <a:prstGeom prst="ellipse">
            <a:avLst/>
          </a:prstGeom>
          <a:solidFill>
            <a:srgbClr val="6366F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p2"/>
          <p:cNvSpPr/>
          <p:nvPr/>
        </p:nvSpPr>
        <p:spPr>
          <a:xfrm>
            <a:off x="626388" y="3742589"/>
            <a:ext cx="512100" cy="512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04</a:t>
            </a:r>
            <a:endParaRPr b="0" i="0" sz="1500" u="none" cap="none" strike="noStrike">
              <a:solidFill>
                <a:srgbClr val="000000"/>
              </a:solidFill>
              <a:latin typeface="Calibri"/>
              <a:ea typeface="Calibri"/>
              <a:cs typeface="Calibri"/>
              <a:sym typeface="Calibri"/>
            </a:endParaRPr>
          </a:p>
        </p:txBody>
      </p:sp>
      <p:sp>
        <p:nvSpPr>
          <p:cNvPr id="166" name="Google Shape;166;p2"/>
          <p:cNvSpPr/>
          <p:nvPr/>
        </p:nvSpPr>
        <p:spPr>
          <a:xfrm>
            <a:off x="1385340" y="3658007"/>
            <a:ext cx="9966900" cy="3291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1E293B"/>
              </a:buClr>
              <a:buSzPts val="1550"/>
              <a:buFont typeface="Calibri"/>
              <a:buNone/>
            </a:pPr>
            <a:r>
              <a:rPr b="1" i="0" lang="en-US" sz="1550" u="none" cap="none" strike="noStrike">
                <a:solidFill>
                  <a:srgbClr val="1E293B"/>
                </a:solidFill>
                <a:latin typeface="Calibri"/>
                <a:ea typeface="Calibri"/>
                <a:cs typeface="Calibri"/>
                <a:sym typeface="Calibri"/>
              </a:rPr>
              <a:t>Quy trình Quản lý Dự án (Agile Scrum)</a:t>
            </a:r>
            <a:endParaRPr b="0" i="0" sz="1550" u="none" cap="none" strike="noStrike">
              <a:solidFill>
                <a:srgbClr val="000000"/>
              </a:solidFill>
              <a:latin typeface="Calibri"/>
              <a:ea typeface="Calibri"/>
              <a:cs typeface="Calibri"/>
              <a:sym typeface="Calibri"/>
            </a:endParaRPr>
          </a:p>
        </p:txBody>
      </p:sp>
      <p:sp>
        <p:nvSpPr>
          <p:cNvPr id="167" name="Google Shape;167;p2"/>
          <p:cNvSpPr/>
          <p:nvPr/>
        </p:nvSpPr>
        <p:spPr>
          <a:xfrm>
            <a:off x="1385340" y="3987191"/>
            <a:ext cx="9966900" cy="292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64748B"/>
              </a:buClr>
              <a:buSzPts val="1150"/>
              <a:buFont typeface="Calibri"/>
              <a:buNone/>
            </a:pPr>
            <a:r>
              <a:rPr b="0" i="0" lang="en-US" sz="1150" u="none" cap="none" strike="noStrike">
                <a:solidFill>
                  <a:srgbClr val="64748B"/>
                </a:solidFill>
                <a:latin typeface="Calibri"/>
                <a:ea typeface="Calibri"/>
                <a:cs typeface="Calibri"/>
                <a:sym typeface="Calibri"/>
              </a:rPr>
              <a:t>Core – Process Perspective, BPMN, phân tích VA/waste/Pareto</a:t>
            </a:r>
            <a:endParaRPr b="0" i="0" sz="1150" u="none" cap="none" strike="noStrike">
              <a:solidFill>
                <a:srgbClr val="000000"/>
              </a:solidFill>
              <a:latin typeface="Calibri"/>
              <a:ea typeface="Calibri"/>
              <a:cs typeface="Calibri"/>
              <a:sym typeface="Calibri"/>
            </a:endParaRPr>
          </a:p>
        </p:txBody>
      </p:sp>
      <p:cxnSp>
        <p:nvCxnSpPr>
          <p:cNvPr id="168" name="Google Shape;168;p2"/>
          <p:cNvCxnSpPr/>
          <p:nvPr/>
        </p:nvCxnSpPr>
        <p:spPr>
          <a:xfrm>
            <a:off x="1385340" y="4375811"/>
            <a:ext cx="9966900" cy="0"/>
          </a:xfrm>
          <a:prstGeom prst="straightConnector1">
            <a:avLst/>
          </a:prstGeom>
          <a:noFill/>
          <a:ln cap="flat" cmpd="sng" w="9525">
            <a:solidFill>
              <a:srgbClr val="E2E8F0"/>
            </a:solidFill>
            <a:prstDash val="solid"/>
            <a:round/>
            <a:headEnd len="sm" w="sm" type="none"/>
            <a:tailEnd len="sm" w="sm" type="none"/>
          </a:ln>
        </p:spPr>
      </p:cxnSp>
      <p:sp>
        <p:nvSpPr>
          <p:cNvPr id="169" name="Google Shape;169;p2"/>
          <p:cNvSpPr/>
          <p:nvPr/>
        </p:nvSpPr>
        <p:spPr>
          <a:xfrm>
            <a:off x="626388" y="4515257"/>
            <a:ext cx="512100" cy="512100"/>
          </a:xfrm>
          <a:prstGeom prst="ellipse">
            <a:avLst/>
          </a:prstGeom>
          <a:solidFill>
            <a:srgbClr val="FB7C5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p2"/>
          <p:cNvSpPr/>
          <p:nvPr/>
        </p:nvSpPr>
        <p:spPr>
          <a:xfrm>
            <a:off x="626388" y="4515257"/>
            <a:ext cx="512100" cy="512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05</a:t>
            </a:r>
            <a:endParaRPr b="0" i="0" sz="1500" u="none" cap="none" strike="noStrike">
              <a:solidFill>
                <a:srgbClr val="000000"/>
              </a:solidFill>
              <a:latin typeface="Calibri"/>
              <a:ea typeface="Calibri"/>
              <a:cs typeface="Calibri"/>
              <a:sym typeface="Calibri"/>
            </a:endParaRPr>
          </a:p>
        </p:txBody>
      </p:sp>
      <p:sp>
        <p:nvSpPr>
          <p:cNvPr id="171" name="Google Shape;171;p2"/>
          <p:cNvSpPr/>
          <p:nvPr/>
        </p:nvSpPr>
        <p:spPr>
          <a:xfrm>
            <a:off x="1385340" y="4430675"/>
            <a:ext cx="9966900" cy="3291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1E293B"/>
              </a:buClr>
              <a:buSzPts val="1550"/>
              <a:buFont typeface="Calibri"/>
              <a:buNone/>
            </a:pPr>
            <a:r>
              <a:rPr b="1" i="0" lang="en-US" sz="1550" u="none" cap="none" strike="noStrike">
                <a:solidFill>
                  <a:srgbClr val="1E293B"/>
                </a:solidFill>
                <a:latin typeface="Calibri"/>
                <a:ea typeface="Calibri"/>
                <a:cs typeface="Calibri"/>
                <a:sym typeface="Calibri"/>
              </a:rPr>
              <a:t>Quy trình Tuyển dụng Nhân sự</a:t>
            </a:r>
            <a:endParaRPr b="0" i="0" sz="1550" u="none" cap="none" strike="noStrike">
              <a:solidFill>
                <a:srgbClr val="000000"/>
              </a:solidFill>
              <a:latin typeface="Calibri"/>
              <a:ea typeface="Calibri"/>
              <a:cs typeface="Calibri"/>
              <a:sym typeface="Calibri"/>
            </a:endParaRPr>
          </a:p>
        </p:txBody>
      </p:sp>
      <p:sp>
        <p:nvSpPr>
          <p:cNvPr id="172" name="Google Shape;172;p2"/>
          <p:cNvSpPr/>
          <p:nvPr/>
        </p:nvSpPr>
        <p:spPr>
          <a:xfrm>
            <a:off x="1385340" y="4759859"/>
            <a:ext cx="9966900" cy="292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64748B"/>
              </a:buClr>
              <a:buSzPts val="1150"/>
              <a:buFont typeface="Calibri"/>
              <a:buNone/>
            </a:pPr>
            <a:r>
              <a:rPr b="0" i="0" lang="en-US" sz="1150" u="none" cap="none" strike="noStrike">
                <a:solidFill>
                  <a:srgbClr val="64748B"/>
                </a:solidFill>
                <a:latin typeface="Calibri"/>
                <a:ea typeface="Calibri"/>
                <a:cs typeface="Calibri"/>
                <a:sym typeface="Calibri"/>
              </a:rPr>
              <a:t>Support – Process Perspective, BPMN, phân tích VA/waste/Pareto</a:t>
            </a:r>
            <a:endParaRPr b="0" i="0" sz="1150" u="none" cap="none" strike="noStrike">
              <a:solidFill>
                <a:srgbClr val="000000"/>
              </a:solidFill>
              <a:latin typeface="Calibri"/>
              <a:ea typeface="Calibri"/>
              <a:cs typeface="Calibri"/>
              <a:sym typeface="Calibri"/>
            </a:endParaRPr>
          </a:p>
        </p:txBody>
      </p:sp>
      <p:cxnSp>
        <p:nvCxnSpPr>
          <p:cNvPr id="173" name="Google Shape;173;p2"/>
          <p:cNvCxnSpPr/>
          <p:nvPr/>
        </p:nvCxnSpPr>
        <p:spPr>
          <a:xfrm>
            <a:off x="1385340" y="5148479"/>
            <a:ext cx="9966900" cy="0"/>
          </a:xfrm>
          <a:prstGeom prst="straightConnector1">
            <a:avLst/>
          </a:prstGeom>
          <a:noFill/>
          <a:ln cap="flat" cmpd="sng" w="9525">
            <a:solidFill>
              <a:srgbClr val="E2E8F0"/>
            </a:solidFill>
            <a:prstDash val="solid"/>
            <a:round/>
            <a:headEnd len="sm" w="sm" type="none"/>
            <a:tailEnd len="sm" w="sm" type="none"/>
          </a:ln>
        </p:spPr>
      </p:cxnSp>
      <p:sp>
        <p:nvSpPr>
          <p:cNvPr id="174" name="Google Shape;174;p2"/>
          <p:cNvSpPr/>
          <p:nvPr/>
        </p:nvSpPr>
        <p:spPr>
          <a:xfrm>
            <a:off x="626388" y="5287925"/>
            <a:ext cx="512100" cy="512100"/>
          </a:xfrm>
          <a:prstGeom prst="ellipse">
            <a:avLst/>
          </a:prstGeom>
          <a:solidFill>
            <a:srgbClr val="0EA5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 name="Google Shape;175;p2"/>
          <p:cNvSpPr/>
          <p:nvPr/>
        </p:nvSpPr>
        <p:spPr>
          <a:xfrm>
            <a:off x="626388" y="5287925"/>
            <a:ext cx="512100" cy="512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06</a:t>
            </a:r>
            <a:endParaRPr b="0" i="0" sz="1500" u="none" cap="none" strike="noStrike">
              <a:solidFill>
                <a:srgbClr val="000000"/>
              </a:solidFill>
              <a:latin typeface="Calibri"/>
              <a:ea typeface="Calibri"/>
              <a:cs typeface="Calibri"/>
              <a:sym typeface="Calibri"/>
            </a:endParaRPr>
          </a:p>
        </p:txBody>
      </p:sp>
      <p:sp>
        <p:nvSpPr>
          <p:cNvPr id="176" name="Google Shape;176;p2"/>
          <p:cNvSpPr/>
          <p:nvPr/>
        </p:nvSpPr>
        <p:spPr>
          <a:xfrm>
            <a:off x="1385340" y="5203343"/>
            <a:ext cx="9966900" cy="3291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1E293B"/>
              </a:buClr>
              <a:buSzPts val="1550"/>
              <a:buFont typeface="Calibri"/>
              <a:buNone/>
            </a:pPr>
            <a:r>
              <a:rPr b="1" i="0" lang="en-US" sz="1550" u="none" cap="none" strike="noStrike">
                <a:solidFill>
                  <a:srgbClr val="1E293B"/>
                </a:solidFill>
                <a:latin typeface="Calibri"/>
                <a:ea typeface="Calibri"/>
                <a:cs typeface="Calibri"/>
                <a:sym typeface="Calibri"/>
              </a:rPr>
              <a:t>So sánh &amp; Kết luận</a:t>
            </a:r>
            <a:endParaRPr b="0" i="0" sz="1550" u="none" cap="none" strike="noStrike">
              <a:solidFill>
                <a:srgbClr val="000000"/>
              </a:solidFill>
              <a:latin typeface="Calibri"/>
              <a:ea typeface="Calibri"/>
              <a:cs typeface="Calibri"/>
              <a:sym typeface="Calibri"/>
            </a:endParaRPr>
          </a:p>
        </p:txBody>
      </p:sp>
      <p:sp>
        <p:nvSpPr>
          <p:cNvPr id="177" name="Google Shape;177;p2"/>
          <p:cNvSpPr/>
          <p:nvPr/>
        </p:nvSpPr>
        <p:spPr>
          <a:xfrm>
            <a:off x="1385340" y="5532527"/>
            <a:ext cx="9966900" cy="292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64748B"/>
              </a:buClr>
              <a:buSzPts val="1150"/>
              <a:buFont typeface="Calibri"/>
              <a:buNone/>
            </a:pPr>
            <a:r>
              <a:rPr b="0" i="0" lang="en-US" sz="1150" u="none" cap="none" strike="noStrike">
                <a:solidFill>
                  <a:srgbClr val="64748B"/>
                </a:solidFill>
                <a:latin typeface="Calibri"/>
                <a:ea typeface="Calibri"/>
                <a:cs typeface="Calibri"/>
                <a:sym typeface="Calibri"/>
              </a:rPr>
              <a:t>Bảng tổng hợp 3 quy trình, bài học kinh nghiệm, Q&amp;A</a:t>
            </a:r>
            <a:endParaRPr b="0" i="0" sz="1150" u="none" cap="none" strike="noStrike">
              <a:solidFill>
                <a:srgbClr val="000000"/>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3"/>
          <p:cNvSpPr/>
          <p:nvPr/>
        </p:nvSpPr>
        <p:spPr>
          <a:xfrm>
            <a:off x="0" y="0"/>
            <a:ext cx="12191695" cy="960120"/>
          </a:xfrm>
          <a:prstGeom prst="rect">
            <a:avLst/>
          </a:prstGeom>
          <a:solidFill>
            <a:srgbClr val="0D948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84" name="Google Shape;184;p3"/>
          <p:cNvSpPr/>
          <p:nvPr/>
        </p:nvSpPr>
        <p:spPr>
          <a:xfrm>
            <a:off x="0" y="960120"/>
            <a:ext cx="12191695" cy="38100"/>
          </a:xfrm>
          <a:prstGeom prst="rect">
            <a:avLst/>
          </a:prstGeom>
          <a:solidFill>
            <a:schemeClr val="accent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85" name="Google Shape;185;p3"/>
          <p:cNvSpPr txBox="1"/>
          <p:nvPr/>
        </p:nvSpPr>
        <p:spPr>
          <a:xfrm>
            <a:off x="502920" y="135215"/>
            <a:ext cx="100584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lt1"/>
                </a:solidFill>
                <a:latin typeface="Calibri"/>
                <a:ea typeface="Calibri"/>
                <a:cs typeface="Calibri"/>
                <a:sym typeface="Calibri"/>
              </a:rPr>
              <a:t>MỤC 0 – BỐI CẢNH DOANH NGHIỆP</a:t>
            </a:r>
            <a:endParaRPr b="0" i="0" sz="1400" u="none" cap="none" strike="noStrike">
              <a:solidFill>
                <a:schemeClr val="lt1"/>
              </a:solidFill>
              <a:latin typeface="Arial"/>
              <a:ea typeface="Arial"/>
              <a:cs typeface="Arial"/>
              <a:sym typeface="Arial"/>
            </a:endParaRPr>
          </a:p>
        </p:txBody>
      </p:sp>
      <p:sp>
        <p:nvSpPr>
          <p:cNvPr id="186" name="Google Shape;186;p3"/>
          <p:cNvSpPr txBox="1"/>
          <p:nvPr/>
        </p:nvSpPr>
        <p:spPr>
          <a:xfrm>
            <a:off x="502920" y="395435"/>
            <a:ext cx="10972800" cy="400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FFFFFF"/>
                </a:solidFill>
                <a:latin typeface="Calibri"/>
                <a:ea typeface="Calibri"/>
                <a:cs typeface="Calibri"/>
                <a:sym typeface="Calibri"/>
              </a:rPr>
              <a:t>Giới thiệu OR Tech</a:t>
            </a:r>
            <a:endParaRPr b="0" i="0" sz="1400" u="none" cap="none" strike="noStrike">
              <a:solidFill>
                <a:srgbClr val="000000"/>
              </a:solidFill>
              <a:latin typeface="Arial"/>
              <a:ea typeface="Arial"/>
              <a:cs typeface="Arial"/>
              <a:sym typeface="Arial"/>
            </a:endParaRPr>
          </a:p>
        </p:txBody>
      </p:sp>
      <p:sp>
        <p:nvSpPr>
          <p:cNvPr id="187" name="Google Shape;187;p3"/>
          <p:cNvSpPr txBox="1"/>
          <p:nvPr/>
        </p:nvSpPr>
        <p:spPr>
          <a:xfrm>
            <a:off x="502920" y="1874515"/>
            <a:ext cx="6126600" cy="333870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Clr>
                <a:srgbClr val="000000"/>
              </a:buClr>
              <a:buSzPts val="1450"/>
              <a:buFont typeface="Arial"/>
              <a:buNone/>
            </a:pPr>
            <a:r>
              <a:rPr b="1" i="0" lang="en-US" sz="1450" u="none" cap="none" strike="noStrike">
                <a:solidFill>
                  <a:schemeClr val="dk1"/>
                </a:solidFill>
                <a:highlight>
                  <a:schemeClr val="lt1"/>
                </a:highlight>
                <a:latin typeface="Calibri"/>
                <a:ea typeface="Calibri"/>
                <a:cs typeface="Calibri"/>
                <a:sym typeface="Calibri"/>
              </a:rPr>
              <a:t>›  Thành lập 2005 tại Singapore,</a:t>
            </a:r>
            <a:r>
              <a:rPr b="1" i="0" lang="en-US" sz="1450" u="none" cap="none" strike="noStrike">
                <a:solidFill>
                  <a:srgbClr val="0E2A47"/>
                </a:solidFill>
                <a:latin typeface="Calibri"/>
                <a:ea typeface="Calibri"/>
                <a:cs typeface="Calibri"/>
                <a:sym typeface="Calibri"/>
              </a:rPr>
              <a:t> </a:t>
            </a:r>
            <a:r>
              <a:rPr b="0" i="0" lang="en-US" sz="1450" u="none" cap="none" strike="noStrike">
                <a:solidFill>
                  <a:srgbClr val="333333"/>
                </a:solidFill>
                <a:latin typeface="Calibri"/>
                <a:ea typeface="Calibri"/>
                <a:cs typeface="Calibri"/>
                <a:sym typeface="Calibri"/>
              </a:rPr>
              <a:t>sau đó chuyển trọng tâm hoạt động về Việt Nam; hơn 2 thập kỷ phát triển thành doanh nghiệp outsourcing phần mềm hàng đầu, đội ngũ đa quốc tịch.</a:t>
            </a:r>
            <a:endParaRPr b="0" i="0" sz="1400" u="none" cap="none" strike="noStrike">
              <a:solidFill>
                <a:srgbClr val="000000"/>
              </a:solidFill>
              <a:latin typeface="Arial"/>
              <a:ea typeface="Arial"/>
              <a:cs typeface="Arial"/>
              <a:sym typeface="Arial"/>
            </a:endParaRPr>
          </a:p>
          <a:p>
            <a:pPr indent="0" lvl="0" marL="0" marR="0" rtl="0" algn="l">
              <a:lnSpc>
                <a:spcPct val="112000"/>
              </a:lnSpc>
              <a:spcBef>
                <a:spcPts val="1200"/>
              </a:spcBef>
              <a:spcAft>
                <a:spcPts val="0"/>
              </a:spcAft>
              <a:buClr>
                <a:srgbClr val="000000"/>
              </a:buClr>
              <a:buSzPts val="1450"/>
              <a:buFont typeface="Arial"/>
              <a:buNone/>
            </a:pPr>
            <a:r>
              <a:rPr b="1" i="0" lang="en-US" sz="1450" u="none" cap="none" strike="noStrike">
                <a:solidFill>
                  <a:schemeClr val="dk1"/>
                </a:solidFill>
                <a:latin typeface="Calibri"/>
                <a:ea typeface="Calibri"/>
                <a:cs typeface="Calibri"/>
                <a:sym typeface="Calibri"/>
              </a:rPr>
              <a:t>›  Lĩnh vực:</a:t>
            </a:r>
            <a:r>
              <a:rPr b="1" i="0" lang="en-US" sz="1450" u="none" cap="none" strike="noStrike">
                <a:solidFill>
                  <a:srgbClr val="0E2A47"/>
                </a:solidFill>
                <a:latin typeface="Calibri"/>
                <a:ea typeface="Calibri"/>
                <a:cs typeface="Calibri"/>
                <a:sym typeface="Calibri"/>
              </a:rPr>
              <a:t> </a:t>
            </a:r>
            <a:r>
              <a:rPr b="0" i="0" lang="en-US" sz="1450" u="none" cap="none" strike="noStrike">
                <a:solidFill>
                  <a:srgbClr val="333333"/>
                </a:solidFill>
                <a:latin typeface="Calibri"/>
                <a:ea typeface="Calibri"/>
                <a:cs typeface="Calibri"/>
                <a:sym typeface="Calibri"/>
              </a:rPr>
              <a:t>outsourcing phát triển phần mềm cho khách hàng Bắc Mỹ, châu Âu, Nhật Bản — startup, SMB đến tập đoàn lớn; tỷ lệ khách hàng quay lại cao.</a:t>
            </a:r>
            <a:endParaRPr b="0" i="0" sz="1400" u="none" cap="none" strike="noStrike">
              <a:solidFill>
                <a:srgbClr val="000000"/>
              </a:solidFill>
              <a:latin typeface="Arial"/>
              <a:ea typeface="Arial"/>
              <a:cs typeface="Arial"/>
              <a:sym typeface="Arial"/>
            </a:endParaRPr>
          </a:p>
          <a:p>
            <a:pPr indent="0" lvl="0" marL="0" marR="0" rtl="0" algn="l">
              <a:lnSpc>
                <a:spcPct val="112000"/>
              </a:lnSpc>
              <a:spcBef>
                <a:spcPts val="1200"/>
              </a:spcBef>
              <a:spcAft>
                <a:spcPts val="0"/>
              </a:spcAft>
              <a:buClr>
                <a:srgbClr val="000000"/>
              </a:buClr>
              <a:buSzPts val="1450"/>
              <a:buFont typeface="Arial"/>
              <a:buNone/>
            </a:pPr>
            <a:r>
              <a:rPr b="1" i="0" lang="en-US" sz="1450" u="none" cap="none" strike="noStrike">
                <a:solidFill>
                  <a:schemeClr val="dk1"/>
                </a:solidFill>
                <a:latin typeface="Calibri"/>
                <a:ea typeface="Calibri"/>
                <a:cs typeface="Calibri"/>
                <a:sym typeface="Calibri"/>
              </a:rPr>
              <a:t>›  3 mô hình hợp tác chính:</a:t>
            </a:r>
            <a:r>
              <a:rPr b="1" i="0" lang="en-US" sz="1450" u="none" cap="none" strike="noStrike">
                <a:solidFill>
                  <a:srgbClr val="0E2A47"/>
                </a:solidFill>
                <a:latin typeface="Calibri"/>
                <a:ea typeface="Calibri"/>
                <a:cs typeface="Calibri"/>
                <a:sym typeface="Calibri"/>
              </a:rPr>
              <a:t> </a:t>
            </a:r>
            <a:r>
              <a:rPr b="0" i="0" lang="en-US" sz="1450" u="none" cap="none" strike="noStrike">
                <a:solidFill>
                  <a:srgbClr val="333333"/>
                </a:solidFill>
                <a:latin typeface="Calibri"/>
                <a:ea typeface="Calibri"/>
                <a:cs typeface="Calibri"/>
                <a:sym typeface="Calibri"/>
              </a:rPr>
              <a:t>Dedicated Team, Extended Team/Staff Augmentation, Offshore Development Center (ODC).</a:t>
            </a:r>
            <a:endParaRPr b="0" i="0" sz="1400" u="none" cap="none" strike="noStrike">
              <a:solidFill>
                <a:srgbClr val="000000"/>
              </a:solidFill>
              <a:latin typeface="Arial"/>
              <a:ea typeface="Arial"/>
              <a:cs typeface="Arial"/>
              <a:sym typeface="Arial"/>
            </a:endParaRPr>
          </a:p>
          <a:p>
            <a:pPr indent="0" lvl="0" marL="0" marR="0" rtl="0" algn="l">
              <a:lnSpc>
                <a:spcPct val="112000"/>
              </a:lnSpc>
              <a:spcBef>
                <a:spcPts val="1200"/>
              </a:spcBef>
              <a:spcAft>
                <a:spcPts val="0"/>
              </a:spcAft>
              <a:buClr>
                <a:srgbClr val="000000"/>
              </a:buClr>
              <a:buSzPts val="1450"/>
              <a:buFont typeface="Arial"/>
              <a:buNone/>
            </a:pPr>
            <a:r>
              <a:rPr b="1" i="0" lang="en-US" sz="1450" u="none" cap="none" strike="noStrike">
                <a:solidFill>
                  <a:schemeClr val="dk1"/>
                </a:solidFill>
                <a:latin typeface="Calibri"/>
                <a:ea typeface="Calibri"/>
                <a:cs typeface="Calibri"/>
                <a:sym typeface="Calibri"/>
              </a:rPr>
              <a:t>›  Dịch vụ &amp; công nghệ:</a:t>
            </a:r>
            <a:r>
              <a:rPr b="1" i="0" lang="en-US" sz="1450" u="none" cap="none" strike="noStrike">
                <a:solidFill>
                  <a:srgbClr val="0E2A47"/>
                </a:solidFill>
                <a:latin typeface="Calibri"/>
                <a:ea typeface="Calibri"/>
                <a:cs typeface="Calibri"/>
                <a:sym typeface="Calibri"/>
              </a:rPr>
              <a:t> </a:t>
            </a:r>
            <a:r>
              <a:rPr b="0" i="0" lang="en-US" sz="1450" u="none" cap="none" strike="noStrike">
                <a:solidFill>
                  <a:srgbClr val="333333"/>
                </a:solidFill>
                <a:latin typeface="Calibri"/>
                <a:ea typeface="Calibri"/>
                <a:cs typeface="Calibri"/>
                <a:sym typeface="Calibri"/>
              </a:rPr>
              <a:t>Custom/Web/Mobile Development, AI &amp; Data Science, Cloud/IoT, Fintech/E-commerce/POS; nền tảng .NET, Java, JavaScript.</a:t>
            </a:r>
            <a:endParaRPr b="0" i="0" sz="1400" u="none" cap="none" strike="noStrike">
              <a:solidFill>
                <a:srgbClr val="000000"/>
              </a:solidFill>
              <a:latin typeface="Arial"/>
              <a:ea typeface="Arial"/>
              <a:cs typeface="Arial"/>
              <a:sym typeface="Arial"/>
            </a:endParaRPr>
          </a:p>
          <a:p>
            <a:pPr indent="0" lvl="0" marL="0" marR="0" rtl="0" algn="l">
              <a:lnSpc>
                <a:spcPct val="112000"/>
              </a:lnSpc>
              <a:spcBef>
                <a:spcPts val="1200"/>
              </a:spcBef>
              <a:spcAft>
                <a:spcPts val="0"/>
              </a:spcAft>
              <a:buClr>
                <a:srgbClr val="000000"/>
              </a:buClr>
              <a:buSzPts val="1450"/>
              <a:buFont typeface="Arial"/>
              <a:buNone/>
            </a:pPr>
            <a:r>
              <a:rPr b="1" i="0" lang="en-US" sz="1450" u="none" cap="none" strike="noStrike">
                <a:solidFill>
                  <a:schemeClr val="dk1"/>
                </a:solidFill>
                <a:latin typeface="Calibri"/>
                <a:ea typeface="Calibri"/>
                <a:cs typeface="Calibri"/>
                <a:sym typeface="Calibri"/>
              </a:rPr>
              <a:t>›  Chứng nhận ISO 9001 &amp; ISO/IEC 27001: </a:t>
            </a:r>
            <a:r>
              <a:rPr b="0" i="0" lang="en-US" sz="1450" u="none" cap="none" strike="noStrike">
                <a:solidFill>
                  <a:srgbClr val="333333"/>
                </a:solidFill>
                <a:latin typeface="Calibri"/>
                <a:ea typeface="Calibri"/>
                <a:cs typeface="Calibri"/>
                <a:sym typeface="Calibri"/>
              </a:rPr>
              <a:t>mỗi quy trình đều gắn với cam kết hợp đồng (SLA) — động lực chính để chuẩn hóa &amp; tối ưu quy trình nội bộ.</a:t>
            </a:r>
            <a:endParaRPr b="0" i="0" sz="1400" u="none" cap="none" strike="noStrike">
              <a:solidFill>
                <a:srgbClr val="000000"/>
              </a:solidFill>
              <a:latin typeface="Arial"/>
              <a:ea typeface="Arial"/>
              <a:cs typeface="Arial"/>
              <a:sym typeface="Arial"/>
            </a:endParaRPr>
          </a:p>
        </p:txBody>
      </p:sp>
      <p:sp>
        <p:nvSpPr>
          <p:cNvPr id="188" name="Google Shape;188;p3"/>
          <p:cNvSpPr/>
          <p:nvPr/>
        </p:nvSpPr>
        <p:spPr>
          <a:xfrm>
            <a:off x="6858125" y="1531550"/>
            <a:ext cx="4617600" cy="3706800"/>
          </a:xfrm>
          <a:prstGeom prst="rect">
            <a:avLst/>
          </a:prstGeom>
          <a:solidFill>
            <a:srgbClr val="F1F3F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89" name="Google Shape;189;p3"/>
          <p:cNvSpPr txBox="1"/>
          <p:nvPr/>
        </p:nvSpPr>
        <p:spPr>
          <a:xfrm>
            <a:off x="7109525" y="1852520"/>
            <a:ext cx="4114800" cy="192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50"/>
              <a:buFont typeface="Arial"/>
              <a:buNone/>
            </a:pPr>
            <a:r>
              <a:rPr b="1" i="0" lang="en-US" sz="1250" u="none" cap="none" strike="noStrike">
                <a:solidFill>
                  <a:schemeClr val="dk1"/>
                </a:solidFill>
                <a:latin typeface="Calibri"/>
                <a:ea typeface="Calibri"/>
                <a:cs typeface="Calibri"/>
                <a:sym typeface="Calibri"/>
              </a:rPr>
              <a:t>3 MÔ HÌNH HỢP TÁC (ENGAGEMENT MODEL)</a:t>
            </a:r>
            <a:endParaRPr b="0" i="0" sz="1400" u="none" cap="none" strike="noStrike">
              <a:solidFill>
                <a:schemeClr val="dk1"/>
              </a:solidFill>
              <a:latin typeface="Arial"/>
              <a:ea typeface="Arial"/>
              <a:cs typeface="Arial"/>
              <a:sym typeface="Arial"/>
            </a:endParaRPr>
          </a:p>
        </p:txBody>
      </p:sp>
      <p:sp>
        <p:nvSpPr>
          <p:cNvPr id="190" name="Google Shape;190;p3"/>
          <p:cNvSpPr txBox="1"/>
          <p:nvPr/>
        </p:nvSpPr>
        <p:spPr>
          <a:xfrm>
            <a:off x="7132450" y="2214982"/>
            <a:ext cx="4114800" cy="207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50"/>
              <a:buFont typeface="Arial"/>
              <a:buNone/>
            </a:pPr>
            <a:r>
              <a:rPr b="1" i="0" lang="en-US" sz="1350" u="none" cap="none" strike="noStrike">
                <a:solidFill>
                  <a:schemeClr val="dk1"/>
                </a:solidFill>
                <a:latin typeface="Calibri"/>
                <a:ea typeface="Calibri"/>
                <a:cs typeface="Calibri"/>
                <a:sym typeface="Calibri"/>
              </a:rPr>
              <a:t>Dedicated Team</a:t>
            </a:r>
            <a:endParaRPr b="0" i="0" sz="1400" u="none" cap="none" strike="noStrike">
              <a:solidFill>
                <a:schemeClr val="dk1"/>
              </a:solidFill>
              <a:latin typeface="Arial"/>
              <a:ea typeface="Arial"/>
              <a:cs typeface="Arial"/>
              <a:sym typeface="Arial"/>
            </a:endParaRPr>
          </a:p>
        </p:txBody>
      </p:sp>
      <p:sp>
        <p:nvSpPr>
          <p:cNvPr id="191" name="Google Shape;191;p3"/>
          <p:cNvSpPr txBox="1"/>
          <p:nvPr/>
        </p:nvSpPr>
        <p:spPr>
          <a:xfrm>
            <a:off x="7132450" y="2525878"/>
            <a:ext cx="4114800" cy="3630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Clr>
                <a:srgbClr val="000000"/>
              </a:buClr>
              <a:buSzPts val="1150"/>
              <a:buFont typeface="Arial"/>
              <a:buNone/>
            </a:pPr>
            <a:r>
              <a:rPr b="0" i="0" lang="en-US" sz="1150" u="none" cap="none" strike="noStrike">
                <a:solidFill>
                  <a:srgbClr val="333333"/>
                </a:solidFill>
                <a:latin typeface="Calibri"/>
                <a:ea typeface="Calibri"/>
                <a:cs typeface="Calibri"/>
                <a:sym typeface="Calibri"/>
              </a:rPr>
              <a:t>Đội ngũ chuyên trách vận hành độc lập cho toàn bộ dự án — bối cảnh của Quản lý Dự án (Agile Scrum).</a:t>
            </a:r>
            <a:endParaRPr b="0" i="0" sz="1400" u="none" cap="none" strike="noStrike">
              <a:solidFill>
                <a:srgbClr val="000000"/>
              </a:solidFill>
              <a:latin typeface="Arial"/>
              <a:ea typeface="Arial"/>
              <a:cs typeface="Arial"/>
              <a:sym typeface="Arial"/>
            </a:endParaRPr>
          </a:p>
        </p:txBody>
      </p:sp>
      <p:sp>
        <p:nvSpPr>
          <p:cNvPr id="192" name="Google Shape;192;p3"/>
          <p:cNvSpPr txBox="1"/>
          <p:nvPr/>
        </p:nvSpPr>
        <p:spPr>
          <a:xfrm>
            <a:off x="7109525" y="3266399"/>
            <a:ext cx="4114800" cy="207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50"/>
              <a:buFont typeface="Arial"/>
              <a:buNone/>
            </a:pPr>
            <a:r>
              <a:rPr b="1" i="0" lang="en-US" sz="1350" u="none" cap="none" strike="noStrike">
                <a:solidFill>
                  <a:schemeClr val="dk1"/>
                </a:solidFill>
                <a:latin typeface="Calibri"/>
                <a:ea typeface="Calibri"/>
                <a:cs typeface="Calibri"/>
                <a:sym typeface="Calibri"/>
              </a:rPr>
              <a:t>Extended Team / Staff Augmentation</a:t>
            </a:r>
            <a:endParaRPr b="0" i="0" sz="1400" u="none" cap="none" strike="noStrike">
              <a:solidFill>
                <a:schemeClr val="dk1"/>
              </a:solidFill>
              <a:latin typeface="Arial"/>
              <a:ea typeface="Arial"/>
              <a:cs typeface="Arial"/>
              <a:sym typeface="Arial"/>
            </a:endParaRPr>
          </a:p>
        </p:txBody>
      </p:sp>
      <p:sp>
        <p:nvSpPr>
          <p:cNvPr id="193" name="Google Shape;193;p3"/>
          <p:cNvSpPr txBox="1"/>
          <p:nvPr/>
        </p:nvSpPr>
        <p:spPr>
          <a:xfrm>
            <a:off x="7109525" y="3577295"/>
            <a:ext cx="4114800" cy="3630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Clr>
                <a:srgbClr val="000000"/>
              </a:buClr>
              <a:buSzPts val="1150"/>
              <a:buFont typeface="Arial"/>
              <a:buNone/>
            </a:pPr>
            <a:r>
              <a:rPr b="0" i="0" lang="en-US" sz="1150" u="none" cap="none" strike="noStrike">
                <a:solidFill>
                  <a:srgbClr val="333333"/>
                </a:solidFill>
                <a:latin typeface="Calibri"/>
                <a:ea typeface="Calibri"/>
                <a:cs typeface="Calibri"/>
                <a:sym typeface="Calibri"/>
              </a:rPr>
              <a:t>Nhân sự OR Tech tích hợp vào đội ngũ khách hàng — gắn với Quản lý Danh mục Dự án &amp; Phân bổ Nguồn lực.</a:t>
            </a:r>
            <a:endParaRPr b="0" i="0" sz="1400" u="none" cap="none" strike="noStrike">
              <a:solidFill>
                <a:srgbClr val="000000"/>
              </a:solidFill>
              <a:latin typeface="Arial"/>
              <a:ea typeface="Arial"/>
              <a:cs typeface="Arial"/>
              <a:sym typeface="Arial"/>
            </a:endParaRPr>
          </a:p>
        </p:txBody>
      </p:sp>
      <p:sp>
        <p:nvSpPr>
          <p:cNvPr id="194" name="Google Shape;194;p3"/>
          <p:cNvSpPr txBox="1"/>
          <p:nvPr/>
        </p:nvSpPr>
        <p:spPr>
          <a:xfrm>
            <a:off x="7109525" y="4317829"/>
            <a:ext cx="4114800" cy="207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50"/>
              <a:buFont typeface="Arial"/>
              <a:buNone/>
            </a:pPr>
            <a:r>
              <a:rPr b="1" i="0" lang="en-US" sz="1350" u="none" cap="none" strike="noStrike">
                <a:solidFill>
                  <a:schemeClr val="dk1"/>
                </a:solidFill>
                <a:latin typeface="Calibri"/>
                <a:ea typeface="Calibri"/>
                <a:cs typeface="Calibri"/>
                <a:sym typeface="Calibri"/>
              </a:rPr>
              <a:t>Offshore Development Center (ODC)</a:t>
            </a:r>
            <a:endParaRPr b="0" i="0" sz="1400" u="none" cap="none" strike="noStrike">
              <a:solidFill>
                <a:schemeClr val="dk1"/>
              </a:solidFill>
              <a:latin typeface="Arial"/>
              <a:ea typeface="Arial"/>
              <a:cs typeface="Arial"/>
              <a:sym typeface="Arial"/>
            </a:endParaRPr>
          </a:p>
        </p:txBody>
      </p:sp>
      <p:sp>
        <p:nvSpPr>
          <p:cNvPr id="195" name="Google Shape;195;p3"/>
          <p:cNvSpPr txBox="1"/>
          <p:nvPr/>
        </p:nvSpPr>
        <p:spPr>
          <a:xfrm>
            <a:off x="7109525" y="4628725"/>
            <a:ext cx="4114800" cy="3630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Clr>
                <a:srgbClr val="000000"/>
              </a:buClr>
              <a:buSzPts val="1150"/>
              <a:buFont typeface="Arial"/>
              <a:buNone/>
            </a:pPr>
            <a:r>
              <a:rPr b="0" i="0" lang="en-US" sz="1150" u="none" cap="none" strike="noStrike">
                <a:solidFill>
                  <a:srgbClr val="333333"/>
                </a:solidFill>
                <a:latin typeface="Calibri"/>
                <a:ea typeface="Calibri"/>
                <a:cs typeface="Calibri"/>
                <a:sym typeface="Calibri"/>
              </a:rPr>
              <a:t>Trung tâm phát triển riêng cho khách hàng, hợp đồng dài hạn — đòi hỏi Tuyển dụng Nhân sự &amp; Quản lý Tài sản chặt chẽ.</a:t>
            </a:r>
            <a:endParaRPr b="0" i="0" sz="1400" u="none" cap="none" strike="noStrike">
              <a:solidFill>
                <a:srgbClr val="000000"/>
              </a:solidFill>
              <a:latin typeface="Arial"/>
              <a:ea typeface="Arial"/>
              <a:cs typeface="Arial"/>
              <a:sym typeface="Arial"/>
            </a:endParaRPr>
          </a:p>
        </p:txBody>
      </p:sp>
      <p:sp>
        <p:nvSpPr>
          <p:cNvPr id="196" name="Google Shape;196;p3"/>
          <p:cNvSpPr txBox="1"/>
          <p:nvPr/>
        </p:nvSpPr>
        <p:spPr>
          <a:xfrm>
            <a:off x="502920" y="6528816"/>
            <a:ext cx="731520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50"/>
              <a:buFont typeface="Arial"/>
              <a:buNone/>
            </a:pPr>
            <a:r>
              <a:rPr b="0" i="1" lang="en-US" sz="950" u="none" cap="none" strike="noStrike">
                <a:solidFill>
                  <a:srgbClr val="595959"/>
                </a:solidFill>
                <a:latin typeface="Calibri"/>
                <a:ea typeface="Calibri"/>
                <a:cs typeface="Calibri"/>
                <a:sym typeface="Calibri"/>
              </a:rPr>
              <a:t>IE203 – Quản trị quy trình nghiệp vụ  |  OR Tech</a:t>
            </a:r>
            <a:endParaRPr b="0" i="0" sz="1400" u="none" cap="none" strike="noStrike">
              <a:solidFill>
                <a:srgbClr val="000000"/>
              </a:solidFill>
              <a:latin typeface="Arial"/>
              <a:ea typeface="Arial"/>
              <a:cs typeface="Arial"/>
              <a:sym typeface="Arial"/>
            </a:endParaRPr>
          </a:p>
        </p:txBody>
      </p:sp>
      <p:sp>
        <p:nvSpPr>
          <p:cNvPr id="197" name="Google Shape;197;p3"/>
          <p:cNvSpPr txBox="1"/>
          <p:nvPr/>
        </p:nvSpPr>
        <p:spPr>
          <a:xfrm>
            <a:off x="11338560" y="6528816"/>
            <a:ext cx="457200" cy="27432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050"/>
              <a:buFont typeface="Arial"/>
              <a:buNone/>
            </a:pPr>
            <a:r>
              <a:rPr b="1" i="0" lang="en-US" sz="1050" u="none" cap="none" strike="noStrike">
                <a:solidFill>
                  <a:srgbClr val="595959"/>
                </a:solidFill>
                <a:latin typeface="Calibri"/>
                <a:ea typeface="Calibri"/>
                <a:cs typeface="Calibri"/>
                <a:sym typeface="Calibri"/>
              </a:rPr>
              <a:t>2</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4"/>
          <p:cNvSpPr/>
          <p:nvPr/>
        </p:nvSpPr>
        <p:spPr>
          <a:xfrm>
            <a:off x="0" y="0"/>
            <a:ext cx="12191695" cy="960120"/>
          </a:xfrm>
          <a:prstGeom prst="rect">
            <a:avLst/>
          </a:prstGeom>
          <a:solidFill>
            <a:srgbClr val="0D948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04" name="Google Shape;204;p4"/>
          <p:cNvSpPr/>
          <p:nvPr/>
        </p:nvSpPr>
        <p:spPr>
          <a:xfrm>
            <a:off x="0" y="960120"/>
            <a:ext cx="12191695" cy="38100"/>
          </a:xfrm>
          <a:prstGeom prst="rect">
            <a:avLst/>
          </a:prstGeom>
          <a:solidFill>
            <a:schemeClr val="accent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05" name="Google Shape;205;p4"/>
          <p:cNvSpPr txBox="1"/>
          <p:nvPr/>
        </p:nvSpPr>
        <p:spPr>
          <a:xfrm>
            <a:off x="502920" y="91440"/>
            <a:ext cx="100584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lt1"/>
                </a:solidFill>
                <a:latin typeface="Calibri"/>
                <a:ea typeface="Calibri"/>
                <a:cs typeface="Calibri"/>
                <a:sym typeface="Calibri"/>
              </a:rPr>
              <a:t>PHẠM VI NGHIÊN CỨU</a:t>
            </a:r>
            <a:endParaRPr b="0" i="0" sz="1400" u="none" cap="none" strike="noStrike">
              <a:solidFill>
                <a:schemeClr val="lt1"/>
              </a:solidFill>
              <a:latin typeface="Arial"/>
              <a:ea typeface="Arial"/>
              <a:cs typeface="Arial"/>
              <a:sym typeface="Arial"/>
            </a:endParaRPr>
          </a:p>
        </p:txBody>
      </p:sp>
      <p:sp>
        <p:nvSpPr>
          <p:cNvPr id="206" name="Google Shape;206;p4"/>
          <p:cNvSpPr txBox="1"/>
          <p:nvPr/>
        </p:nvSpPr>
        <p:spPr>
          <a:xfrm>
            <a:off x="502920" y="365760"/>
            <a:ext cx="10972800" cy="5486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FFFFFF"/>
                </a:solidFill>
                <a:latin typeface="Calibri"/>
                <a:ea typeface="Calibri"/>
                <a:cs typeface="Calibri"/>
                <a:sym typeface="Calibri"/>
              </a:rPr>
              <a:t>Tổng quan đề tài &amp; phương pháp thực hiện</a:t>
            </a:r>
            <a:endParaRPr b="0" i="0" sz="1400" u="none" cap="none" strike="noStrike">
              <a:solidFill>
                <a:srgbClr val="000000"/>
              </a:solidFill>
              <a:latin typeface="Arial"/>
              <a:ea typeface="Arial"/>
              <a:cs typeface="Arial"/>
              <a:sym typeface="Arial"/>
            </a:endParaRPr>
          </a:p>
        </p:txBody>
      </p:sp>
      <p:sp>
        <p:nvSpPr>
          <p:cNvPr id="207" name="Google Shape;207;p4"/>
          <p:cNvSpPr txBox="1"/>
          <p:nvPr/>
        </p:nvSpPr>
        <p:spPr>
          <a:xfrm>
            <a:off x="189495" y="6182416"/>
            <a:ext cx="6583800" cy="177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150"/>
              <a:buFont typeface="Arial"/>
              <a:buNone/>
            </a:pPr>
            <a:r>
              <a:rPr b="0" i="1" lang="en-US" sz="1150" u="none" cap="none" strike="noStrike">
                <a:solidFill>
                  <a:srgbClr val="595959"/>
                </a:solidFill>
                <a:latin typeface="Calibri"/>
                <a:ea typeface="Calibri"/>
                <a:cs typeface="Calibri"/>
                <a:sym typeface="Calibri"/>
              </a:rPr>
              <a:t>Kiến trúc 10 quy trình nghiệp vụ của OR Tech: 3 Management + 3 Core + 4 Support</a:t>
            </a:r>
            <a:endParaRPr b="0" i="0" sz="1400" u="none" cap="none" strike="noStrike">
              <a:solidFill>
                <a:srgbClr val="000000"/>
              </a:solidFill>
              <a:latin typeface="Arial"/>
              <a:ea typeface="Arial"/>
              <a:cs typeface="Arial"/>
              <a:sym typeface="Arial"/>
            </a:endParaRPr>
          </a:p>
        </p:txBody>
      </p:sp>
      <p:sp>
        <p:nvSpPr>
          <p:cNvPr id="208" name="Google Shape;208;p4"/>
          <p:cNvSpPr txBox="1"/>
          <p:nvPr/>
        </p:nvSpPr>
        <p:spPr>
          <a:xfrm>
            <a:off x="502920" y="6528816"/>
            <a:ext cx="731520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50"/>
              <a:buFont typeface="Arial"/>
              <a:buNone/>
            </a:pPr>
            <a:r>
              <a:rPr b="0" i="1" lang="en-US" sz="950" u="none" cap="none" strike="noStrike">
                <a:solidFill>
                  <a:srgbClr val="595959"/>
                </a:solidFill>
                <a:latin typeface="Calibri"/>
                <a:ea typeface="Calibri"/>
                <a:cs typeface="Calibri"/>
                <a:sym typeface="Calibri"/>
              </a:rPr>
              <a:t>IE203 – Quản trị quy trình nghiệp vụ  |  OR Tech</a:t>
            </a:r>
            <a:endParaRPr b="0" i="0" sz="1400" u="none" cap="none" strike="noStrike">
              <a:solidFill>
                <a:srgbClr val="000000"/>
              </a:solidFill>
              <a:latin typeface="Arial"/>
              <a:ea typeface="Arial"/>
              <a:cs typeface="Arial"/>
              <a:sym typeface="Arial"/>
            </a:endParaRPr>
          </a:p>
        </p:txBody>
      </p:sp>
      <p:sp>
        <p:nvSpPr>
          <p:cNvPr id="209" name="Google Shape;209;p4"/>
          <p:cNvSpPr txBox="1"/>
          <p:nvPr/>
        </p:nvSpPr>
        <p:spPr>
          <a:xfrm>
            <a:off x="11338560" y="6528816"/>
            <a:ext cx="457200" cy="27432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050"/>
              <a:buFont typeface="Arial"/>
              <a:buNone/>
            </a:pPr>
            <a:r>
              <a:rPr b="1" i="0" lang="en-US" sz="1050" u="none" cap="none" strike="noStrike">
                <a:solidFill>
                  <a:srgbClr val="595959"/>
                </a:solidFill>
                <a:latin typeface="Calibri"/>
                <a:ea typeface="Calibri"/>
                <a:cs typeface="Calibri"/>
                <a:sym typeface="Calibri"/>
              </a:rPr>
              <a:t>3</a:t>
            </a:r>
            <a:endParaRPr b="0" i="0" sz="1400" u="none" cap="none" strike="noStrike">
              <a:solidFill>
                <a:srgbClr val="000000"/>
              </a:solidFill>
              <a:latin typeface="Arial"/>
              <a:ea typeface="Arial"/>
              <a:cs typeface="Arial"/>
              <a:sym typeface="Arial"/>
            </a:endParaRPr>
          </a:p>
        </p:txBody>
      </p:sp>
      <p:sp>
        <p:nvSpPr>
          <p:cNvPr id="210" name="Google Shape;210;p4"/>
          <p:cNvSpPr/>
          <p:nvPr/>
        </p:nvSpPr>
        <p:spPr>
          <a:xfrm>
            <a:off x="6770725" y="1450688"/>
            <a:ext cx="5168100" cy="1691700"/>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rgbClr val="1E293B"/>
              </a:buClr>
              <a:buSzPts val="1300"/>
              <a:buFont typeface="Calibri"/>
              <a:buNone/>
            </a:pPr>
            <a:r>
              <a:rPr b="1" i="0" lang="en-US" sz="1300" u="none" cap="none" strike="noStrike">
                <a:solidFill>
                  <a:srgbClr val="1E293B"/>
                </a:solidFill>
                <a:latin typeface="Calibri"/>
                <a:ea typeface="Calibri"/>
                <a:cs typeface="Calibri"/>
                <a:sym typeface="Calibri"/>
              </a:rPr>
              <a:t>10 quy trình </a:t>
            </a:r>
            <a:r>
              <a:rPr b="0" i="0" lang="en-US" sz="1300" u="none" cap="none" strike="noStrike">
                <a:solidFill>
                  <a:srgbClr val="334155"/>
                </a:solidFill>
                <a:latin typeface="Calibri"/>
                <a:ea typeface="Calibri"/>
                <a:cs typeface="Calibri"/>
                <a:sym typeface="Calibri"/>
              </a:rPr>
              <a:t>được liệt kê &amp; phân tích (actors, mô tả, khách hàng, kết quả).</a:t>
            </a:r>
            <a:endParaRPr b="0" i="0" sz="1300" u="none" cap="none" strike="noStrike">
              <a:solidFill>
                <a:srgbClr val="000000"/>
              </a:solidFill>
              <a:latin typeface="Calibri"/>
              <a:ea typeface="Calibri"/>
              <a:cs typeface="Calibri"/>
              <a:sym typeface="Calibri"/>
            </a:endParaRPr>
          </a:p>
          <a:p>
            <a:pPr indent="0" lvl="0" marL="0" marR="0" rtl="0" algn="l">
              <a:lnSpc>
                <a:spcPct val="120000"/>
              </a:lnSpc>
              <a:spcBef>
                <a:spcPts val="1000"/>
              </a:spcBef>
              <a:spcAft>
                <a:spcPts val="0"/>
              </a:spcAft>
              <a:buClr>
                <a:srgbClr val="1E293B"/>
              </a:buClr>
              <a:buSzPts val="1300"/>
              <a:buFont typeface="Calibri"/>
              <a:buNone/>
            </a:pPr>
            <a:r>
              <a:rPr b="1" i="0" lang="en-US" sz="1300" u="none" cap="none" strike="noStrike">
                <a:solidFill>
                  <a:srgbClr val="1E293B"/>
                </a:solidFill>
                <a:latin typeface="Calibri"/>
                <a:ea typeface="Calibri"/>
                <a:cs typeface="Calibri"/>
                <a:sym typeface="Calibri"/>
              </a:rPr>
              <a:t>Chọn 6/10 (2 mỗi nhóm) </a:t>
            </a:r>
            <a:r>
              <a:rPr b="0" i="0" lang="en-US" sz="1300" u="none" cap="none" strike="noStrike">
                <a:solidFill>
                  <a:srgbClr val="334155"/>
                </a:solidFill>
                <a:latin typeface="Calibri"/>
                <a:ea typeface="Calibri"/>
                <a:cs typeface="Calibri"/>
                <a:sym typeface="Calibri"/>
              </a:rPr>
              <a:t>để mô hình hóa BPMN chi tiết — đúng 8 gateway (6 XOR + 2 AND), có swimlane.</a:t>
            </a:r>
            <a:endParaRPr b="0" i="0" sz="1300" u="none" cap="none" strike="noStrike">
              <a:solidFill>
                <a:srgbClr val="000000"/>
              </a:solidFill>
              <a:latin typeface="Calibri"/>
              <a:ea typeface="Calibri"/>
              <a:cs typeface="Calibri"/>
              <a:sym typeface="Calibri"/>
            </a:endParaRPr>
          </a:p>
          <a:p>
            <a:pPr indent="0" lvl="0" marL="0" marR="0" rtl="0" algn="l">
              <a:lnSpc>
                <a:spcPct val="120000"/>
              </a:lnSpc>
              <a:spcBef>
                <a:spcPts val="1000"/>
              </a:spcBef>
              <a:spcAft>
                <a:spcPts val="0"/>
              </a:spcAft>
              <a:buClr>
                <a:srgbClr val="1E293B"/>
              </a:buClr>
              <a:buSzPts val="1300"/>
              <a:buFont typeface="Calibri"/>
              <a:buNone/>
            </a:pPr>
            <a:r>
              <a:rPr b="1" i="0" lang="en-US" sz="1300" u="none" cap="none" strike="noStrike">
                <a:solidFill>
                  <a:srgbClr val="1E293B"/>
                </a:solidFill>
                <a:latin typeface="Calibri"/>
                <a:ea typeface="Calibri"/>
                <a:cs typeface="Calibri"/>
                <a:sym typeface="Calibri"/>
              </a:rPr>
              <a:t>Hôm nay đi sâu 3/6 </a:t>
            </a:r>
            <a:r>
              <a:rPr b="0" i="0" lang="en-US" sz="1300" u="none" cap="none" strike="noStrike">
                <a:solidFill>
                  <a:srgbClr val="334155"/>
                </a:solidFill>
                <a:latin typeface="Calibri"/>
                <a:ea typeface="Calibri"/>
                <a:cs typeface="Calibri"/>
                <a:sym typeface="Calibri"/>
              </a:rPr>
              <a:t>— đại diện đúng 1 quy trình / nhóm.</a:t>
            </a:r>
            <a:endParaRPr b="0" i="0" sz="1300" u="none" cap="none" strike="noStrike">
              <a:solidFill>
                <a:srgbClr val="000000"/>
              </a:solidFill>
              <a:latin typeface="Calibri"/>
              <a:ea typeface="Calibri"/>
              <a:cs typeface="Calibri"/>
              <a:sym typeface="Calibri"/>
            </a:endParaRPr>
          </a:p>
        </p:txBody>
      </p:sp>
      <p:sp>
        <p:nvSpPr>
          <p:cNvPr id="211" name="Google Shape;211;p4"/>
          <p:cNvSpPr/>
          <p:nvPr/>
        </p:nvSpPr>
        <p:spPr>
          <a:xfrm>
            <a:off x="6729175" y="4910300"/>
            <a:ext cx="5168100" cy="1005900"/>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rgbClr val="1E293B"/>
              </a:buClr>
              <a:buSzPts val="1300"/>
              <a:buFont typeface="Calibri"/>
              <a:buNone/>
            </a:pPr>
            <a:r>
              <a:rPr b="1" i="0" lang="en-US" sz="1300" u="none" cap="none" strike="noStrike">
                <a:solidFill>
                  <a:srgbClr val="1E293B"/>
                </a:solidFill>
                <a:latin typeface="Calibri"/>
                <a:ea typeface="Calibri"/>
                <a:cs typeface="Calibri"/>
                <a:sym typeface="Calibri"/>
              </a:rPr>
              <a:t>Phương pháp: </a:t>
            </a:r>
            <a:r>
              <a:rPr b="0" i="0" lang="en-US" sz="1300" u="none" cap="none" strike="noStrike">
                <a:solidFill>
                  <a:srgbClr val="334155"/>
                </a:solidFill>
                <a:latin typeface="Calibri"/>
                <a:ea typeface="Calibri"/>
                <a:cs typeface="Calibri"/>
                <a:sym typeface="Calibri"/>
              </a:rPr>
              <a:t>dựa trên bằng chứng (mô tả quy trình, sơ đồ tổ chức, kế hoạch làm việc, thuật ngữ, biểu mẫu) kết hợp phỏng vấn định tính/định lượng, có/không cấu trúc.</a:t>
            </a:r>
            <a:endParaRPr b="0" i="0" sz="1300" u="none" cap="none" strike="noStrike">
              <a:solidFill>
                <a:srgbClr val="000000"/>
              </a:solidFill>
              <a:latin typeface="Calibri"/>
              <a:ea typeface="Calibri"/>
              <a:cs typeface="Calibri"/>
              <a:sym typeface="Calibri"/>
            </a:endParaRPr>
          </a:p>
        </p:txBody>
      </p:sp>
      <p:sp>
        <p:nvSpPr>
          <p:cNvPr id="212" name="Google Shape;212;p4"/>
          <p:cNvSpPr/>
          <p:nvPr/>
        </p:nvSpPr>
        <p:spPr>
          <a:xfrm>
            <a:off x="6770725" y="3009625"/>
            <a:ext cx="5168100" cy="457200"/>
          </a:xfrm>
          <a:prstGeom prst="roundRect">
            <a:avLst>
              <a:gd fmla="val 18000" name="adj"/>
            </a:avLst>
          </a:prstGeom>
          <a:solidFill>
            <a:srgbClr val="E6FBF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 name="Google Shape;213;p4"/>
          <p:cNvSpPr/>
          <p:nvPr/>
        </p:nvSpPr>
        <p:spPr>
          <a:xfrm>
            <a:off x="6918122" y="3009625"/>
            <a:ext cx="35376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1250"/>
              <a:buFont typeface="Calibri"/>
              <a:buNone/>
            </a:pPr>
            <a:r>
              <a:rPr b="1" i="0" lang="en-US" sz="1250" u="none" cap="none" strike="noStrike">
                <a:solidFill>
                  <a:srgbClr val="1E293B"/>
                </a:solidFill>
                <a:latin typeface="Calibri"/>
                <a:ea typeface="Calibri"/>
                <a:cs typeface="Calibri"/>
                <a:sym typeface="Calibri"/>
              </a:rPr>
              <a:t>Quản lý Chất lượng</a:t>
            </a:r>
            <a:endParaRPr b="0" i="0" sz="1250" u="none" cap="none" strike="noStrike">
              <a:solidFill>
                <a:srgbClr val="000000"/>
              </a:solidFill>
              <a:latin typeface="Calibri"/>
              <a:ea typeface="Calibri"/>
              <a:cs typeface="Calibri"/>
              <a:sym typeface="Calibri"/>
            </a:endParaRPr>
          </a:p>
        </p:txBody>
      </p:sp>
      <p:sp>
        <p:nvSpPr>
          <p:cNvPr id="214" name="Google Shape;214;p4"/>
          <p:cNvSpPr/>
          <p:nvPr/>
        </p:nvSpPr>
        <p:spPr>
          <a:xfrm>
            <a:off x="10566198" y="3009625"/>
            <a:ext cx="1326300" cy="4572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4B8A6"/>
              </a:buClr>
              <a:buSzPts val="1050"/>
              <a:buFont typeface="Calibri"/>
              <a:buNone/>
            </a:pPr>
            <a:r>
              <a:rPr b="1" i="0" lang="en-US" sz="1050" u="none" cap="none" strike="noStrike">
                <a:solidFill>
                  <a:srgbClr val="14B8A6"/>
                </a:solidFill>
                <a:latin typeface="Calibri"/>
                <a:ea typeface="Calibri"/>
                <a:cs typeface="Calibri"/>
                <a:sym typeface="Calibri"/>
              </a:rPr>
              <a:t>MANAGEMENT</a:t>
            </a:r>
            <a:endParaRPr b="0" i="0" sz="1050" u="none" cap="none" strike="noStrike">
              <a:solidFill>
                <a:srgbClr val="000000"/>
              </a:solidFill>
              <a:latin typeface="Calibri"/>
              <a:ea typeface="Calibri"/>
              <a:cs typeface="Calibri"/>
              <a:sym typeface="Calibri"/>
            </a:endParaRPr>
          </a:p>
        </p:txBody>
      </p:sp>
      <p:sp>
        <p:nvSpPr>
          <p:cNvPr id="215" name="Google Shape;215;p4"/>
          <p:cNvSpPr/>
          <p:nvPr/>
        </p:nvSpPr>
        <p:spPr>
          <a:xfrm>
            <a:off x="6770725" y="3594850"/>
            <a:ext cx="5168100" cy="457200"/>
          </a:xfrm>
          <a:prstGeom prst="roundRect">
            <a:avLst>
              <a:gd fmla="val 18000" name="adj"/>
            </a:avLst>
          </a:prstGeom>
          <a:solidFill>
            <a:srgbClr val="EEF0F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 name="Google Shape;216;p4"/>
          <p:cNvSpPr/>
          <p:nvPr/>
        </p:nvSpPr>
        <p:spPr>
          <a:xfrm>
            <a:off x="6916715" y="3594850"/>
            <a:ext cx="35037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1250"/>
              <a:buFont typeface="Calibri"/>
              <a:buNone/>
            </a:pPr>
            <a:r>
              <a:rPr b="1" i="0" lang="en-US" sz="1250" u="none" cap="none" strike="noStrike">
                <a:solidFill>
                  <a:srgbClr val="1E293B"/>
                </a:solidFill>
                <a:latin typeface="Calibri"/>
                <a:ea typeface="Calibri"/>
                <a:cs typeface="Calibri"/>
                <a:sym typeface="Calibri"/>
              </a:rPr>
              <a:t>Quản lý Dự án – Agile Scrum</a:t>
            </a:r>
            <a:endParaRPr b="0" i="0" sz="1250" u="none" cap="none" strike="noStrike">
              <a:solidFill>
                <a:srgbClr val="000000"/>
              </a:solidFill>
              <a:latin typeface="Calibri"/>
              <a:ea typeface="Calibri"/>
              <a:cs typeface="Calibri"/>
              <a:sym typeface="Calibri"/>
            </a:endParaRPr>
          </a:p>
        </p:txBody>
      </p:sp>
      <p:sp>
        <p:nvSpPr>
          <p:cNvPr id="217" name="Google Shape;217;p4"/>
          <p:cNvSpPr/>
          <p:nvPr/>
        </p:nvSpPr>
        <p:spPr>
          <a:xfrm>
            <a:off x="10529979" y="3594850"/>
            <a:ext cx="1313700" cy="4572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6366F1"/>
              </a:buClr>
              <a:buSzPts val="1050"/>
              <a:buFont typeface="Calibri"/>
              <a:buNone/>
            </a:pPr>
            <a:r>
              <a:rPr b="1" i="0" lang="en-US" sz="1050" u="none" cap="none" strike="noStrike">
                <a:solidFill>
                  <a:srgbClr val="6366F1"/>
                </a:solidFill>
                <a:latin typeface="Calibri"/>
                <a:ea typeface="Calibri"/>
                <a:cs typeface="Calibri"/>
                <a:sym typeface="Calibri"/>
              </a:rPr>
              <a:t>CORE</a:t>
            </a:r>
            <a:endParaRPr b="0" i="0" sz="1050" u="none" cap="none" strike="noStrike">
              <a:solidFill>
                <a:srgbClr val="000000"/>
              </a:solidFill>
              <a:latin typeface="Calibri"/>
              <a:ea typeface="Calibri"/>
              <a:cs typeface="Calibri"/>
              <a:sym typeface="Calibri"/>
            </a:endParaRPr>
          </a:p>
        </p:txBody>
      </p:sp>
      <p:sp>
        <p:nvSpPr>
          <p:cNvPr id="218" name="Google Shape;218;p4"/>
          <p:cNvSpPr/>
          <p:nvPr/>
        </p:nvSpPr>
        <p:spPr>
          <a:xfrm>
            <a:off x="6770725" y="4238225"/>
            <a:ext cx="5168100" cy="457200"/>
          </a:xfrm>
          <a:prstGeom prst="roundRect">
            <a:avLst>
              <a:gd fmla="val 18000" name="adj"/>
            </a:avLst>
          </a:prstGeom>
          <a:solidFill>
            <a:srgbClr val="FFF1E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 name="Google Shape;219;p4"/>
          <p:cNvSpPr/>
          <p:nvPr/>
        </p:nvSpPr>
        <p:spPr>
          <a:xfrm>
            <a:off x="6916715" y="4238225"/>
            <a:ext cx="35037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1250"/>
              <a:buFont typeface="Calibri"/>
              <a:buNone/>
            </a:pPr>
            <a:r>
              <a:rPr b="1" i="0" lang="en-US" sz="1250" u="none" cap="none" strike="noStrike">
                <a:solidFill>
                  <a:srgbClr val="1E293B"/>
                </a:solidFill>
                <a:latin typeface="Calibri"/>
                <a:ea typeface="Calibri"/>
                <a:cs typeface="Calibri"/>
                <a:sym typeface="Calibri"/>
              </a:rPr>
              <a:t>Tuyển dụng Nhân sự</a:t>
            </a:r>
            <a:endParaRPr b="0" i="0" sz="1250" u="none" cap="none" strike="noStrike">
              <a:solidFill>
                <a:srgbClr val="000000"/>
              </a:solidFill>
              <a:latin typeface="Calibri"/>
              <a:ea typeface="Calibri"/>
              <a:cs typeface="Calibri"/>
              <a:sym typeface="Calibri"/>
            </a:endParaRPr>
          </a:p>
        </p:txBody>
      </p:sp>
      <p:sp>
        <p:nvSpPr>
          <p:cNvPr id="220" name="Google Shape;220;p4"/>
          <p:cNvSpPr/>
          <p:nvPr/>
        </p:nvSpPr>
        <p:spPr>
          <a:xfrm>
            <a:off x="10529979" y="4238225"/>
            <a:ext cx="1313700" cy="4572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B7C58"/>
              </a:buClr>
              <a:buSzPts val="1050"/>
              <a:buFont typeface="Calibri"/>
              <a:buNone/>
            </a:pPr>
            <a:r>
              <a:rPr b="1" i="0" lang="en-US" sz="1050" u="none" cap="none" strike="noStrike">
                <a:solidFill>
                  <a:srgbClr val="FB7C58"/>
                </a:solidFill>
                <a:latin typeface="Calibri"/>
                <a:ea typeface="Calibri"/>
                <a:cs typeface="Calibri"/>
                <a:sym typeface="Calibri"/>
              </a:rPr>
              <a:t>SUPPORT</a:t>
            </a:r>
            <a:endParaRPr b="0" i="0" sz="1050" u="none" cap="none" strike="noStrike">
              <a:solidFill>
                <a:srgbClr val="000000"/>
              </a:solidFill>
              <a:latin typeface="Calibri"/>
              <a:ea typeface="Calibri"/>
              <a:cs typeface="Calibri"/>
              <a:sym typeface="Calibri"/>
            </a:endParaRPr>
          </a:p>
        </p:txBody>
      </p:sp>
      <p:pic>
        <p:nvPicPr>
          <p:cNvPr id="221" name="Google Shape;221;p4" title="BieuDo.drawio.png"/>
          <p:cNvPicPr preferRelativeResize="0"/>
          <p:nvPr/>
        </p:nvPicPr>
        <p:blipFill rotWithShape="1">
          <a:blip r:embed="rId3">
            <a:alphaModFix/>
          </a:blip>
          <a:srcRect b="0" l="0" r="0" t="0"/>
          <a:stretch/>
        </p:blipFill>
        <p:spPr>
          <a:xfrm>
            <a:off x="716400" y="1150620"/>
            <a:ext cx="5529981" cy="487939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5"/>
          <p:cNvSpPr/>
          <p:nvPr/>
        </p:nvSpPr>
        <p:spPr>
          <a:xfrm>
            <a:off x="0" y="0"/>
            <a:ext cx="12191700" cy="6858000"/>
          </a:xfrm>
          <a:prstGeom prst="rect">
            <a:avLst/>
          </a:prstGeom>
          <a:solidFill>
            <a:srgbClr val="14B8A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28" name="Google Shape;228;p5"/>
          <p:cNvSpPr/>
          <p:nvPr/>
        </p:nvSpPr>
        <p:spPr>
          <a:xfrm>
            <a:off x="9418320" y="-1554480"/>
            <a:ext cx="5029200" cy="5029200"/>
          </a:xfrm>
          <a:prstGeom prst="ellipse">
            <a:avLst/>
          </a:prstGeom>
          <a:solidFill>
            <a:srgbClr val="0D948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 name="Google Shape;229;p5"/>
          <p:cNvSpPr/>
          <p:nvPr/>
        </p:nvSpPr>
        <p:spPr>
          <a:xfrm>
            <a:off x="-1463040" y="4206240"/>
            <a:ext cx="4206300" cy="4206300"/>
          </a:xfrm>
          <a:prstGeom prst="ellipse">
            <a:avLst/>
          </a:prstGeom>
          <a:solidFill>
            <a:srgbClr val="0D948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30" name="Google Shape;230;p5"/>
          <p:cNvGrpSpPr/>
          <p:nvPr/>
        </p:nvGrpSpPr>
        <p:grpSpPr>
          <a:xfrm>
            <a:off x="1548240" y="849965"/>
            <a:ext cx="1051500" cy="1051500"/>
            <a:chOff x="891540" y="1805940"/>
            <a:chExt cx="1051500" cy="1051500"/>
          </a:xfrm>
        </p:grpSpPr>
        <p:sp>
          <p:nvSpPr>
            <p:cNvPr id="231" name="Google Shape;231;p5"/>
            <p:cNvSpPr/>
            <p:nvPr/>
          </p:nvSpPr>
          <p:spPr>
            <a:xfrm>
              <a:off x="891540" y="1805940"/>
              <a:ext cx="1051500" cy="1051500"/>
            </a:xfrm>
            <a:prstGeom prst="ellipse">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 name="Google Shape;232;p5"/>
            <p:cNvSpPr/>
            <p:nvPr/>
          </p:nvSpPr>
          <p:spPr>
            <a:xfrm>
              <a:off x="891540" y="1805940"/>
              <a:ext cx="1051500" cy="1051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F766E"/>
                </a:buClr>
                <a:buSzPts val="2600"/>
                <a:buFont typeface="Calibri"/>
                <a:buNone/>
              </a:pPr>
              <a:r>
                <a:rPr b="1" i="0" lang="en-US" sz="2600" u="none" cap="none" strike="noStrike">
                  <a:solidFill>
                    <a:srgbClr val="0F766E"/>
                  </a:solidFill>
                  <a:latin typeface="Calibri"/>
                  <a:ea typeface="Calibri"/>
                  <a:cs typeface="Calibri"/>
                  <a:sym typeface="Calibri"/>
                </a:rPr>
                <a:t>1/3</a:t>
              </a:r>
              <a:endParaRPr b="0" i="0" sz="2600" u="none" cap="none" strike="noStrike">
                <a:solidFill>
                  <a:srgbClr val="000000"/>
                </a:solidFill>
                <a:latin typeface="Calibri"/>
                <a:ea typeface="Calibri"/>
                <a:cs typeface="Calibri"/>
                <a:sym typeface="Calibri"/>
              </a:endParaRPr>
            </a:p>
          </p:txBody>
        </p:sp>
      </p:grpSp>
      <p:sp>
        <p:nvSpPr>
          <p:cNvPr id="233" name="Google Shape;233;p5"/>
          <p:cNvSpPr/>
          <p:nvPr/>
        </p:nvSpPr>
        <p:spPr>
          <a:xfrm>
            <a:off x="1113900" y="2290145"/>
            <a:ext cx="9144000" cy="365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QUY TRÌNH 1/3  ·  NHÓM MANAGEMENT</a:t>
            </a:r>
            <a:endParaRPr b="0" i="0" sz="1400" u="none" cap="none" strike="noStrike">
              <a:solidFill>
                <a:srgbClr val="000000"/>
              </a:solidFill>
              <a:latin typeface="Calibri"/>
              <a:ea typeface="Calibri"/>
              <a:cs typeface="Calibri"/>
              <a:sym typeface="Calibri"/>
            </a:endParaRPr>
          </a:p>
        </p:txBody>
      </p:sp>
      <p:sp>
        <p:nvSpPr>
          <p:cNvPr id="234" name="Google Shape;234;p5"/>
          <p:cNvSpPr/>
          <p:nvPr/>
        </p:nvSpPr>
        <p:spPr>
          <a:xfrm>
            <a:off x="1113900" y="2655905"/>
            <a:ext cx="10058400" cy="914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3800"/>
              <a:buFont typeface="Calibri"/>
              <a:buNone/>
            </a:pPr>
            <a:r>
              <a:rPr b="1" i="0" lang="en-US" sz="3800" u="none" cap="none" strike="noStrike">
                <a:solidFill>
                  <a:srgbClr val="FFFFFF"/>
                </a:solidFill>
                <a:latin typeface="Calibri"/>
                <a:ea typeface="Calibri"/>
                <a:cs typeface="Calibri"/>
                <a:sym typeface="Calibri"/>
              </a:rPr>
              <a:t>Quản lý Chất lượng</a:t>
            </a:r>
            <a:endParaRPr b="0" i="0" sz="3800" u="none" cap="none" strike="noStrike">
              <a:solidFill>
                <a:srgbClr val="000000"/>
              </a:solidFill>
              <a:latin typeface="Calibri"/>
              <a:ea typeface="Calibri"/>
              <a:cs typeface="Calibri"/>
              <a:sym typeface="Calibri"/>
            </a:endParaRPr>
          </a:p>
        </p:txBody>
      </p:sp>
      <p:sp>
        <p:nvSpPr>
          <p:cNvPr id="235" name="Google Shape;235;p5"/>
          <p:cNvSpPr/>
          <p:nvPr/>
        </p:nvSpPr>
        <p:spPr>
          <a:xfrm>
            <a:off x="1113900" y="3570305"/>
            <a:ext cx="91440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600"/>
              <a:buFont typeface="Calibri"/>
              <a:buNone/>
            </a:pPr>
            <a:r>
              <a:rPr b="0" i="1" lang="en-US" sz="1600" u="none" cap="none" strike="noStrike">
                <a:solidFill>
                  <a:srgbClr val="FFFFFF"/>
                </a:solidFill>
                <a:latin typeface="Calibri"/>
                <a:ea typeface="Calibri"/>
                <a:cs typeface="Calibri"/>
                <a:sym typeface="Calibri"/>
              </a:rPr>
              <a:t>Quality Management Process</a:t>
            </a:r>
            <a:endParaRPr b="0" i="0" sz="1600" u="none" cap="none" strike="noStrike">
              <a:solidFill>
                <a:srgbClr val="000000"/>
              </a:solidFill>
              <a:latin typeface="Calibri"/>
              <a:ea typeface="Calibri"/>
              <a:cs typeface="Calibri"/>
              <a:sym typeface="Calibri"/>
            </a:endParaRPr>
          </a:p>
        </p:txBody>
      </p:sp>
      <p:sp>
        <p:nvSpPr>
          <p:cNvPr id="236" name="Google Shape;236;p5"/>
          <p:cNvSpPr txBox="1"/>
          <p:nvPr/>
        </p:nvSpPr>
        <p:spPr>
          <a:xfrm>
            <a:off x="502920" y="6528816"/>
            <a:ext cx="7315200" cy="146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50"/>
              <a:buFont typeface="Arial"/>
              <a:buNone/>
            </a:pPr>
            <a:r>
              <a:rPr b="0" i="1" lang="en-US" sz="950" u="none" cap="none" strike="noStrike">
                <a:solidFill>
                  <a:schemeClr val="lt1"/>
                </a:solidFill>
                <a:latin typeface="Calibri"/>
                <a:ea typeface="Calibri"/>
                <a:cs typeface="Calibri"/>
                <a:sym typeface="Calibri"/>
              </a:rPr>
              <a:t>IE203 – Quản trị quy trình nghiệp vụ  |  OR Tech</a:t>
            </a:r>
            <a:endParaRPr b="0" i="0" sz="1400" u="none" cap="none" strike="noStrike">
              <a:solidFill>
                <a:schemeClr val="lt1"/>
              </a:solidFill>
              <a:latin typeface="Arial"/>
              <a:ea typeface="Arial"/>
              <a:cs typeface="Arial"/>
              <a:sym typeface="Arial"/>
            </a:endParaRPr>
          </a:p>
        </p:txBody>
      </p:sp>
      <p:sp>
        <p:nvSpPr>
          <p:cNvPr id="237" name="Google Shape;237;p5"/>
          <p:cNvSpPr txBox="1"/>
          <p:nvPr/>
        </p:nvSpPr>
        <p:spPr>
          <a:xfrm>
            <a:off x="11338560" y="6528816"/>
            <a:ext cx="457200" cy="1617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050"/>
              <a:buFont typeface="Arial"/>
              <a:buNone/>
            </a:pPr>
            <a:r>
              <a:rPr b="1" i="0" lang="en-US" sz="1050" u="none" cap="none" strike="noStrike">
                <a:solidFill>
                  <a:schemeClr val="lt1"/>
                </a:solidFill>
                <a:latin typeface="Calibri"/>
                <a:ea typeface="Calibri"/>
                <a:cs typeface="Calibri"/>
                <a:sym typeface="Calibri"/>
              </a:rPr>
              <a:t>4</a:t>
            </a:r>
            <a:endParaRPr b="0" i="0" sz="1400" u="none" cap="none" strike="noStrike">
              <a:solidFill>
                <a:schemeClr val="lt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6"/>
          <p:cNvSpPr/>
          <p:nvPr/>
        </p:nvSpPr>
        <p:spPr>
          <a:xfrm>
            <a:off x="0" y="0"/>
            <a:ext cx="12191695"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44" name="Google Shape;244;p6"/>
          <p:cNvSpPr/>
          <p:nvPr/>
        </p:nvSpPr>
        <p:spPr>
          <a:xfrm>
            <a:off x="0" y="0"/>
            <a:ext cx="12191695" cy="960120"/>
          </a:xfrm>
          <a:prstGeom prst="rect">
            <a:avLst/>
          </a:prstGeom>
          <a:solidFill>
            <a:srgbClr val="14B8A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45" name="Google Shape;245;p6"/>
          <p:cNvSpPr/>
          <p:nvPr/>
        </p:nvSpPr>
        <p:spPr>
          <a:xfrm>
            <a:off x="0" y="960120"/>
            <a:ext cx="12191695" cy="38100"/>
          </a:xfrm>
          <a:prstGeom prst="rect">
            <a:avLst/>
          </a:prstGeom>
          <a:solidFill>
            <a:srgbClr val="00F5D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46" name="Google Shape;246;p6"/>
          <p:cNvSpPr txBox="1"/>
          <p:nvPr/>
        </p:nvSpPr>
        <p:spPr>
          <a:xfrm>
            <a:off x="502920" y="91440"/>
            <a:ext cx="100584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lt1"/>
                </a:solidFill>
                <a:latin typeface="Calibri"/>
                <a:ea typeface="Calibri"/>
                <a:cs typeface="Calibri"/>
                <a:sym typeface="Calibri"/>
              </a:rPr>
              <a:t>QUY TRÌNH 1 · MANAGEMENT</a:t>
            </a:r>
            <a:endParaRPr b="0" i="0" sz="1400" u="none" cap="none" strike="noStrike">
              <a:solidFill>
                <a:schemeClr val="lt1"/>
              </a:solidFill>
              <a:latin typeface="Arial"/>
              <a:ea typeface="Arial"/>
              <a:cs typeface="Arial"/>
              <a:sym typeface="Arial"/>
            </a:endParaRPr>
          </a:p>
        </p:txBody>
      </p:sp>
      <p:sp>
        <p:nvSpPr>
          <p:cNvPr id="247" name="Google Shape;247;p6"/>
          <p:cNvSpPr txBox="1"/>
          <p:nvPr/>
        </p:nvSpPr>
        <p:spPr>
          <a:xfrm>
            <a:off x="502920" y="365760"/>
            <a:ext cx="10972800" cy="548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FFFFFF"/>
                </a:solidFill>
                <a:latin typeface="Calibri"/>
                <a:ea typeface="Calibri"/>
                <a:cs typeface="Calibri"/>
                <a:sym typeface="Calibri"/>
              </a:rPr>
              <a:t>Quản lý Chất lượng — Process Perspective</a:t>
            </a:r>
            <a:endParaRPr b="0" i="0" sz="1400" u="none" cap="none" strike="noStrike">
              <a:solidFill>
                <a:srgbClr val="000000"/>
              </a:solidFill>
              <a:latin typeface="Arial"/>
              <a:ea typeface="Arial"/>
              <a:cs typeface="Arial"/>
              <a:sym typeface="Arial"/>
            </a:endParaRPr>
          </a:p>
        </p:txBody>
      </p:sp>
      <p:pic>
        <p:nvPicPr>
          <p:cNvPr descr="chevron_quality.png" id="248" name="Google Shape;248;p6"/>
          <p:cNvPicPr preferRelativeResize="0"/>
          <p:nvPr/>
        </p:nvPicPr>
        <p:blipFill rotWithShape="1">
          <a:blip r:embed="rId3">
            <a:alphaModFix/>
          </a:blip>
          <a:srcRect b="0" l="0" r="0" t="0"/>
          <a:stretch/>
        </p:blipFill>
        <p:spPr>
          <a:xfrm>
            <a:off x="1521076" y="1234440"/>
            <a:ext cx="9119367" cy="1737360"/>
          </a:xfrm>
          <a:prstGeom prst="rect">
            <a:avLst/>
          </a:prstGeom>
          <a:noFill/>
          <a:ln>
            <a:noFill/>
          </a:ln>
        </p:spPr>
      </p:pic>
      <p:sp>
        <p:nvSpPr>
          <p:cNvPr id="249" name="Google Shape;249;p6"/>
          <p:cNvSpPr txBox="1"/>
          <p:nvPr/>
        </p:nvSpPr>
        <p:spPr>
          <a:xfrm>
            <a:off x="502920" y="3365000"/>
            <a:ext cx="5486400" cy="16071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1350"/>
              <a:buFont typeface="Arial"/>
              <a:buNone/>
            </a:pPr>
            <a:r>
              <a:rPr b="1" i="0" lang="en-US" sz="1350" u="none" cap="none" strike="noStrike">
                <a:solidFill>
                  <a:schemeClr val="dk1"/>
                </a:solidFill>
                <a:latin typeface="Calibri"/>
                <a:ea typeface="Calibri"/>
                <a:cs typeface="Calibri"/>
                <a:sym typeface="Calibri"/>
              </a:rPr>
              <a:t>›  Actors: </a:t>
            </a:r>
            <a:r>
              <a:rPr b="0" i="0" lang="en-US" sz="1350" u="none" cap="none" strike="noStrike">
                <a:solidFill>
                  <a:srgbClr val="333333"/>
                </a:solidFill>
                <a:latin typeface="Calibri"/>
                <a:ea typeface="Calibri"/>
                <a:cs typeface="Calibri"/>
                <a:sym typeface="Calibri"/>
              </a:rPr>
              <a:t>QA Manager, Nhóm QA/QC, Project Manager (được audit), Process Owner, Ban Giám đốc (BOD).</a:t>
            </a:r>
            <a:endParaRPr b="0" i="0" sz="1400" u="none" cap="none" strike="noStrike">
              <a:solidFill>
                <a:srgbClr val="000000"/>
              </a:solidFill>
              <a:latin typeface="Arial"/>
              <a:ea typeface="Arial"/>
              <a:cs typeface="Arial"/>
              <a:sym typeface="Arial"/>
            </a:endParaRPr>
          </a:p>
          <a:p>
            <a:pPr indent="0" lvl="0" marL="0" marR="0" rtl="0" algn="l">
              <a:lnSpc>
                <a:spcPct val="110000"/>
              </a:lnSpc>
              <a:spcBef>
                <a:spcPts val="1000"/>
              </a:spcBef>
              <a:spcAft>
                <a:spcPts val="0"/>
              </a:spcAft>
              <a:buClr>
                <a:srgbClr val="000000"/>
              </a:buClr>
              <a:buSzPts val="1350"/>
              <a:buFont typeface="Arial"/>
              <a:buNone/>
            </a:pPr>
            <a:r>
              <a:rPr b="1" i="0" lang="en-US" sz="1350" u="none" cap="none" strike="noStrike">
                <a:solidFill>
                  <a:schemeClr val="dk1"/>
                </a:solidFill>
                <a:latin typeface="Calibri"/>
                <a:ea typeface="Calibri"/>
                <a:cs typeface="Calibri"/>
                <a:sym typeface="Calibri"/>
              </a:rPr>
              <a:t>›  Mục tiêu:</a:t>
            </a:r>
            <a:r>
              <a:rPr b="1" i="0" lang="en-US" sz="1350" u="none" cap="none" strike="noStrike">
                <a:solidFill>
                  <a:srgbClr val="0E2A47"/>
                </a:solidFill>
                <a:latin typeface="Calibri"/>
                <a:ea typeface="Calibri"/>
                <a:cs typeface="Calibri"/>
                <a:sym typeface="Calibri"/>
              </a:rPr>
              <a:t> </a:t>
            </a:r>
            <a:r>
              <a:rPr b="0" i="0" lang="en-US" sz="1350" u="none" cap="none" strike="noStrike">
                <a:solidFill>
                  <a:srgbClr val="333333"/>
                </a:solidFill>
                <a:latin typeface="Calibri"/>
                <a:ea typeface="Calibri"/>
                <a:cs typeface="Calibri"/>
                <a:sym typeface="Calibri"/>
              </a:rPr>
              <a:t>duy trì chuẩn CMMI/ISO nội bộ, phát hiện &amp; khắc phục điểm không phù hợp (NC) trước khi ảnh hưởng khách hàng.</a:t>
            </a:r>
            <a:endParaRPr b="0" i="0" sz="1400" u="none" cap="none" strike="noStrike">
              <a:solidFill>
                <a:srgbClr val="000000"/>
              </a:solidFill>
              <a:latin typeface="Arial"/>
              <a:ea typeface="Arial"/>
              <a:cs typeface="Arial"/>
              <a:sym typeface="Arial"/>
            </a:endParaRPr>
          </a:p>
          <a:p>
            <a:pPr indent="0" lvl="0" marL="0" marR="0" rtl="0" algn="l">
              <a:lnSpc>
                <a:spcPct val="110000"/>
              </a:lnSpc>
              <a:spcBef>
                <a:spcPts val="1000"/>
              </a:spcBef>
              <a:spcAft>
                <a:spcPts val="0"/>
              </a:spcAft>
              <a:buClr>
                <a:srgbClr val="000000"/>
              </a:buClr>
              <a:buSzPts val="1350"/>
              <a:buFont typeface="Arial"/>
              <a:buNone/>
            </a:pPr>
            <a:r>
              <a:rPr b="1" i="0" lang="en-US" sz="1350" u="none" cap="none" strike="noStrike">
                <a:solidFill>
                  <a:schemeClr val="dk1"/>
                </a:solidFill>
                <a:latin typeface="Calibri"/>
                <a:ea typeface="Calibri"/>
                <a:cs typeface="Calibri"/>
                <a:sym typeface="Calibri"/>
              </a:rPr>
              <a:t>›  Giá trị cho khách hàng:</a:t>
            </a:r>
            <a:r>
              <a:rPr b="1" i="0" lang="en-US" sz="1350" u="none" cap="none" strike="noStrike">
                <a:solidFill>
                  <a:srgbClr val="0E2A47"/>
                </a:solidFill>
                <a:latin typeface="Calibri"/>
                <a:ea typeface="Calibri"/>
                <a:cs typeface="Calibri"/>
                <a:sym typeface="Calibri"/>
              </a:rPr>
              <a:t> </a:t>
            </a:r>
            <a:r>
              <a:rPr b="0" i="0" lang="en-US" sz="1350" u="none" cap="none" strike="noStrike">
                <a:solidFill>
                  <a:srgbClr val="333333"/>
                </a:solidFill>
                <a:latin typeface="Calibri"/>
                <a:ea typeface="Calibri"/>
                <a:cs typeface="Calibri"/>
                <a:sym typeface="Calibri"/>
              </a:rPr>
              <a:t>sản phẩm/dịch vụ bàn giao đạt chuẩn chất lượng cam kết trong hợp đồng/SLA, duy trì chứng nhận CMMI/ISO.</a:t>
            </a:r>
            <a:endParaRPr b="0" i="0" sz="1400" u="none" cap="none" strike="noStrike">
              <a:solidFill>
                <a:srgbClr val="000000"/>
              </a:solidFill>
              <a:latin typeface="Arial"/>
              <a:ea typeface="Arial"/>
              <a:cs typeface="Arial"/>
              <a:sym typeface="Arial"/>
            </a:endParaRPr>
          </a:p>
        </p:txBody>
      </p:sp>
      <p:sp>
        <p:nvSpPr>
          <p:cNvPr id="250" name="Google Shape;250;p6"/>
          <p:cNvSpPr/>
          <p:nvPr/>
        </p:nvSpPr>
        <p:spPr>
          <a:xfrm>
            <a:off x="6263650" y="3200400"/>
            <a:ext cx="5394900" cy="2094000"/>
          </a:xfrm>
          <a:prstGeom prst="rect">
            <a:avLst/>
          </a:prstGeom>
          <a:solidFill>
            <a:srgbClr val="F1F3F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51" name="Google Shape;251;p6"/>
          <p:cNvSpPr txBox="1"/>
          <p:nvPr/>
        </p:nvSpPr>
        <p:spPr>
          <a:xfrm>
            <a:off x="6492240" y="3364992"/>
            <a:ext cx="4937700" cy="192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50"/>
              <a:buFont typeface="Arial"/>
              <a:buNone/>
            </a:pPr>
            <a:r>
              <a:rPr b="1" i="0" lang="en-US" sz="1250" u="none" cap="none" strike="noStrike">
                <a:solidFill>
                  <a:schemeClr val="dk1"/>
                </a:solidFill>
                <a:latin typeface="Calibri"/>
                <a:ea typeface="Calibri"/>
                <a:cs typeface="Calibri"/>
                <a:sym typeface="Calibri"/>
              </a:rPr>
              <a:t>KHẢ NĂNG KẾT QUẢ (OUTCOMES)</a:t>
            </a:r>
            <a:endParaRPr b="0" i="0" sz="1400" u="none" cap="none" strike="noStrike">
              <a:solidFill>
                <a:schemeClr val="dk1"/>
              </a:solidFill>
              <a:latin typeface="Arial"/>
              <a:ea typeface="Arial"/>
              <a:cs typeface="Arial"/>
              <a:sym typeface="Arial"/>
            </a:endParaRPr>
          </a:p>
        </p:txBody>
      </p:sp>
      <p:sp>
        <p:nvSpPr>
          <p:cNvPr id="252" name="Google Shape;252;p6"/>
          <p:cNvSpPr txBox="1"/>
          <p:nvPr/>
        </p:nvSpPr>
        <p:spPr>
          <a:xfrm>
            <a:off x="6492240" y="3749039"/>
            <a:ext cx="4937700" cy="10038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Clr>
                <a:srgbClr val="000000"/>
              </a:buClr>
              <a:buSzPts val="1250"/>
              <a:buFont typeface="Arial"/>
              <a:buNone/>
            </a:pPr>
            <a:r>
              <a:rPr b="1" i="0" lang="en-US" sz="1250" u="none" cap="none" strike="noStrike">
                <a:solidFill>
                  <a:schemeClr val="dk1"/>
                </a:solidFill>
                <a:latin typeface="Calibri"/>
                <a:ea typeface="Calibri"/>
                <a:cs typeface="Calibri"/>
                <a:sym typeface="Calibri"/>
              </a:rPr>
              <a:t>›  </a:t>
            </a:r>
            <a:r>
              <a:rPr b="0" i="0" lang="en-US" sz="1250" u="none" cap="none" strike="noStrike">
                <a:solidFill>
                  <a:schemeClr val="dk1"/>
                </a:solidFill>
                <a:latin typeface="Calibri"/>
                <a:ea typeface="Calibri"/>
                <a:cs typeface="Calibri"/>
                <a:sym typeface="Calibri"/>
              </a:rPr>
              <a:t>Quy trình/dự án đạt chuẩn (Compliant) – không có NC.</a:t>
            </a:r>
            <a:endParaRPr b="0" i="0" sz="1400" u="none" cap="none" strike="noStrike">
              <a:solidFill>
                <a:schemeClr val="dk1"/>
              </a:solidFill>
              <a:latin typeface="Arial"/>
              <a:ea typeface="Arial"/>
              <a:cs typeface="Arial"/>
              <a:sym typeface="Arial"/>
            </a:endParaRPr>
          </a:p>
          <a:p>
            <a:pPr indent="0" lvl="0" marL="0" marR="0" rtl="0" algn="l">
              <a:lnSpc>
                <a:spcPct val="105000"/>
              </a:lnSpc>
              <a:spcBef>
                <a:spcPts val="800"/>
              </a:spcBef>
              <a:spcAft>
                <a:spcPts val="0"/>
              </a:spcAft>
              <a:buClr>
                <a:srgbClr val="000000"/>
              </a:buClr>
              <a:buSzPts val="1250"/>
              <a:buFont typeface="Arial"/>
              <a:buNone/>
            </a:pPr>
            <a:r>
              <a:rPr b="1" i="0" lang="en-US" sz="1250" u="none" cap="none" strike="noStrike">
                <a:solidFill>
                  <a:schemeClr val="dk1"/>
                </a:solidFill>
                <a:latin typeface="Calibri"/>
                <a:ea typeface="Calibri"/>
                <a:cs typeface="Calibri"/>
                <a:sym typeface="Calibri"/>
              </a:rPr>
              <a:t>›  </a:t>
            </a:r>
            <a:r>
              <a:rPr b="0" i="0" lang="en-US" sz="1250" u="none" cap="none" strike="noStrike">
                <a:solidFill>
                  <a:schemeClr val="dk1"/>
                </a:solidFill>
                <a:latin typeface="Calibri"/>
                <a:ea typeface="Calibri"/>
                <a:cs typeface="Calibri"/>
                <a:sym typeface="Calibri"/>
              </a:rPr>
              <a:t>Phát hiện điểm không phù hợp → phát hành CAR, yêu cầu khắc phục.</a:t>
            </a:r>
            <a:endParaRPr b="0" i="0" sz="1400" u="none" cap="none" strike="noStrike">
              <a:solidFill>
                <a:schemeClr val="dk1"/>
              </a:solidFill>
              <a:latin typeface="Arial"/>
              <a:ea typeface="Arial"/>
              <a:cs typeface="Arial"/>
              <a:sym typeface="Arial"/>
            </a:endParaRPr>
          </a:p>
          <a:p>
            <a:pPr indent="0" lvl="0" marL="0" marR="0" rtl="0" algn="l">
              <a:lnSpc>
                <a:spcPct val="105000"/>
              </a:lnSpc>
              <a:spcBef>
                <a:spcPts val="800"/>
              </a:spcBef>
              <a:spcAft>
                <a:spcPts val="0"/>
              </a:spcAft>
              <a:buClr>
                <a:srgbClr val="000000"/>
              </a:buClr>
              <a:buSzPts val="1250"/>
              <a:buFont typeface="Arial"/>
              <a:buNone/>
            </a:pPr>
            <a:r>
              <a:rPr b="1" i="0" lang="en-US" sz="1250" u="none" cap="none" strike="noStrike">
                <a:solidFill>
                  <a:schemeClr val="dk1"/>
                </a:solidFill>
                <a:latin typeface="Calibri"/>
                <a:ea typeface="Calibri"/>
                <a:cs typeface="Calibri"/>
                <a:sym typeface="Calibri"/>
              </a:rPr>
              <a:t>›  </a:t>
            </a:r>
            <a:r>
              <a:rPr b="0" i="0" lang="en-US" sz="1250" u="none" cap="none" strike="noStrike">
                <a:solidFill>
                  <a:schemeClr val="dk1"/>
                </a:solidFill>
                <a:latin typeface="Calibri"/>
                <a:ea typeface="Calibri"/>
                <a:cs typeface="Calibri"/>
                <a:sym typeface="Calibri"/>
              </a:rPr>
              <a:t>Duy trì chứng nhận CMMI/ISO, hoặc chứng nhận bị treo/cảnh báo nếu không khắc phục kịp thời.</a:t>
            </a:r>
            <a:endParaRPr b="0" i="0" sz="1400" u="none" cap="none" strike="noStrike">
              <a:solidFill>
                <a:schemeClr val="dk1"/>
              </a:solidFill>
              <a:latin typeface="Arial"/>
              <a:ea typeface="Arial"/>
              <a:cs typeface="Arial"/>
              <a:sym typeface="Arial"/>
            </a:endParaRPr>
          </a:p>
        </p:txBody>
      </p:sp>
      <p:sp>
        <p:nvSpPr>
          <p:cNvPr id="253" name="Google Shape;253;p6"/>
          <p:cNvSpPr txBox="1"/>
          <p:nvPr/>
        </p:nvSpPr>
        <p:spPr>
          <a:xfrm>
            <a:off x="502920" y="6528816"/>
            <a:ext cx="731520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50"/>
              <a:buFont typeface="Arial"/>
              <a:buNone/>
            </a:pPr>
            <a:r>
              <a:rPr b="0" i="1" lang="en-US" sz="950" u="none" cap="none" strike="noStrike">
                <a:solidFill>
                  <a:srgbClr val="595959"/>
                </a:solidFill>
                <a:latin typeface="Calibri"/>
                <a:ea typeface="Calibri"/>
                <a:cs typeface="Calibri"/>
                <a:sym typeface="Calibri"/>
              </a:rPr>
              <a:t>IE203 – Quản trị quy trình nghiệp vụ  |  OR Tech</a:t>
            </a:r>
            <a:endParaRPr b="0" i="0" sz="1400" u="none" cap="none" strike="noStrike">
              <a:solidFill>
                <a:srgbClr val="000000"/>
              </a:solidFill>
              <a:latin typeface="Arial"/>
              <a:ea typeface="Arial"/>
              <a:cs typeface="Arial"/>
              <a:sym typeface="Arial"/>
            </a:endParaRPr>
          </a:p>
        </p:txBody>
      </p:sp>
      <p:sp>
        <p:nvSpPr>
          <p:cNvPr id="254" name="Google Shape;254;p6"/>
          <p:cNvSpPr txBox="1"/>
          <p:nvPr/>
        </p:nvSpPr>
        <p:spPr>
          <a:xfrm>
            <a:off x="11338560" y="6528816"/>
            <a:ext cx="457200" cy="27432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050"/>
              <a:buFont typeface="Arial"/>
              <a:buNone/>
            </a:pPr>
            <a:r>
              <a:rPr b="1" i="0" lang="en-US" sz="1050" u="none" cap="none" strike="noStrike">
                <a:solidFill>
                  <a:srgbClr val="595959"/>
                </a:solidFill>
                <a:latin typeface="Calibri"/>
                <a:ea typeface="Calibri"/>
                <a:cs typeface="Calibri"/>
                <a:sym typeface="Calibri"/>
              </a:rPr>
              <a:t>5</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7"/>
          <p:cNvSpPr/>
          <p:nvPr/>
        </p:nvSpPr>
        <p:spPr>
          <a:xfrm>
            <a:off x="0" y="0"/>
            <a:ext cx="12191695"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61" name="Google Shape;261;p7"/>
          <p:cNvSpPr/>
          <p:nvPr/>
        </p:nvSpPr>
        <p:spPr>
          <a:xfrm>
            <a:off x="0" y="0"/>
            <a:ext cx="12191695" cy="960120"/>
          </a:xfrm>
          <a:prstGeom prst="rect">
            <a:avLst/>
          </a:prstGeom>
          <a:solidFill>
            <a:srgbClr val="14B8A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62" name="Google Shape;262;p7"/>
          <p:cNvSpPr/>
          <p:nvPr/>
        </p:nvSpPr>
        <p:spPr>
          <a:xfrm>
            <a:off x="0" y="960120"/>
            <a:ext cx="12191695" cy="38100"/>
          </a:xfrm>
          <a:prstGeom prst="rect">
            <a:avLst/>
          </a:prstGeom>
          <a:solidFill>
            <a:srgbClr val="00F5D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63" name="Google Shape;263;p7"/>
          <p:cNvSpPr txBox="1"/>
          <p:nvPr/>
        </p:nvSpPr>
        <p:spPr>
          <a:xfrm>
            <a:off x="502920" y="91440"/>
            <a:ext cx="100584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lt1"/>
                </a:solidFill>
                <a:latin typeface="Calibri"/>
                <a:ea typeface="Calibri"/>
                <a:cs typeface="Calibri"/>
                <a:sym typeface="Calibri"/>
              </a:rPr>
              <a:t>QUY TRÌNH 1 · MANAGEMENT</a:t>
            </a:r>
            <a:endParaRPr b="0" i="0" sz="1400" u="none" cap="none" strike="noStrike">
              <a:solidFill>
                <a:schemeClr val="lt1"/>
              </a:solidFill>
              <a:latin typeface="Arial"/>
              <a:ea typeface="Arial"/>
              <a:cs typeface="Arial"/>
              <a:sym typeface="Arial"/>
            </a:endParaRPr>
          </a:p>
        </p:txBody>
      </p:sp>
      <p:sp>
        <p:nvSpPr>
          <p:cNvPr id="264" name="Google Shape;264;p7"/>
          <p:cNvSpPr txBox="1"/>
          <p:nvPr/>
        </p:nvSpPr>
        <p:spPr>
          <a:xfrm>
            <a:off x="502920" y="365760"/>
            <a:ext cx="10972800" cy="5486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FFFFFF"/>
                </a:solidFill>
                <a:latin typeface="Calibri"/>
                <a:ea typeface="Calibri"/>
                <a:cs typeface="Calibri"/>
                <a:sym typeface="Calibri"/>
              </a:rPr>
              <a:t>Quản lý Chất lượng — Mô hình BPMN chi tiết</a:t>
            </a:r>
            <a:endParaRPr b="0" i="0" sz="1400" u="none" cap="none" strike="noStrike">
              <a:solidFill>
                <a:srgbClr val="000000"/>
              </a:solidFill>
              <a:latin typeface="Arial"/>
              <a:ea typeface="Arial"/>
              <a:cs typeface="Arial"/>
              <a:sym typeface="Arial"/>
            </a:endParaRPr>
          </a:p>
        </p:txBody>
      </p:sp>
      <p:graphicFrame>
        <p:nvGraphicFramePr>
          <p:cNvPr id="265" name="Google Shape;265;p7"/>
          <p:cNvGraphicFramePr/>
          <p:nvPr/>
        </p:nvGraphicFramePr>
        <p:xfrm>
          <a:off x="502920" y="4617720"/>
          <a:ext cx="3000000" cy="3000000"/>
        </p:xfrm>
        <a:graphic>
          <a:graphicData uri="http://schemas.openxmlformats.org/drawingml/2006/table">
            <a:tbl>
              <a:tblPr bandRow="1" firstRow="1">
                <a:noFill/>
                <a:tableStyleId>{660C12F0-EA0F-4C08-B8CF-7D1332A2121B}</a:tableStyleId>
              </a:tblPr>
              <a:tblGrid>
                <a:gridCol w="3422650"/>
                <a:gridCol w="7778750"/>
              </a:tblGrid>
              <a:tr h="182875">
                <a:tc>
                  <a:txBody>
                    <a:bodyPr/>
                    <a:lstStyle/>
                    <a:p>
                      <a:pPr indent="0" lvl="0" marL="0" marR="0" rtl="0" algn="ctr">
                        <a:lnSpc>
                          <a:spcPct val="100000"/>
                        </a:lnSpc>
                        <a:spcBef>
                          <a:spcPts val="0"/>
                        </a:spcBef>
                        <a:spcAft>
                          <a:spcPts val="0"/>
                        </a:spcAft>
                        <a:buClr>
                          <a:srgbClr val="000000"/>
                        </a:buClr>
                        <a:buSzPts val="1050"/>
                        <a:buFont typeface="Arial"/>
                        <a:buNone/>
                      </a:pPr>
                      <a:r>
                        <a:rPr b="1" lang="en-US" sz="1050" u="none" cap="none" strike="noStrike">
                          <a:solidFill>
                            <a:srgbClr val="FFFFFF"/>
                          </a:solidFill>
                          <a:latin typeface="Calibri"/>
                          <a:ea typeface="Calibri"/>
                          <a:cs typeface="Calibri"/>
                          <a:sym typeface="Calibri"/>
                        </a:rPr>
                        <a:t>Tiêu chí</a:t>
                      </a:r>
                      <a:endParaRPr sz="1400" u="none" cap="none" strike="noStrike"/>
                    </a:p>
                  </a:txBody>
                  <a:tcPr marT="25400" marB="25400" marR="76200" marL="76200" anchor="ctr">
                    <a:solidFill>
                      <a:srgbClr val="14B8A6"/>
                    </a:solidFill>
                  </a:tcPr>
                </a:tc>
                <a:tc>
                  <a:txBody>
                    <a:bodyPr/>
                    <a:lstStyle/>
                    <a:p>
                      <a:pPr indent="0" lvl="0" marL="0" marR="0" rtl="0" algn="ctr">
                        <a:lnSpc>
                          <a:spcPct val="100000"/>
                        </a:lnSpc>
                        <a:spcBef>
                          <a:spcPts val="0"/>
                        </a:spcBef>
                        <a:spcAft>
                          <a:spcPts val="0"/>
                        </a:spcAft>
                        <a:buClr>
                          <a:srgbClr val="000000"/>
                        </a:buClr>
                        <a:buSzPts val="1050"/>
                        <a:buFont typeface="Arial"/>
                        <a:buNone/>
                      </a:pPr>
                      <a:r>
                        <a:rPr b="1" lang="en-US" sz="1050" u="none" cap="none" strike="noStrike">
                          <a:solidFill>
                            <a:srgbClr val="FFFFFF"/>
                          </a:solidFill>
                          <a:latin typeface="Calibri"/>
                          <a:ea typeface="Calibri"/>
                          <a:cs typeface="Calibri"/>
                          <a:sym typeface="Calibri"/>
                        </a:rPr>
                        <a:t>Giá trị</a:t>
                      </a:r>
                      <a:endParaRPr sz="1400" u="none" cap="none" strike="noStrike"/>
                    </a:p>
                  </a:txBody>
                  <a:tcPr marT="25400" marB="25400" marR="76200" marL="76200" anchor="ctr">
                    <a:solidFill>
                      <a:srgbClr val="14B8A6"/>
                    </a:solidFill>
                  </a:tcPr>
                </a:tc>
              </a:tr>
              <a:tr h="182875">
                <a:tc>
                  <a:txBody>
                    <a:bodyPr/>
                    <a:lstStyle/>
                    <a:p>
                      <a:pPr indent="0" lvl="0" marL="0" marR="0" rtl="0" algn="l">
                        <a:lnSpc>
                          <a:spcPct val="100000"/>
                        </a:lnSpc>
                        <a:spcBef>
                          <a:spcPts val="0"/>
                        </a:spcBef>
                        <a:spcAft>
                          <a:spcPts val="0"/>
                        </a:spcAft>
                        <a:buClr>
                          <a:srgbClr val="000000"/>
                        </a:buClr>
                        <a:buSzPts val="1050"/>
                        <a:buFont typeface="Arial"/>
                        <a:buNone/>
                      </a:pPr>
                      <a:r>
                        <a:rPr b="0" lang="en-US" sz="1050" u="none" cap="none" strike="noStrike">
                          <a:solidFill>
                            <a:srgbClr val="333333"/>
                          </a:solidFill>
                          <a:latin typeface="Calibri"/>
                          <a:ea typeface="Calibri"/>
                          <a:cs typeface="Calibri"/>
                          <a:sym typeface="Calibri"/>
                        </a:rPr>
                        <a:t>Số lượng task</a:t>
                      </a:r>
                      <a:endParaRPr sz="1400" u="none" cap="none" strike="noStrike"/>
                    </a:p>
                  </a:txBody>
                  <a:tcPr marT="25400" marB="25400" marR="76200" marL="76200" anchor="ctr">
                    <a:solidFill>
                      <a:srgbClr val="FFFFFF"/>
                    </a:solidFill>
                  </a:tcPr>
                </a:tc>
                <a:tc>
                  <a:txBody>
                    <a:bodyPr/>
                    <a:lstStyle/>
                    <a:p>
                      <a:pPr indent="0" lvl="0" marL="0" marR="0" rtl="0" algn="l">
                        <a:lnSpc>
                          <a:spcPct val="100000"/>
                        </a:lnSpc>
                        <a:spcBef>
                          <a:spcPts val="0"/>
                        </a:spcBef>
                        <a:spcAft>
                          <a:spcPts val="0"/>
                        </a:spcAft>
                        <a:buClr>
                          <a:srgbClr val="000000"/>
                        </a:buClr>
                        <a:buSzPts val="1050"/>
                        <a:buFont typeface="Arial"/>
                        <a:buNone/>
                      </a:pPr>
                      <a:r>
                        <a:rPr b="0" lang="en-US" sz="1050" u="none" cap="none" strike="noStrike">
                          <a:solidFill>
                            <a:srgbClr val="333333"/>
                          </a:solidFill>
                          <a:latin typeface="Calibri"/>
                          <a:ea typeface="Calibri"/>
                          <a:cs typeface="Calibri"/>
                          <a:sym typeface="Calibri"/>
                        </a:rPr>
                        <a:t>11</a:t>
                      </a:r>
                      <a:endParaRPr sz="1400" u="none" cap="none" strike="noStrike"/>
                    </a:p>
                  </a:txBody>
                  <a:tcPr marT="25400" marB="25400" marR="76200" marL="76200" anchor="ctr">
                    <a:solidFill>
                      <a:srgbClr val="FFFFFF"/>
                    </a:solidFill>
                  </a:tcPr>
                </a:tc>
              </a:tr>
              <a:tr h="182875">
                <a:tc>
                  <a:txBody>
                    <a:bodyPr/>
                    <a:lstStyle/>
                    <a:p>
                      <a:pPr indent="0" lvl="0" marL="0" marR="0" rtl="0" algn="l">
                        <a:lnSpc>
                          <a:spcPct val="100000"/>
                        </a:lnSpc>
                        <a:spcBef>
                          <a:spcPts val="0"/>
                        </a:spcBef>
                        <a:spcAft>
                          <a:spcPts val="0"/>
                        </a:spcAft>
                        <a:buClr>
                          <a:srgbClr val="000000"/>
                        </a:buClr>
                        <a:buSzPts val="1050"/>
                        <a:buFont typeface="Arial"/>
                        <a:buNone/>
                      </a:pPr>
                      <a:r>
                        <a:rPr b="0" lang="en-US" sz="1050" u="none" cap="none" strike="noStrike">
                          <a:solidFill>
                            <a:srgbClr val="333333"/>
                          </a:solidFill>
                          <a:latin typeface="Calibri"/>
                          <a:ea typeface="Calibri"/>
                          <a:cs typeface="Calibri"/>
                          <a:sym typeface="Calibri"/>
                        </a:rPr>
                        <a:t>Số lượng gateway</a:t>
                      </a:r>
                      <a:endParaRPr sz="1400" u="none" cap="none" strike="noStrike"/>
                    </a:p>
                  </a:txBody>
                  <a:tcPr marT="25400" marB="25400" marR="76200" marL="76200" anchor="ctr">
                    <a:solidFill>
                      <a:srgbClr val="F1F3F6"/>
                    </a:solidFill>
                  </a:tcPr>
                </a:tc>
                <a:tc>
                  <a:txBody>
                    <a:bodyPr/>
                    <a:lstStyle/>
                    <a:p>
                      <a:pPr indent="0" lvl="0" marL="0" marR="0" rtl="0" algn="l">
                        <a:lnSpc>
                          <a:spcPct val="100000"/>
                        </a:lnSpc>
                        <a:spcBef>
                          <a:spcPts val="0"/>
                        </a:spcBef>
                        <a:spcAft>
                          <a:spcPts val="0"/>
                        </a:spcAft>
                        <a:buClr>
                          <a:srgbClr val="000000"/>
                        </a:buClr>
                        <a:buSzPts val="1050"/>
                        <a:buFont typeface="Arial"/>
                        <a:buNone/>
                      </a:pPr>
                      <a:r>
                        <a:rPr b="0" lang="en-US" sz="1050" u="none" cap="none" strike="noStrike">
                          <a:solidFill>
                            <a:srgbClr val="333333"/>
                          </a:solidFill>
                          <a:latin typeface="Calibri"/>
                          <a:ea typeface="Calibri"/>
                          <a:cs typeface="Calibri"/>
                          <a:sym typeface="Calibri"/>
                        </a:rPr>
                        <a:t>8  (6 XOR + 2 AND)</a:t>
                      </a:r>
                      <a:endParaRPr sz="1400" u="none" cap="none" strike="noStrike"/>
                    </a:p>
                  </a:txBody>
                  <a:tcPr marT="25400" marB="25400" marR="76200" marL="76200" anchor="ctr">
                    <a:solidFill>
                      <a:srgbClr val="F1F3F6"/>
                    </a:solidFill>
                  </a:tcPr>
                </a:tc>
              </a:tr>
              <a:tr h="182875">
                <a:tc>
                  <a:txBody>
                    <a:bodyPr/>
                    <a:lstStyle/>
                    <a:p>
                      <a:pPr indent="0" lvl="0" marL="0" marR="0" rtl="0" algn="l">
                        <a:lnSpc>
                          <a:spcPct val="100000"/>
                        </a:lnSpc>
                        <a:spcBef>
                          <a:spcPts val="0"/>
                        </a:spcBef>
                        <a:spcAft>
                          <a:spcPts val="0"/>
                        </a:spcAft>
                        <a:buClr>
                          <a:srgbClr val="000000"/>
                        </a:buClr>
                        <a:buSzPts val="1050"/>
                        <a:buFont typeface="Arial"/>
                        <a:buNone/>
                      </a:pPr>
                      <a:r>
                        <a:rPr b="0" lang="en-US" sz="1050" u="none" cap="none" strike="noStrike">
                          <a:solidFill>
                            <a:srgbClr val="333333"/>
                          </a:solidFill>
                          <a:latin typeface="Calibri"/>
                          <a:ea typeface="Calibri"/>
                          <a:cs typeface="Calibri"/>
                          <a:sym typeface="Calibri"/>
                        </a:rPr>
                        <a:t>Split &amp; Join</a:t>
                      </a:r>
                      <a:endParaRPr sz="1400" u="none" cap="none" strike="noStrike"/>
                    </a:p>
                  </a:txBody>
                  <a:tcPr marT="25400" marB="25400" marR="76200" marL="76200" anchor="ctr">
                    <a:solidFill>
                      <a:srgbClr val="FFFFFF"/>
                    </a:solidFill>
                  </a:tcPr>
                </a:tc>
                <a:tc>
                  <a:txBody>
                    <a:bodyPr/>
                    <a:lstStyle/>
                    <a:p>
                      <a:pPr indent="0" lvl="0" marL="0" marR="0" rtl="0" algn="l">
                        <a:lnSpc>
                          <a:spcPct val="100000"/>
                        </a:lnSpc>
                        <a:spcBef>
                          <a:spcPts val="0"/>
                        </a:spcBef>
                        <a:spcAft>
                          <a:spcPts val="0"/>
                        </a:spcAft>
                        <a:buClr>
                          <a:srgbClr val="000000"/>
                        </a:buClr>
                        <a:buSzPts val="1050"/>
                        <a:buFont typeface="Arial"/>
                        <a:buNone/>
                      </a:pPr>
                      <a:r>
                        <a:rPr b="0" lang="en-US" sz="1050" u="none" cap="none" strike="noStrike">
                          <a:solidFill>
                            <a:srgbClr val="333333"/>
                          </a:solidFill>
                          <a:latin typeface="Calibri"/>
                          <a:ea typeface="Calibri"/>
                          <a:cs typeface="Calibri"/>
                          <a:sym typeface="Calibri"/>
                        </a:rPr>
                        <a:t>1 cặp AND-split/join (audit thực tế // rà soát tài liệu)</a:t>
                      </a:r>
                      <a:endParaRPr sz="1400" u="none" cap="none" strike="noStrike"/>
                    </a:p>
                  </a:txBody>
                  <a:tcPr marT="25400" marB="25400" marR="76200" marL="76200" anchor="ctr">
                    <a:solidFill>
                      <a:srgbClr val="FFFFFF"/>
                    </a:solidFill>
                  </a:tcPr>
                </a:tc>
              </a:tr>
              <a:tr h="182875">
                <a:tc>
                  <a:txBody>
                    <a:bodyPr/>
                    <a:lstStyle/>
                    <a:p>
                      <a:pPr indent="0" lvl="0" marL="0" marR="0" rtl="0" algn="l">
                        <a:lnSpc>
                          <a:spcPct val="100000"/>
                        </a:lnSpc>
                        <a:spcBef>
                          <a:spcPts val="0"/>
                        </a:spcBef>
                        <a:spcAft>
                          <a:spcPts val="0"/>
                        </a:spcAft>
                        <a:buClr>
                          <a:srgbClr val="000000"/>
                        </a:buClr>
                        <a:buSzPts val="1050"/>
                        <a:buFont typeface="Arial"/>
                        <a:buNone/>
                      </a:pPr>
                      <a:r>
                        <a:rPr b="0" lang="en-US" sz="1050" u="none" cap="none" strike="noStrike">
                          <a:solidFill>
                            <a:srgbClr val="333333"/>
                          </a:solidFill>
                          <a:latin typeface="Calibri"/>
                          <a:ea typeface="Calibri"/>
                          <a:cs typeface="Calibri"/>
                          <a:sym typeface="Calibri"/>
                        </a:rPr>
                        <a:t>Vòng lặp</a:t>
                      </a:r>
                      <a:endParaRPr sz="1400" u="none" cap="none" strike="noStrike"/>
                    </a:p>
                  </a:txBody>
                  <a:tcPr marT="25400" marB="25400" marR="76200" marL="76200" anchor="ctr">
                    <a:solidFill>
                      <a:srgbClr val="F1F3F6"/>
                    </a:solidFill>
                  </a:tcPr>
                </a:tc>
                <a:tc>
                  <a:txBody>
                    <a:bodyPr/>
                    <a:lstStyle/>
                    <a:p>
                      <a:pPr indent="0" lvl="0" marL="0" marR="0" rtl="0" algn="l">
                        <a:lnSpc>
                          <a:spcPct val="100000"/>
                        </a:lnSpc>
                        <a:spcBef>
                          <a:spcPts val="0"/>
                        </a:spcBef>
                        <a:spcAft>
                          <a:spcPts val="0"/>
                        </a:spcAft>
                        <a:buClr>
                          <a:srgbClr val="000000"/>
                        </a:buClr>
                        <a:buSzPts val="1050"/>
                        <a:buFont typeface="Arial"/>
                        <a:buNone/>
                      </a:pPr>
                      <a:r>
                        <a:rPr b="0" lang="en-US" sz="1050" u="none" cap="none" strike="noStrike">
                          <a:solidFill>
                            <a:srgbClr val="333333"/>
                          </a:solidFill>
                          <a:latin typeface="Calibri"/>
                          <a:ea typeface="Calibri"/>
                          <a:cs typeface="Calibri"/>
                          <a:sym typeface="Calibri"/>
                        </a:rPr>
                        <a:t>2 (phân tích lại root-cause; gia hạn CAPA trễ hạn)</a:t>
                      </a:r>
                      <a:endParaRPr sz="1400" u="none" cap="none" strike="noStrike"/>
                    </a:p>
                  </a:txBody>
                  <a:tcPr marT="25400" marB="25400" marR="76200" marL="76200" anchor="ctr">
                    <a:solidFill>
                      <a:srgbClr val="F1F3F6"/>
                    </a:solidFill>
                  </a:tcPr>
                </a:tc>
              </a:tr>
              <a:tr h="182875">
                <a:tc>
                  <a:txBody>
                    <a:bodyPr/>
                    <a:lstStyle/>
                    <a:p>
                      <a:pPr indent="0" lvl="0" marL="0" marR="0" rtl="0" algn="l">
                        <a:lnSpc>
                          <a:spcPct val="100000"/>
                        </a:lnSpc>
                        <a:spcBef>
                          <a:spcPts val="0"/>
                        </a:spcBef>
                        <a:spcAft>
                          <a:spcPts val="0"/>
                        </a:spcAft>
                        <a:buClr>
                          <a:srgbClr val="000000"/>
                        </a:buClr>
                        <a:buSzPts val="1050"/>
                        <a:buFont typeface="Arial"/>
                        <a:buNone/>
                      </a:pPr>
                      <a:r>
                        <a:rPr b="0" lang="en-US" sz="1050" u="none" cap="none" strike="noStrike">
                          <a:solidFill>
                            <a:srgbClr val="333333"/>
                          </a:solidFill>
                          <a:latin typeface="Calibri"/>
                          <a:ea typeface="Calibri"/>
                          <a:cs typeface="Calibri"/>
                          <a:sym typeface="Calibri"/>
                        </a:rPr>
                        <a:t>Mức độ phức tạp</a:t>
                      </a:r>
                      <a:endParaRPr sz="1400" u="none" cap="none" strike="noStrike"/>
                    </a:p>
                  </a:txBody>
                  <a:tcPr marT="25400" marB="25400" marR="76200" marL="76200" anchor="ctr">
                    <a:solidFill>
                      <a:srgbClr val="FFFFFF"/>
                    </a:solidFill>
                  </a:tcPr>
                </a:tc>
                <a:tc>
                  <a:txBody>
                    <a:bodyPr/>
                    <a:lstStyle/>
                    <a:p>
                      <a:pPr indent="0" lvl="0" marL="0" marR="0" rtl="0" algn="l">
                        <a:lnSpc>
                          <a:spcPct val="100000"/>
                        </a:lnSpc>
                        <a:spcBef>
                          <a:spcPts val="0"/>
                        </a:spcBef>
                        <a:spcAft>
                          <a:spcPts val="0"/>
                        </a:spcAft>
                        <a:buClr>
                          <a:srgbClr val="000000"/>
                        </a:buClr>
                        <a:buSzPts val="1050"/>
                        <a:buFont typeface="Arial"/>
                        <a:buNone/>
                      </a:pPr>
                      <a:r>
                        <a:rPr b="0" lang="en-US" sz="1050" u="none" cap="none" strike="noStrike">
                          <a:solidFill>
                            <a:srgbClr val="333333"/>
                          </a:solidFill>
                          <a:latin typeface="Calibri"/>
                          <a:ea typeface="Calibri"/>
                          <a:cs typeface="Calibri"/>
                          <a:sym typeface="Calibri"/>
                        </a:rPr>
                        <a:t>Cao — 8 cổng điều kiện, đúng chuẩn BPMN</a:t>
                      </a:r>
                      <a:endParaRPr sz="1400" u="none" cap="none" strike="noStrike"/>
                    </a:p>
                  </a:txBody>
                  <a:tcPr marT="25400" marB="25400" marR="76200" marL="76200" anchor="ctr">
                    <a:solidFill>
                      <a:srgbClr val="FFFFFF"/>
                    </a:solidFill>
                  </a:tcPr>
                </a:tc>
              </a:tr>
            </a:tbl>
          </a:graphicData>
        </a:graphic>
      </p:graphicFrame>
      <p:sp>
        <p:nvSpPr>
          <p:cNvPr id="266" name="Google Shape;266;p7"/>
          <p:cNvSpPr txBox="1"/>
          <p:nvPr/>
        </p:nvSpPr>
        <p:spPr>
          <a:xfrm>
            <a:off x="502920" y="6528816"/>
            <a:ext cx="731520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50"/>
              <a:buFont typeface="Arial"/>
              <a:buNone/>
            </a:pPr>
            <a:r>
              <a:rPr b="0" i="1" lang="en-US" sz="950" u="none" cap="none" strike="noStrike">
                <a:solidFill>
                  <a:srgbClr val="595959"/>
                </a:solidFill>
                <a:latin typeface="Calibri"/>
                <a:ea typeface="Calibri"/>
                <a:cs typeface="Calibri"/>
                <a:sym typeface="Calibri"/>
              </a:rPr>
              <a:t>IE203 – Quản trị quy trình nghiệp vụ  |  OR Tech</a:t>
            </a:r>
            <a:endParaRPr b="0" i="0" sz="1400" u="none" cap="none" strike="noStrike">
              <a:solidFill>
                <a:srgbClr val="000000"/>
              </a:solidFill>
              <a:latin typeface="Arial"/>
              <a:ea typeface="Arial"/>
              <a:cs typeface="Arial"/>
              <a:sym typeface="Arial"/>
            </a:endParaRPr>
          </a:p>
        </p:txBody>
      </p:sp>
      <p:sp>
        <p:nvSpPr>
          <p:cNvPr id="267" name="Google Shape;267;p7"/>
          <p:cNvSpPr txBox="1"/>
          <p:nvPr/>
        </p:nvSpPr>
        <p:spPr>
          <a:xfrm>
            <a:off x="11338560" y="6528816"/>
            <a:ext cx="457200" cy="27432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050"/>
              <a:buFont typeface="Arial"/>
              <a:buNone/>
            </a:pPr>
            <a:r>
              <a:rPr b="1" i="0" lang="en-US" sz="1050" u="none" cap="none" strike="noStrike">
                <a:solidFill>
                  <a:srgbClr val="595959"/>
                </a:solidFill>
                <a:latin typeface="Calibri"/>
                <a:ea typeface="Calibri"/>
                <a:cs typeface="Calibri"/>
                <a:sym typeface="Calibri"/>
              </a:rPr>
              <a:t>6</a:t>
            </a:r>
            <a:endParaRPr b="0" i="0" sz="1400" u="none" cap="none" strike="noStrike">
              <a:solidFill>
                <a:srgbClr val="000000"/>
              </a:solidFill>
              <a:latin typeface="Arial"/>
              <a:ea typeface="Arial"/>
              <a:cs typeface="Arial"/>
              <a:sym typeface="Arial"/>
            </a:endParaRPr>
          </a:p>
        </p:txBody>
      </p:sp>
      <p:pic>
        <p:nvPicPr>
          <p:cNvPr id="268" name="Google Shape;268;p7" title="bpmn_quality (1).png"/>
          <p:cNvPicPr preferRelativeResize="0"/>
          <p:nvPr/>
        </p:nvPicPr>
        <p:blipFill rotWithShape="1">
          <a:blip r:embed="rId3">
            <a:alphaModFix/>
          </a:blip>
          <a:srcRect b="0" l="0" r="0" t="0"/>
          <a:stretch/>
        </p:blipFill>
        <p:spPr>
          <a:xfrm>
            <a:off x="550075" y="1030290"/>
            <a:ext cx="11154248" cy="3480259"/>
          </a:xfrm>
          <a:prstGeom prst="rect">
            <a:avLst/>
          </a:prstGeom>
          <a:solidFill>
            <a:srgbClr val="FFFFFF"/>
          </a:solid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8"/>
          <p:cNvSpPr/>
          <p:nvPr/>
        </p:nvSpPr>
        <p:spPr>
          <a:xfrm>
            <a:off x="0" y="0"/>
            <a:ext cx="121917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75" name="Google Shape;275;p8"/>
          <p:cNvSpPr/>
          <p:nvPr/>
        </p:nvSpPr>
        <p:spPr>
          <a:xfrm>
            <a:off x="0" y="0"/>
            <a:ext cx="12191695" cy="960120"/>
          </a:xfrm>
          <a:prstGeom prst="rect">
            <a:avLst/>
          </a:prstGeom>
          <a:solidFill>
            <a:srgbClr val="14B8A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76" name="Google Shape;276;p8"/>
          <p:cNvSpPr/>
          <p:nvPr/>
        </p:nvSpPr>
        <p:spPr>
          <a:xfrm>
            <a:off x="0" y="960120"/>
            <a:ext cx="12191695" cy="38100"/>
          </a:xfrm>
          <a:prstGeom prst="rect">
            <a:avLst/>
          </a:prstGeom>
          <a:solidFill>
            <a:srgbClr val="00F5D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77" name="Google Shape;277;p8"/>
          <p:cNvSpPr txBox="1"/>
          <p:nvPr/>
        </p:nvSpPr>
        <p:spPr>
          <a:xfrm>
            <a:off x="502920" y="91440"/>
            <a:ext cx="100584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lt1"/>
                </a:solidFill>
                <a:latin typeface="Calibri"/>
                <a:ea typeface="Calibri"/>
                <a:cs typeface="Calibri"/>
                <a:sym typeface="Calibri"/>
              </a:rPr>
              <a:t>QUY TRÌNH 1 · MANAGEMENT</a:t>
            </a:r>
            <a:endParaRPr b="0" i="0" sz="1400" u="none" cap="none" strike="noStrike">
              <a:solidFill>
                <a:schemeClr val="lt1"/>
              </a:solidFill>
              <a:latin typeface="Arial"/>
              <a:ea typeface="Arial"/>
              <a:cs typeface="Arial"/>
              <a:sym typeface="Arial"/>
            </a:endParaRPr>
          </a:p>
        </p:txBody>
      </p:sp>
      <p:sp>
        <p:nvSpPr>
          <p:cNvPr id="278" name="Google Shape;278;p8"/>
          <p:cNvSpPr txBox="1"/>
          <p:nvPr/>
        </p:nvSpPr>
        <p:spPr>
          <a:xfrm>
            <a:off x="502920" y="365760"/>
            <a:ext cx="10972800" cy="5486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FFFFFF"/>
                </a:solidFill>
                <a:latin typeface="Calibri"/>
                <a:ea typeface="Calibri"/>
                <a:cs typeface="Calibri"/>
                <a:sym typeface="Calibri"/>
              </a:rPr>
              <a:t>Quản lý Chất lượng — Phương pháp &amp; bằng chứng</a:t>
            </a:r>
            <a:endParaRPr b="0" i="0" sz="1400" u="none" cap="none" strike="noStrike">
              <a:solidFill>
                <a:srgbClr val="000000"/>
              </a:solidFill>
              <a:latin typeface="Arial"/>
              <a:ea typeface="Arial"/>
              <a:cs typeface="Arial"/>
              <a:sym typeface="Arial"/>
            </a:endParaRPr>
          </a:p>
        </p:txBody>
      </p:sp>
      <p:sp>
        <p:nvSpPr>
          <p:cNvPr id="279" name="Google Shape;279;p8"/>
          <p:cNvSpPr txBox="1"/>
          <p:nvPr/>
        </p:nvSpPr>
        <p:spPr>
          <a:xfrm>
            <a:off x="389707" y="1574295"/>
            <a:ext cx="6675000" cy="200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chemeClr val="dk1"/>
                </a:solidFill>
                <a:latin typeface="Calibri"/>
                <a:ea typeface="Calibri"/>
                <a:cs typeface="Calibri"/>
                <a:sym typeface="Calibri"/>
              </a:rPr>
              <a:t>MÔ TẢ QUY TRÌNH HIỆN CÓ</a:t>
            </a:r>
            <a:endParaRPr b="0" i="0" sz="1400" u="none" cap="none" strike="noStrike">
              <a:solidFill>
                <a:schemeClr val="dk1"/>
              </a:solidFill>
              <a:latin typeface="Arial"/>
              <a:ea typeface="Arial"/>
              <a:cs typeface="Arial"/>
              <a:sym typeface="Arial"/>
            </a:endParaRPr>
          </a:p>
        </p:txBody>
      </p:sp>
      <p:sp>
        <p:nvSpPr>
          <p:cNvPr id="280" name="Google Shape;280;p8"/>
          <p:cNvSpPr txBox="1"/>
          <p:nvPr/>
        </p:nvSpPr>
        <p:spPr>
          <a:xfrm>
            <a:off x="389770" y="1901942"/>
            <a:ext cx="6675000" cy="11205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300"/>
              <a:buFont typeface="Arial"/>
              <a:buNone/>
            </a:pPr>
            <a:r>
              <a:rPr b="0" i="0" lang="en-US" sz="1300" u="none" cap="none" strike="noStrike">
                <a:solidFill>
                  <a:schemeClr val="dk1"/>
                </a:solidFill>
                <a:latin typeface="Calibri"/>
                <a:ea typeface="Calibri"/>
                <a:cs typeface="Calibri"/>
                <a:sym typeface="Calibri"/>
              </a:rPr>
              <a:t>Quy trình vận hành bán thủ công: QA Manager xây dựng/cập nhật chuẩn CMMI/ISO, lập kế hoạch audit theo quý; nhóm QA/QC audit thực tế so với tài liệu PRO-*. Non-conformance (NC) được ghi nhận thủ công trên bảng tính, yêu cầu CAPA gửi qua email cho PM liên quan; việc theo dõi tiến độ phụ thuộc nhiều vào nhắc nhở cá nhân hơn là hệ thống tự động. Báo cáo tổng hợp trình BOD theo quý.</a:t>
            </a:r>
            <a:endParaRPr b="0" i="0" sz="1400" u="none" cap="none" strike="noStrike">
              <a:solidFill>
                <a:schemeClr val="dk1"/>
              </a:solidFill>
              <a:latin typeface="Arial"/>
              <a:ea typeface="Arial"/>
              <a:cs typeface="Arial"/>
              <a:sym typeface="Arial"/>
            </a:endParaRPr>
          </a:p>
        </p:txBody>
      </p:sp>
      <p:sp>
        <p:nvSpPr>
          <p:cNvPr id="281" name="Google Shape;281;p8"/>
          <p:cNvSpPr txBox="1"/>
          <p:nvPr/>
        </p:nvSpPr>
        <p:spPr>
          <a:xfrm>
            <a:off x="389732" y="3926164"/>
            <a:ext cx="6675000" cy="200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chemeClr val="dk1"/>
                </a:solidFill>
                <a:latin typeface="Calibri"/>
                <a:ea typeface="Calibri"/>
                <a:cs typeface="Calibri"/>
                <a:sym typeface="Calibri"/>
              </a:rPr>
              <a:t>CÂU HỎI PHỎNG VẤN TIÊU BIỂU</a:t>
            </a:r>
            <a:endParaRPr b="0" i="0" sz="1400" u="none" cap="none" strike="noStrike">
              <a:solidFill>
                <a:schemeClr val="dk1"/>
              </a:solidFill>
              <a:latin typeface="Arial"/>
              <a:ea typeface="Arial"/>
              <a:cs typeface="Arial"/>
              <a:sym typeface="Arial"/>
            </a:endParaRPr>
          </a:p>
        </p:txBody>
      </p:sp>
      <p:sp>
        <p:nvSpPr>
          <p:cNvPr id="282" name="Google Shape;282;p8"/>
          <p:cNvSpPr txBox="1"/>
          <p:nvPr/>
        </p:nvSpPr>
        <p:spPr>
          <a:xfrm>
            <a:off x="389670" y="4268250"/>
            <a:ext cx="6675000" cy="96720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Clr>
                <a:srgbClr val="000000"/>
              </a:buClr>
              <a:buSzPts val="1250"/>
              <a:buFont typeface="Arial"/>
              <a:buNone/>
            </a:pPr>
            <a:r>
              <a:rPr b="1" i="0" lang="en-US" sz="1250" u="none" cap="none" strike="noStrike">
                <a:solidFill>
                  <a:schemeClr val="dk1"/>
                </a:solidFill>
                <a:latin typeface="Calibri"/>
                <a:ea typeface="Calibri"/>
                <a:cs typeface="Calibri"/>
                <a:sym typeface="Calibri"/>
              </a:rPr>
              <a:t>›  Định tính — </a:t>
            </a:r>
            <a:r>
              <a:rPr b="0" i="0" lang="en-US" sz="1250" u="none" cap="none" strike="noStrike">
                <a:solidFill>
                  <a:schemeClr val="dk1"/>
                </a:solidFill>
                <a:latin typeface="Calibri"/>
                <a:ea typeface="Calibri"/>
                <a:cs typeface="Calibri"/>
                <a:sym typeface="Calibri"/>
              </a:rPr>
              <a:t>“Quy trình hiện tại có tuân thủ đầy đủ chuẩn CMMI/ISO đã đề ra không: Có / Không / Cần cải thiện?” (QA Manager)</a:t>
            </a:r>
            <a:endParaRPr b="0" i="0" sz="1400" u="none" cap="none" strike="noStrike">
              <a:solidFill>
                <a:schemeClr val="dk1"/>
              </a:solidFill>
              <a:latin typeface="Arial"/>
              <a:ea typeface="Arial"/>
              <a:cs typeface="Arial"/>
              <a:sym typeface="Arial"/>
            </a:endParaRPr>
          </a:p>
          <a:p>
            <a:pPr indent="0" lvl="0" marL="0" marR="0" rtl="0" algn="l">
              <a:lnSpc>
                <a:spcPct val="112000"/>
              </a:lnSpc>
              <a:spcBef>
                <a:spcPts val="1000"/>
              </a:spcBef>
              <a:spcAft>
                <a:spcPts val="0"/>
              </a:spcAft>
              <a:buClr>
                <a:srgbClr val="000000"/>
              </a:buClr>
              <a:buSzPts val="1250"/>
              <a:buFont typeface="Arial"/>
              <a:buNone/>
            </a:pPr>
            <a:r>
              <a:rPr b="1" i="0" lang="en-US" sz="1250" u="none" cap="none" strike="noStrike">
                <a:solidFill>
                  <a:schemeClr val="dk1"/>
                </a:solidFill>
                <a:latin typeface="Calibri"/>
                <a:ea typeface="Calibri"/>
                <a:cs typeface="Calibri"/>
                <a:sym typeface="Calibri"/>
              </a:rPr>
              <a:t>›  Định lượng — </a:t>
            </a:r>
            <a:r>
              <a:rPr b="0" i="0" lang="en-US" sz="1250" u="none" cap="none" strike="noStrike">
                <a:solidFill>
                  <a:schemeClr val="dk1"/>
                </a:solidFill>
                <a:latin typeface="Calibri"/>
                <a:ea typeface="Calibri"/>
                <a:cs typeface="Calibri"/>
                <a:sym typeface="Calibri"/>
              </a:rPr>
              <a:t>“Trong quý vừa qua, có bao nhiêu NC (non-conformance) được ghi nhận?” (QA Manager, đơn vị: số NC)</a:t>
            </a:r>
            <a:endParaRPr b="0" i="0" sz="1400" u="none" cap="none" strike="noStrike">
              <a:solidFill>
                <a:schemeClr val="dk1"/>
              </a:solidFill>
              <a:latin typeface="Arial"/>
              <a:ea typeface="Arial"/>
              <a:cs typeface="Arial"/>
              <a:sym typeface="Arial"/>
            </a:endParaRPr>
          </a:p>
        </p:txBody>
      </p:sp>
      <p:pic>
        <p:nvPicPr>
          <p:cNvPr descr="orgchart_quality.png" id="283" name="Google Shape;283;p8"/>
          <p:cNvPicPr preferRelativeResize="0"/>
          <p:nvPr/>
        </p:nvPicPr>
        <p:blipFill rotWithShape="1">
          <a:blip r:embed="rId3">
            <a:alphaModFix/>
          </a:blip>
          <a:srcRect b="26498" l="18200" r="18320" t="0"/>
          <a:stretch/>
        </p:blipFill>
        <p:spPr>
          <a:xfrm>
            <a:off x="7064700" y="1942463"/>
            <a:ext cx="4897228" cy="3238174"/>
          </a:xfrm>
          <a:prstGeom prst="rect">
            <a:avLst/>
          </a:prstGeom>
          <a:noFill/>
          <a:ln>
            <a:noFill/>
          </a:ln>
        </p:spPr>
      </p:pic>
      <p:sp>
        <p:nvSpPr>
          <p:cNvPr id="284" name="Google Shape;284;p8"/>
          <p:cNvSpPr txBox="1"/>
          <p:nvPr/>
        </p:nvSpPr>
        <p:spPr>
          <a:xfrm>
            <a:off x="502920" y="6528816"/>
            <a:ext cx="731520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50"/>
              <a:buFont typeface="Arial"/>
              <a:buNone/>
            </a:pPr>
            <a:r>
              <a:rPr b="0" i="1" lang="en-US" sz="950" u="none" cap="none" strike="noStrike">
                <a:solidFill>
                  <a:srgbClr val="595959"/>
                </a:solidFill>
                <a:latin typeface="Calibri"/>
                <a:ea typeface="Calibri"/>
                <a:cs typeface="Calibri"/>
                <a:sym typeface="Calibri"/>
              </a:rPr>
              <a:t>IE203 – Quản trị quy trình nghiệp vụ  |  OR Tech</a:t>
            </a:r>
            <a:endParaRPr b="0" i="0" sz="1400" u="none" cap="none" strike="noStrike">
              <a:solidFill>
                <a:srgbClr val="000000"/>
              </a:solidFill>
              <a:latin typeface="Arial"/>
              <a:ea typeface="Arial"/>
              <a:cs typeface="Arial"/>
              <a:sym typeface="Arial"/>
            </a:endParaRPr>
          </a:p>
        </p:txBody>
      </p:sp>
      <p:sp>
        <p:nvSpPr>
          <p:cNvPr id="285" name="Google Shape;285;p8"/>
          <p:cNvSpPr txBox="1"/>
          <p:nvPr/>
        </p:nvSpPr>
        <p:spPr>
          <a:xfrm>
            <a:off x="11338560" y="6528816"/>
            <a:ext cx="457200" cy="27432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050"/>
              <a:buFont typeface="Arial"/>
              <a:buNone/>
            </a:pPr>
            <a:r>
              <a:rPr b="1" i="0" lang="en-US" sz="1050" u="none" cap="none" strike="noStrike">
                <a:solidFill>
                  <a:srgbClr val="595959"/>
                </a:solidFill>
                <a:latin typeface="Calibri"/>
                <a:ea typeface="Calibri"/>
                <a:cs typeface="Calibri"/>
                <a:sym typeface="Calibri"/>
              </a:rPr>
              <a:t>7</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9"/>
          <p:cNvSpPr/>
          <p:nvPr/>
        </p:nvSpPr>
        <p:spPr>
          <a:xfrm>
            <a:off x="0" y="0"/>
            <a:ext cx="12191695"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92" name="Google Shape;292;p9"/>
          <p:cNvSpPr/>
          <p:nvPr/>
        </p:nvSpPr>
        <p:spPr>
          <a:xfrm>
            <a:off x="0" y="0"/>
            <a:ext cx="12191695" cy="960120"/>
          </a:xfrm>
          <a:prstGeom prst="rect">
            <a:avLst/>
          </a:prstGeom>
          <a:solidFill>
            <a:srgbClr val="14B8A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93" name="Google Shape;293;p9"/>
          <p:cNvSpPr/>
          <p:nvPr/>
        </p:nvSpPr>
        <p:spPr>
          <a:xfrm>
            <a:off x="0" y="960120"/>
            <a:ext cx="12191695" cy="38100"/>
          </a:xfrm>
          <a:prstGeom prst="rect">
            <a:avLst/>
          </a:prstGeom>
          <a:solidFill>
            <a:srgbClr val="00F5D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94" name="Google Shape;294;p9"/>
          <p:cNvSpPr txBox="1"/>
          <p:nvPr/>
        </p:nvSpPr>
        <p:spPr>
          <a:xfrm>
            <a:off x="502920" y="91440"/>
            <a:ext cx="100584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lt1"/>
                </a:solidFill>
                <a:latin typeface="Calibri"/>
                <a:ea typeface="Calibri"/>
                <a:cs typeface="Calibri"/>
                <a:sym typeface="Calibri"/>
              </a:rPr>
              <a:t>QUY TRÌNH 1 · MANAGEMENT · MỤC 4</a:t>
            </a:r>
            <a:endParaRPr b="0" i="0" sz="1400" u="none" cap="none" strike="noStrike">
              <a:solidFill>
                <a:schemeClr val="lt1"/>
              </a:solidFill>
              <a:latin typeface="Arial"/>
              <a:ea typeface="Arial"/>
              <a:cs typeface="Arial"/>
              <a:sym typeface="Arial"/>
            </a:endParaRPr>
          </a:p>
        </p:txBody>
      </p:sp>
      <p:sp>
        <p:nvSpPr>
          <p:cNvPr id="295" name="Google Shape;295;p9"/>
          <p:cNvSpPr txBox="1"/>
          <p:nvPr/>
        </p:nvSpPr>
        <p:spPr>
          <a:xfrm>
            <a:off x="502920" y="365760"/>
            <a:ext cx="10972800" cy="5486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FFFFFF"/>
                </a:solidFill>
                <a:latin typeface="Calibri"/>
                <a:ea typeface="Calibri"/>
                <a:cs typeface="Calibri"/>
                <a:sym typeface="Calibri"/>
              </a:rPr>
              <a:t>Quản lý Chất lượng — Phân tích định tính</a:t>
            </a:r>
            <a:endParaRPr b="0" i="0" sz="1400" u="none" cap="none" strike="noStrike">
              <a:solidFill>
                <a:srgbClr val="000000"/>
              </a:solidFill>
              <a:latin typeface="Arial"/>
              <a:ea typeface="Arial"/>
              <a:cs typeface="Arial"/>
              <a:sym typeface="Arial"/>
            </a:endParaRPr>
          </a:p>
        </p:txBody>
      </p:sp>
      <p:sp>
        <p:nvSpPr>
          <p:cNvPr id="296" name="Google Shape;296;p9"/>
          <p:cNvSpPr txBox="1"/>
          <p:nvPr/>
        </p:nvSpPr>
        <p:spPr>
          <a:xfrm>
            <a:off x="502920" y="1143000"/>
            <a:ext cx="11155800" cy="200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chemeClr val="dk1"/>
                </a:solidFill>
                <a:latin typeface="Calibri"/>
                <a:ea typeface="Calibri"/>
                <a:cs typeface="Calibri"/>
                <a:sym typeface="Calibri"/>
              </a:rPr>
              <a:t>PHÂN TÍCH GIÁ TRỊ GIA TĂNG (VA / BVA / NVA)</a:t>
            </a:r>
            <a:endParaRPr b="0" i="0" sz="1400" u="none" cap="none" strike="noStrike">
              <a:solidFill>
                <a:schemeClr val="dk1"/>
              </a:solidFill>
              <a:latin typeface="Arial"/>
              <a:ea typeface="Arial"/>
              <a:cs typeface="Arial"/>
              <a:sym typeface="Arial"/>
            </a:endParaRPr>
          </a:p>
        </p:txBody>
      </p:sp>
      <p:graphicFrame>
        <p:nvGraphicFramePr>
          <p:cNvPr id="297" name="Google Shape;297;p9"/>
          <p:cNvGraphicFramePr/>
          <p:nvPr/>
        </p:nvGraphicFramePr>
        <p:xfrm>
          <a:off x="502920" y="1481328"/>
          <a:ext cx="3000000" cy="3000000"/>
        </p:xfrm>
        <a:graphic>
          <a:graphicData uri="http://schemas.openxmlformats.org/drawingml/2006/table">
            <a:tbl>
              <a:tblPr bandRow="1" firstRow="1">
                <a:noFill/>
                <a:tableStyleId>{660C12F0-EA0F-4C08-B8CF-7D1332A2121B}</a:tableStyleId>
              </a:tblPr>
              <a:tblGrid>
                <a:gridCol w="4553425"/>
                <a:gridCol w="1183875"/>
                <a:gridCol w="5464100"/>
              </a:tblGrid>
              <a:tr h="310900">
                <a:tc>
                  <a:txBody>
                    <a:bodyPr/>
                    <a:lstStyle/>
                    <a:p>
                      <a:pPr indent="0" lvl="0" marL="0" marR="0" rtl="0" algn="ctr">
                        <a:lnSpc>
                          <a:spcPct val="100000"/>
                        </a:lnSpc>
                        <a:spcBef>
                          <a:spcPts val="0"/>
                        </a:spcBef>
                        <a:spcAft>
                          <a:spcPts val="0"/>
                        </a:spcAft>
                        <a:buClr>
                          <a:srgbClr val="000000"/>
                        </a:buClr>
                        <a:buSzPts val="1150"/>
                        <a:buFont typeface="Arial"/>
                        <a:buNone/>
                      </a:pPr>
                      <a:r>
                        <a:rPr b="1" lang="en-US" sz="1150" u="none" cap="none" strike="noStrike">
                          <a:solidFill>
                            <a:srgbClr val="FFFFFF"/>
                          </a:solidFill>
                          <a:latin typeface="Calibri"/>
                          <a:ea typeface="Calibri"/>
                          <a:cs typeface="Calibri"/>
                          <a:sym typeface="Calibri"/>
                        </a:rPr>
                        <a:t>Bước</a:t>
                      </a:r>
                      <a:endParaRPr sz="1400" u="none" cap="none" strike="noStrike"/>
                    </a:p>
                  </a:txBody>
                  <a:tcPr marT="25400" marB="25400" marR="76200" marL="76200" anchor="ctr">
                    <a:solidFill>
                      <a:srgbClr val="14B8A6"/>
                    </a:solidFill>
                  </a:tcPr>
                </a:tc>
                <a:tc>
                  <a:txBody>
                    <a:bodyPr/>
                    <a:lstStyle/>
                    <a:p>
                      <a:pPr indent="0" lvl="0" marL="0" marR="0" rtl="0" algn="ctr">
                        <a:lnSpc>
                          <a:spcPct val="100000"/>
                        </a:lnSpc>
                        <a:spcBef>
                          <a:spcPts val="0"/>
                        </a:spcBef>
                        <a:spcAft>
                          <a:spcPts val="0"/>
                        </a:spcAft>
                        <a:buClr>
                          <a:srgbClr val="000000"/>
                        </a:buClr>
                        <a:buSzPts val="1150"/>
                        <a:buFont typeface="Arial"/>
                        <a:buNone/>
                      </a:pPr>
                      <a:r>
                        <a:rPr b="1" lang="en-US" sz="1150" u="none" cap="none" strike="noStrike">
                          <a:solidFill>
                            <a:srgbClr val="FFFFFF"/>
                          </a:solidFill>
                          <a:latin typeface="Calibri"/>
                          <a:ea typeface="Calibri"/>
                          <a:cs typeface="Calibri"/>
                          <a:sym typeface="Calibri"/>
                        </a:rPr>
                        <a:t>Phân loại</a:t>
                      </a:r>
                      <a:endParaRPr sz="1400" u="none" cap="none" strike="noStrike"/>
                    </a:p>
                  </a:txBody>
                  <a:tcPr marT="25400" marB="25400" marR="76200" marL="76200" anchor="ctr">
                    <a:solidFill>
                      <a:srgbClr val="14B8A6"/>
                    </a:solidFill>
                  </a:tcPr>
                </a:tc>
                <a:tc>
                  <a:txBody>
                    <a:bodyPr/>
                    <a:lstStyle/>
                    <a:p>
                      <a:pPr indent="0" lvl="0" marL="0" marR="0" rtl="0" algn="ctr">
                        <a:lnSpc>
                          <a:spcPct val="100000"/>
                        </a:lnSpc>
                        <a:spcBef>
                          <a:spcPts val="0"/>
                        </a:spcBef>
                        <a:spcAft>
                          <a:spcPts val="0"/>
                        </a:spcAft>
                        <a:buClr>
                          <a:srgbClr val="000000"/>
                        </a:buClr>
                        <a:buSzPts val="1150"/>
                        <a:buFont typeface="Arial"/>
                        <a:buNone/>
                      </a:pPr>
                      <a:r>
                        <a:rPr b="1" lang="en-US" sz="1150" u="none" cap="none" strike="noStrike">
                          <a:solidFill>
                            <a:srgbClr val="FFFFFF"/>
                          </a:solidFill>
                          <a:latin typeface="Calibri"/>
                          <a:ea typeface="Calibri"/>
                          <a:cs typeface="Calibri"/>
                          <a:sym typeface="Calibri"/>
                        </a:rPr>
                        <a:t>Khắc phục đề xuất</a:t>
                      </a:r>
                      <a:endParaRPr sz="1400" u="none" cap="none" strike="noStrike"/>
                    </a:p>
                  </a:txBody>
                  <a:tcPr marT="25400" marB="25400" marR="76200" marL="76200" anchor="ctr">
                    <a:solidFill>
                      <a:srgbClr val="14B8A6"/>
                    </a:solidFill>
                  </a:tcPr>
                </a:tc>
              </a:tr>
              <a:tr h="310900">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333333"/>
                          </a:solidFill>
                          <a:latin typeface="Calibri"/>
                          <a:ea typeface="Calibri"/>
                          <a:cs typeface="Calibri"/>
                          <a:sym typeface="Calibri"/>
                        </a:rPr>
                        <a:t>Audit thực tế so với tài liệu PRO-*</a:t>
                      </a:r>
                      <a:endParaRPr sz="1400" u="none" cap="none" strike="noStrike"/>
                    </a:p>
                  </a:txBody>
                  <a:tcPr marT="25400" marB="25400" marR="76200" marL="76200" anchor="ctr">
                    <a:solidFill>
                      <a:srgbClr val="FFFFFF"/>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333333"/>
                          </a:solidFill>
                          <a:latin typeface="Calibri"/>
                          <a:ea typeface="Calibri"/>
                          <a:cs typeface="Calibri"/>
                          <a:sym typeface="Calibri"/>
                        </a:rPr>
                        <a:t>VA</a:t>
                      </a:r>
                      <a:endParaRPr sz="1400" u="none" cap="none" strike="noStrike"/>
                    </a:p>
                  </a:txBody>
                  <a:tcPr marT="25400" marB="25400" marR="76200" marL="76200" anchor="ctr">
                    <a:solidFill>
                      <a:srgbClr val="FFFFFF"/>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333333"/>
                          </a:solidFill>
                          <a:latin typeface="Calibri"/>
                          <a:ea typeface="Calibri"/>
                          <a:cs typeface="Calibri"/>
                          <a:sym typeface="Calibri"/>
                        </a:rPr>
                        <a:t>Risk-based audit — ưu tiên nguồn lực cho dự án rủi ro cao</a:t>
                      </a:r>
                      <a:endParaRPr sz="1400" u="none" cap="none" strike="noStrike"/>
                    </a:p>
                  </a:txBody>
                  <a:tcPr marT="25400" marB="25400" marR="76200" marL="76200" anchor="ctr">
                    <a:solidFill>
                      <a:srgbClr val="FFFFFF"/>
                    </a:solidFill>
                  </a:tcPr>
                </a:tc>
              </a:tr>
              <a:tr h="310900">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333333"/>
                          </a:solidFill>
                          <a:latin typeface="Calibri"/>
                          <a:ea typeface="Calibri"/>
                          <a:cs typeface="Calibri"/>
                          <a:sym typeface="Calibri"/>
                        </a:rPr>
                        <a:t>Cập nhật chuẩn CMMI/ISO</a:t>
                      </a:r>
                      <a:endParaRPr sz="1400" u="none" cap="none" strike="noStrike"/>
                    </a:p>
                  </a:txBody>
                  <a:tcPr marT="25400" marB="25400" marR="76200" marL="76200" anchor="ctr">
                    <a:solidFill>
                      <a:srgbClr val="F1F3F6"/>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333333"/>
                          </a:solidFill>
                          <a:latin typeface="Calibri"/>
                          <a:ea typeface="Calibri"/>
                          <a:cs typeface="Calibri"/>
                          <a:sym typeface="Calibri"/>
                        </a:rPr>
                        <a:t>VA</a:t>
                      </a:r>
                      <a:endParaRPr sz="1400" u="none" cap="none" strike="noStrike"/>
                    </a:p>
                  </a:txBody>
                  <a:tcPr marT="25400" marB="25400" marR="76200" marL="76200" anchor="ctr">
                    <a:solidFill>
                      <a:srgbClr val="F1F3F6"/>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333333"/>
                          </a:solidFill>
                          <a:latin typeface="Calibri"/>
                          <a:ea typeface="Calibri"/>
                          <a:cs typeface="Calibri"/>
                          <a:sym typeface="Calibri"/>
                        </a:rPr>
                        <a:t>Rà soát định kỳ gắn liền với chu kỳ audit</a:t>
                      </a:r>
                      <a:endParaRPr sz="1400" u="none" cap="none" strike="noStrike"/>
                    </a:p>
                  </a:txBody>
                  <a:tcPr marT="25400" marB="25400" marR="76200" marL="76200" anchor="ctr">
                    <a:solidFill>
                      <a:srgbClr val="F1F3F6"/>
                    </a:solidFill>
                  </a:tcPr>
                </a:tc>
              </a:tr>
              <a:tr h="310900">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333333"/>
                          </a:solidFill>
                          <a:latin typeface="Calibri"/>
                          <a:ea typeface="Calibri"/>
                          <a:cs typeface="Calibri"/>
                          <a:sym typeface="Calibri"/>
                        </a:rPr>
                        <a:t>Ghi nhận &amp; theo dõi CAPA</a:t>
                      </a:r>
                      <a:endParaRPr sz="1400" u="none" cap="none" strike="noStrike"/>
                    </a:p>
                  </a:txBody>
                  <a:tcPr marT="25400" marB="25400" marR="76200" marL="76200" anchor="ctr">
                    <a:solidFill>
                      <a:srgbClr val="FFFFFF"/>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333333"/>
                          </a:solidFill>
                          <a:latin typeface="Calibri"/>
                          <a:ea typeface="Calibri"/>
                          <a:cs typeface="Calibri"/>
                          <a:sym typeface="Calibri"/>
                        </a:rPr>
                        <a:t>BVA</a:t>
                      </a:r>
                      <a:endParaRPr sz="1400" u="none" cap="none" strike="noStrike"/>
                    </a:p>
                  </a:txBody>
                  <a:tcPr marT="25400" marB="25400" marR="76200" marL="76200" anchor="ctr">
                    <a:solidFill>
                      <a:srgbClr val="FFFFFF"/>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333333"/>
                          </a:solidFill>
                          <a:latin typeface="Calibri"/>
                          <a:ea typeface="Calibri"/>
                          <a:cs typeface="Calibri"/>
                          <a:sym typeface="Calibri"/>
                        </a:rPr>
                        <a:t>Số hóa theo dõi, cảnh báo tự động khi sắp trễ hạn</a:t>
                      </a:r>
                      <a:endParaRPr sz="1400" u="none" cap="none" strike="noStrike"/>
                    </a:p>
                  </a:txBody>
                  <a:tcPr marT="25400" marB="25400" marR="76200" marL="76200" anchor="ctr">
                    <a:solidFill>
                      <a:srgbClr val="FFFFFF"/>
                    </a:solidFill>
                  </a:tcPr>
                </a:tc>
              </a:tr>
              <a:tr h="310900">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333333"/>
                          </a:solidFill>
                          <a:latin typeface="Calibri"/>
                          <a:ea typeface="Calibri"/>
                          <a:cs typeface="Calibri"/>
                          <a:sym typeface="Calibri"/>
                        </a:rPr>
                        <a:t>Ghi NC thủ công trên bảng tính</a:t>
                      </a:r>
                      <a:endParaRPr sz="1400" u="none" cap="none" strike="noStrike"/>
                    </a:p>
                  </a:txBody>
                  <a:tcPr marT="25400" marB="25400" marR="76200" marL="76200" anchor="ctr">
                    <a:solidFill>
                      <a:srgbClr val="F1F3F6"/>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333333"/>
                          </a:solidFill>
                          <a:latin typeface="Calibri"/>
                          <a:ea typeface="Calibri"/>
                          <a:cs typeface="Calibri"/>
                          <a:sym typeface="Calibri"/>
                        </a:rPr>
                        <a:t>NVA</a:t>
                      </a:r>
                      <a:endParaRPr sz="1400" u="none" cap="none" strike="noStrike"/>
                    </a:p>
                  </a:txBody>
                  <a:tcPr marT="25400" marB="25400" marR="76200" marL="76200" anchor="ctr">
                    <a:solidFill>
                      <a:srgbClr val="F1F3F6"/>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333333"/>
                          </a:solidFill>
                          <a:latin typeface="Calibri"/>
                          <a:ea typeface="Calibri"/>
                          <a:cs typeface="Calibri"/>
                          <a:sym typeface="Calibri"/>
                        </a:rPr>
                        <a:t>Số hóa trên nền tảng quản lý chất lượng (QMS) tập trung</a:t>
                      </a:r>
                      <a:endParaRPr sz="1400" u="none" cap="none" strike="noStrike"/>
                    </a:p>
                  </a:txBody>
                  <a:tcPr marT="25400" marB="25400" marR="76200" marL="76200" anchor="ctr">
                    <a:solidFill>
                      <a:srgbClr val="F1F3F6"/>
                    </a:solidFill>
                  </a:tcPr>
                </a:tc>
              </a:tr>
            </a:tbl>
          </a:graphicData>
        </a:graphic>
      </p:graphicFrame>
      <p:sp>
        <p:nvSpPr>
          <p:cNvPr id="298" name="Google Shape;298;p9"/>
          <p:cNvSpPr txBox="1"/>
          <p:nvPr/>
        </p:nvSpPr>
        <p:spPr>
          <a:xfrm>
            <a:off x="502920" y="3246120"/>
            <a:ext cx="11155800" cy="200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chemeClr val="dk1"/>
                </a:solidFill>
                <a:latin typeface="Calibri"/>
                <a:ea typeface="Calibri"/>
                <a:cs typeface="Calibri"/>
                <a:sym typeface="Calibri"/>
              </a:rPr>
              <a:t>PHÂN TÍCH SỰ LÃNG PHÍ (MOVE / HOLD / OVERDO)</a:t>
            </a:r>
            <a:endParaRPr b="0" i="0" sz="1400" u="none" cap="none" strike="noStrike">
              <a:solidFill>
                <a:schemeClr val="dk1"/>
              </a:solidFill>
              <a:latin typeface="Arial"/>
              <a:ea typeface="Arial"/>
              <a:cs typeface="Arial"/>
              <a:sym typeface="Arial"/>
            </a:endParaRPr>
          </a:p>
        </p:txBody>
      </p:sp>
      <p:graphicFrame>
        <p:nvGraphicFramePr>
          <p:cNvPr id="299" name="Google Shape;299;p9"/>
          <p:cNvGraphicFramePr/>
          <p:nvPr/>
        </p:nvGraphicFramePr>
        <p:xfrm>
          <a:off x="502920" y="3584448"/>
          <a:ext cx="3000000" cy="3000000"/>
        </p:xfrm>
        <a:graphic>
          <a:graphicData uri="http://schemas.openxmlformats.org/drawingml/2006/table">
            <a:tbl>
              <a:tblPr bandRow="1" firstRow="1">
                <a:noFill/>
                <a:tableStyleId>{660C12F0-EA0F-4C08-B8CF-7D1332A2121B}</a:tableStyleId>
              </a:tblPr>
              <a:tblGrid>
                <a:gridCol w="1183875"/>
                <a:gridCol w="5646225"/>
                <a:gridCol w="4371275"/>
              </a:tblGrid>
              <a:tr h="320050">
                <a:tc>
                  <a:txBody>
                    <a:bodyPr/>
                    <a:lstStyle/>
                    <a:p>
                      <a:pPr indent="0" lvl="0" marL="0" marR="0" rtl="0" algn="ctr">
                        <a:lnSpc>
                          <a:spcPct val="100000"/>
                        </a:lnSpc>
                        <a:spcBef>
                          <a:spcPts val="0"/>
                        </a:spcBef>
                        <a:spcAft>
                          <a:spcPts val="0"/>
                        </a:spcAft>
                        <a:buClr>
                          <a:srgbClr val="000000"/>
                        </a:buClr>
                        <a:buSzPts val="1150"/>
                        <a:buFont typeface="Arial"/>
                        <a:buNone/>
                      </a:pPr>
                      <a:r>
                        <a:rPr b="1" lang="en-US" sz="1150" u="none" cap="none" strike="noStrike">
                          <a:solidFill>
                            <a:srgbClr val="FFFFFF"/>
                          </a:solidFill>
                          <a:latin typeface="Calibri"/>
                          <a:ea typeface="Calibri"/>
                          <a:cs typeface="Calibri"/>
                          <a:sym typeface="Calibri"/>
                        </a:rPr>
                        <a:t>Loại lãng phí</a:t>
                      </a:r>
                      <a:endParaRPr sz="1400" u="none" cap="none" strike="noStrike"/>
                    </a:p>
                  </a:txBody>
                  <a:tcPr marT="25400" marB="25400" marR="76200" marL="76200" anchor="ctr">
                    <a:solidFill>
                      <a:srgbClr val="14B8A6"/>
                    </a:solidFill>
                  </a:tcPr>
                </a:tc>
                <a:tc>
                  <a:txBody>
                    <a:bodyPr/>
                    <a:lstStyle/>
                    <a:p>
                      <a:pPr indent="0" lvl="0" marL="0" marR="0" rtl="0" algn="ctr">
                        <a:lnSpc>
                          <a:spcPct val="100000"/>
                        </a:lnSpc>
                        <a:spcBef>
                          <a:spcPts val="0"/>
                        </a:spcBef>
                        <a:spcAft>
                          <a:spcPts val="0"/>
                        </a:spcAft>
                        <a:buClr>
                          <a:srgbClr val="000000"/>
                        </a:buClr>
                        <a:buSzPts val="1150"/>
                        <a:buFont typeface="Arial"/>
                        <a:buNone/>
                      </a:pPr>
                      <a:r>
                        <a:rPr b="1" lang="en-US" sz="1150" u="none" cap="none" strike="noStrike">
                          <a:solidFill>
                            <a:srgbClr val="FFFFFF"/>
                          </a:solidFill>
                          <a:latin typeface="Calibri"/>
                          <a:ea typeface="Calibri"/>
                          <a:cs typeface="Calibri"/>
                          <a:sym typeface="Calibri"/>
                        </a:rPr>
                        <a:t>Mô tả</a:t>
                      </a:r>
                      <a:endParaRPr sz="1400" u="none" cap="none" strike="noStrike"/>
                    </a:p>
                  </a:txBody>
                  <a:tcPr marT="25400" marB="25400" marR="76200" marL="76200" anchor="ctr">
                    <a:solidFill>
                      <a:srgbClr val="14B8A6"/>
                    </a:solidFill>
                  </a:tcPr>
                </a:tc>
                <a:tc>
                  <a:txBody>
                    <a:bodyPr/>
                    <a:lstStyle/>
                    <a:p>
                      <a:pPr indent="0" lvl="0" marL="0" marR="0" rtl="0" algn="ctr">
                        <a:lnSpc>
                          <a:spcPct val="100000"/>
                        </a:lnSpc>
                        <a:spcBef>
                          <a:spcPts val="0"/>
                        </a:spcBef>
                        <a:spcAft>
                          <a:spcPts val="0"/>
                        </a:spcAft>
                        <a:buClr>
                          <a:srgbClr val="000000"/>
                        </a:buClr>
                        <a:buSzPts val="1150"/>
                        <a:buFont typeface="Arial"/>
                        <a:buNone/>
                      </a:pPr>
                      <a:r>
                        <a:rPr b="1" lang="en-US" sz="1150" u="none" cap="none" strike="noStrike">
                          <a:solidFill>
                            <a:srgbClr val="FFFFFF"/>
                          </a:solidFill>
                          <a:latin typeface="Calibri"/>
                          <a:ea typeface="Calibri"/>
                          <a:cs typeface="Calibri"/>
                          <a:sym typeface="Calibri"/>
                        </a:rPr>
                        <a:t>Khắc phục đề xuất</a:t>
                      </a:r>
                      <a:endParaRPr sz="1400" u="none" cap="none" strike="noStrike"/>
                    </a:p>
                  </a:txBody>
                  <a:tcPr marT="25400" marB="25400" marR="76200" marL="76200" anchor="ctr">
                    <a:solidFill>
                      <a:srgbClr val="14B8A6"/>
                    </a:solidFill>
                  </a:tcPr>
                </a:tc>
              </a:tr>
              <a:tr h="320050">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333333"/>
                          </a:solidFill>
                          <a:latin typeface="Calibri"/>
                          <a:ea typeface="Calibri"/>
                          <a:cs typeface="Calibri"/>
                          <a:sym typeface="Calibri"/>
                        </a:rPr>
                        <a:t>Move</a:t>
                      </a:r>
                      <a:endParaRPr sz="1400" u="none" cap="none" strike="noStrike"/>
                    </a:p>
                  </a:txBody>
                  <a:tcPr marT="25400" marB="25400" marR="76200" marL="76200" anchor="ctr">
                    <a:solidFill>
                      <a:srgbClr val="FFFFFF"/>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333333"/>
                          </a:solidFill>
                          <a:latin typeface="Calibri"/>
                          <a:ea typeface="Calibri"/>
                          <a:cs typeface="Calibri"/>
                          <a:sym typeface="Calibri"/>
                        </a:rPr>
                        <a:t>NC &amp; yêu cầu CAPA trao đổi qua email rời rạc giữa QA và PM, dễ thất lạc thông tin</a:t>
                      </a:r>
                      <a:endParaRPr sz="1400" u="none" cap="none" strike="noStrike"/>
                    </a:p>
                  </a:txBody>
                  <a:tcPr marT="25400" marB="25400" marR="76200" marL="76200" anchor="ctr">
                    <a:solidFill>
                      <a:srgbClr val="FFFFFF"/>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333333"/>
                          </a:solidFill>
                          <a:latin typeface="Calibri"/>
                          <a:ea typeface="Calibri"/>
                          <a:cs typeface="Calibri"/>
                          <a:sym typeface="Calibri"/>
                        </a:rPr>
                        <a:t>Hệ thống ticket quản lý NC/CAPA tập trung</a:t>
                      </a:r>
                      <a:endParaRPr sz="1400" u="none" cap="none" strike="noStrike"/>
                    </a:p>
                  </a:txBody>
                  <a:tcPr marT="25400" marB="25400" marR="76200" marL="76200" anchor="ctr">
                    <a:solidFill>
                      <a:srgbClr val="FFFFFF"/>
                    </a:solidFill>
                  </a:tcPr>
                </a:tc>
              </a:tr>
              <a:tr h="320050">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333333"/>
                          </a:solidFill>
                          <a:latin typeface="Calibri"/>
                          <a:ea typeface="Calibri"/>
                          <a:cs typeface="Calibri"/>
                          <a:sym typeface="Calibri"/>
                        </a:rPr>
                        <a:t>Hold</a:t>
                      </a:r>
                      <a:endParaRPr sz="1400" u="none" cap="none" strike="noStrike"/>
                    </a:p>
                  </a:txBody>
                  <a:tcPr marT="25400" marB="25400" marR="76200" marL="76200" anchor="ctr">
                    <a:solidFill>
                      <a:srgbClr val="F1F3F6"/>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333333"/>
                          </a:solidFill>
                          <a:latin typeface="Calibri"/>
                          <a:ea typeface="Calibri"/>
                          <a:cs typeface="Calibri"/>
                          <a:sym typeface="Calibri"/>
                        </a:rPr>
                        <a:t>PM chậm phản hồi kế hoạch CAPA, QA phải chờ xác nhận thủ công trước khi đóng NC</a:t>
                      </a:r>
                      <a:endParaRPr sz="1400" u="none" cap="none" strike="noStrike"/>
                    </a:p>
                  </a:txBody>
                  <a:tcPr marT="25400" marB="25400" marR="76200" marL="76200" anchor="ctr">
                    <a:solidFill>
                      <a:srgbClr val="F1F3F6"/>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333333"/>
                          </a:solidFill>
                          <a:latin typeface="Calibri"/>
                          <a:ea typeface="Calibri"/>
                          <a:cs typeface="Calibri"/>
                          <a:sym typeface="Calibri"/>
                        </a:rPr>
                        <a:t>SLA nội bộ: phản hồi CAPA trong 3 ngày làm việc</a:t>
                      </a:r>
                      <a:endParaRPr sz="1400" u="none" cap="none" strike="noStrike"/>
                    </a:p>
                  </a:txBody>
                  <a:tcPr marT="25400" marB="25400" marR="76200" marL="76200" anchor="ctr">
                    <a:solidFill>
                      <a:srgbClr val="F1F3F6"/>
                    </a:solidFill>
                  </a:tcPr>
                </a:tc>
              </a:tr>
              <a:tr h="320050">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333333"/>
                          </a:solidFill>
                          <a:latin typeface="Calibri"/>
                          <a:ea typeface="Calibri"/>
                          <a:cs typeface="Calibri"/>
                          <a:sym typeface="Calibri"/>
                        </a:rPr>
                        <a:t>Overdo</a:t>
                      </a:r>
                      <a:endParaRPr sz="1400" u="none" cap="none" strike="noStrike"/>
                    </a:p>
                  </a:txBody>
                  <a:tcPr marT="25400" marB="25400" marR="76200" marL="76200" anchor="ctr">
                    <a:solidFill>
                      <a:srgbClr val="FFFFFF"/>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333333"/>
                          </a:solidFill>
                          <a:latin typeface="Calibri"/>
                          <a:ea typeface="Calibri"/>
                          <a:cs typeface="Calibri"/>
                          <a:sym typeface="Calibri"/>
                        </a:rPr>
                        <a:t>Audit checklist áp dụng chi tiết như nhau cho mọi dự án bất kể mức độ rủi ro</a:t>
                      </a:r>
                      <a:endParaRPr sz="1400" u="none" cap="none" strike="noStrike"/>
                    </a:p>
                  </a:txBody>
                  <a:tcPr marT="25400" marB="25400" marR="76200" marL="76200" anchor="ctr">
                    <a:solidFill>
                      <a:srgbClr val="FFFFFF"/>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333333"/>
                          </a:solidFill>
                          <a:latin typeface="Calibri"/>
                          <a:ea typeface="Calibri"/>
                          <a:cs typeface="Calibri"/>
                          <a:sym typeface="Calibri"/>
                        </a:rPr>
                        <a:t>Audit theo mức độ rủi ro (risk-based audit)</a:t>
                      </a:r>
                      <a:endParaRPr sz="1400" u="none" cap="none" strike="noStrike"/>
                    </a:p>
                  </a:txBody>
                  <a:tcPr marT="25400" marB="25400" marR="76200" marL="76200" anchor="ctr">
                    <a:solidFill>
                      <a:srgbClr val="FFFFFF"/>
                    </a:solidFill>
                  </a:tcPr>
                </a:tc>
              </a:tr>
            </a:tbl>
          </a:graphicData>
        </a:graphic>
      </p:graphicFrame>
      <p:sp>
        <p:nvSpPr>
          <p:cNvPr id="300" name="Google Shape;300;p9"/>
          <p:cNvSpPr txBox="1"/>
          <p:nvPr/>
        </p:nvSpPr>
        <p:spPr>
          <a:xfrm>
            <a:off x="502920" y="5257800"/>
            <a:ext cx="11155800" cy="200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chemeClr val="dk1"/>
                </a:solidFill>
                <a:latin typeface="Calibri"/>
                <a:ea typeface="Calibri"/>
                <a:cs typeface="Calibri"/>
                <a:sym typeface="Calibri"/>
              </a:rPr>
              <a:t>CÁC BÊN LIÊN QUAN CHÍNH</a:t>
            </a:r>
            <a:endParaRPr b="0" i="0" sz="1400" u="none" cap="none" strike="noStrike">
              <a:solidFill>
                <a:schemeClr val="dk1"/>
              </a:solidFill>
              <a:latin typeface="Arial"/>
              <a:ea typeface="Arial"/>
              <a:cs typeface="Arial"/>
              <a:sym typeface="Arial"/>
            </a:endParaRPr>
          </a:p>
        </p:txBody>
      </p:sp>
      <p:sp>
        <p:nvSpPr>
          <p:cNvPr id="301" name="Google Shape;301;p9"/>
          <p:cNvSpPr txBox="1"/>
          <p:nvPr/>
        </p:nvSpPr>
        <p:spPr>
          <a:xfrm>
            <a:off x="502920" y="5577840"/>
            <a:ext cx="11155800" cy="4143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Clr>
                <a:srgbClr val="000000"/>
              </a:buClr>
              <a:buSzPts val="1150"/>
              <a:buFont typeface="Arial"/>
              <a:buNone/>
            </a:pPr>
            <a:r>
              <a:rPr b="1" i="0" lang="en-US" sz="1150" u="none" cap="none" strike="noStrike">
                <a:solidFill>
                  <a:schemeClr val="dk1"/>
                </a:solidFill>
                <a:latin typeface="Calibri"/>
                <a:ea typeface="Calibri"/>
                <a:cs typeface="Calibri"/>
                <a:sym typeface="Calibri"/>
              </a:rPr>
              <a:t>›  QA Manager &amp; BOD: </a:t>
            </a:r>
            <a:r>
              <a:rPr b="0" i="0" lang="en-US" sz="1150" u="none" cap="none" strike="noStrike">
                <a:solidFill>
                  <a:schemeClr val="dk1"/>
                </a:solidFill>
                <a:latin typeface="Calibri"/>
                <a:ea typeface="Calibri"/>
                <a:cs typeface="Calibri"/>
                <a:sym typeface="Calibri"/>
              </a:rPr>
              <a:t>cần audit đúng kế hoạch, chứng nhận CMMI/ISO không bị treo.</a:t>
            </a:r>
            <a:endParaRPr b="0" i="0" sz="1400" u="none" cap="none" strike="noStrike">
              <a:solidFill>
                <a:schemeClr val="dk1"/>
              </a:solidFill>
              <a:latin typeface="Arial"/>
              <a:ea typeface="Arial"/>
              <a:cs typeface="Arial"/>
              <a:sym typeface="Arial"/>
            </a:endParaRPr>
          </a:p>
          <a:p>
            <a:pPr indent="0" lvl="0" marL="0" marR="0" rtl="0" algn="l">
              <a:lnSpc>
                <a:spcPct val="105000"/>
              </a:lnSpc>
              <a:spcBef>
                <a:spcPts val="400"/>
              </a:spcBef>
              <a:spcAft>
                <a:spcPts val="0"/>
              </a:spcAft>
              <a:buClr>
                <a:srgbClr val="000000"/>
              </a:buClr>
              <a:buSzPts val="1150"/>
              <a:buFont typeface="Arial"/>
              <a:buNone/>
            </a:pPr>
            <a:r>
              <a:rPr b="1" i="0" lang="en-US" sz="1150" u="none" cap="none" strike="noStrike">
                <a:solidFill>
                  <a:schemeClr val="dk1"/>
                </a:solidFill>
                <a:latin typeface="Calibri"/>
                <a:ea typeface="Calibri"/>
                <a:cs typeface="Calibri"/>
                <a:sym typeface="Calibri"/>
              </a:rPr>
              <a:t>›  Project Manager (bị audit) &amp; khách hàng gián tiếp: </a:t>
            </a:r>
            <a:r>
              <a:rPr b="0" i="0" lang="en-US" sz="1150" u="none" cap="none" strike="noStrike">
                <a:solidFill>
                  <a:schemeClr val="dk1"/>
                </a:solidFill>
                <a:latin typeface="Calibri"/>
                <a:ea typeface="Calibri"/>
                <a:cs typeface="Calibri"/>
                <a:sym typeface="Calibri"/>
              </a:rPr>
              <a:t>ch</a:t>
            </a:r>
            <a:r>
              <a:rPr b="0" i="0" lang="en-US" sz="1150" u="none" cap="none" strike="noStrike">
                <a:solidFill>
                  <a:srgbClr val="333333"/>
                </a:solidFill>
                <a:latin typeface="Calibri"/>
                <a:ea typeface="Calibri"/>
                <a:cs typeface="Calibri"/>
                <a:sym typeface="Calibri"/>
              </a:rPr>
              <a:t>ịu trách nhiệm khắc phục CAPA đúng hạn; rủi ro nếu NC ảnh hưởng chất lượng bàn giao.</a:t>
            </a:r>
            <a:endParaRPr b="0" i="0" sz="1400" u="none" cap="none" strike="noStrike">
              <a:solidFill>
                <a:srgbClr val="000000"/>
              </a:solidFill>
              <a:latin typeface="Arial"/>
              <a:ea typeface="Arial"/>
              <a:cs typeface="Arial"/>
              <a:sym typeface="Arial"/>
            </a:endParaRPr>
          </a:p>
        </p:txBody>
      </p:sp>
      <p:sp>
        <p:nvSpPr>
          <p:cNvPr id="302" name="Google Shape;302;p9"/>
          <p:cNvSpPr txBox="1"/>
          <p:nvPr/>
        </p:nvSpPr>
        <p:spPr>
          <a:xfrm>
            <a:off x="502920" y="6528816"/>
            <a:ext cx="731520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50"/>
              <a:buFont typeface="Arial"/>
              <a:buNone/>
            </a:pPr>
            <a:r>
              <a:rPr b="0" i="1" lang="en-US" sz="950" u="none" cap="none" strike="noStrike">
                <a:solidFill>
                  <a:srgbClr val="595959"/>
                </a:solidFill>
                <a:latin typeface="Calibri"/>
                <a:ea typeface="Calibri"/>
                <a:cs typeface="Calibri"/>
                <a:sym typeface="Calibri"/>
              </a:rPr>
              <a:t>IE203 – Quản trị quy trình nghiệp vụ  |  OR Tech</a:t>
            </a:r>
            <a:endParaRPr b="0" i="0" sz="1400" u="none" cap="none" strike="noStrike">
              <a:solidFill>
                <a:srgbClr val="000000"/>
              </a:solidFill>
              <a:latin typeface="Arial"/>
              <a:ea typeface="Arial"/>
              <a:cs typeface="Arial"/>
              <a:sym typeface="Arial"/>
            </a:endParaRPr>
          </a:p>
        </p:txBody>
      </p:sp>
      <p:sp>
        <p:nvSpPr>
          <p:cNvPr id="303" name="Google Shape;303;p9"/>
          <p:cNvSpPr txBox="1"/>
          <p:nvPr/>
        </p:nvSpPr>
        <p:spPr>
          <a:xfrm>
            <a:off x="11338560" y="6528816"/>
            <a:ext cx="457200" cy="27432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050"/>
              <a:buFont typeface="Arial"/>
              <a:buNone/>
            </a:pPr>
            <a:r>
              <a:rPr b="1" i="0" lang="en-US" sz="1050" u="none" cap="none" strike="noStrike">
                <a:solidFill>
                  <a:srgbClr val="595959"/>
                </a:solidFill>
                <a:latin typeface="Calibri"/>
                <a:ea typeface="Calibri"/>
                <a:cs typeface="Calibri"/>
                <a:sym typeface="Calibri"/>
              </a:rPr>
              <a:t>8</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10"/>
          <p:cNvSpPr/>
          <p:nvPr/>
        </p:nvSpPr>
        <p:spPr>
          <a:xfrm>
            <a:off x="0" y="-24650"/>
            <a:ext cx="121917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10" name="Google Shape;310;p10"/>
          <p:cNvSpPr/>
          <p:nvPr/>
        </p:nvSpPr>
        <p:spPr>
          <a:xfrm>
            <a:off x="0" y="0"/>
            <a:ext cx="12191695" cy="960120"/>
          </a:xfrm>
          <a:prstGeom prst="rect">
            <a:avLst/>
          </a:prstGeom>
          <a:solidFill>
            <a:srgbClr val="14B8A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11" name="Google Shape;311;p10"/>
          <p:cNvSpPr/>
          <p:nvPr/>
        </p:nvSpPr>
        <p:spPr>
          <a:xfrm>
            <a:off x="0" y="960120"/>
            <a:ext cx="12191695" cy="38100"/>
          </a:xfrm>
          <a:prstGeom prst="rect">
            <a:avLst/>
          </a:prstGeom>
          <a:solidFill>
            <a:srgbClr val="00F5D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12" name="Google Shape;312;p10"/>
          <p:cNvSpPr txBox="1"/>
          <p:nvPr/>
        </p:nvSpPr>
        <p:spPr>
          <a:xfrm>
            <a:off x="502920" y="91440"/>
            <a:ext cx="100584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lt1"/>
                </a:solidFill>
                <a:latin typeface="Calibri"/>
                <a:ea typeface="Calibri"/>
                <a:cs typeface="Calibri"/>
                <a:sym typeface="Calibri"/>
              </a:rPr>
              <a:t>QUY TRÌNH 1 · MANAGEMENT · MỤC 4</a:t>
            </a:r>
            <a:endParaRPr b="0" i="0" sz="1400" u="none" cap="none" strike="noStrike">
              <a:solidFill>
                <a:schemeClr val="lt1"/>
              </a:solidFill>
              <a:latin typeface="Arial"/>
              <a:ea typeface="Arial"/>
              <a:cs typeface="Arial"/>
              <a:sym typeface="Arial"/>
            </a:endParaRPr>
          </a:p>
        </p:txBody>
      </p:sp>
      <p:sp>
        <p:nvSpPr>
          <p:cNvPr id="313" name="Google Shape;313;p10"/>
          <p:cNvSpPr txBox="1"/>
          <p:nvPr/>
        </p:nvSpPr>
        <p:spPr>
          <a:xfrm>
            <a:off x="502920" y="365760"/>
            <a:ext cx="10972800" cy="5486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FFFFFF"/>
                </a:solidFill>
                <a:latin typeface="Calibri"/>
                <a:ea typeface="Calibri"/>
                <a:cs typeface="Calibri"/>
                <a:sym typeface="Calibri"/>
              </a:rPr>
              <a:t>Quản lý Chất lượng — Phân tích định lượng</a:t>
            </a:r>
            <a:endParaRPr b="0" i="0" sz="1400" u="none" cap="none" strike="noStrike">
              <a:solidFill>
                <a:srgbClr val="000000"/>
              </a:solidFill>
              <a:latin typeface="Arial"/>
              <a:ea typeface="Arial"/>
              <a:cs typeface="Arial"/>
              <a:sym typeface="Arial"/>
            </a:endParaRPr>
          </a:p>
        </p:txBody>
      </p:sp>
      <p:pic>
        <p:nvPicPr>
          <p:cNvPr descr="pareto_quality.png" id="314" name="Google Shape;314;p10"/>
          <p:cNvPicPr preferRelativeResize="0"/>
          <p:nvPr/>
        </p:nvPicPr>
        <p:blipFill rotWithShape="1">
          <a:blip r:embed="rId3">
            <a:alphaModFix/>
          </a:blip>
          <a:srcRect b="0" l="0" r="0" t="0"/>
          <a:stretch/>
        </p:blipFill>
        <p:spPr>
          <a:xfrm>
            <a:off x="457200" y="1200150"/>
            <a:ext cx="6442299" cy="3139350"/>
          </a:xfrm>
          <a:prstGeom prst="rect">
            <a:avLst/>
          </a:prstGeom>
          <a:noFill/>
          <a:ln>
            <a:noFill/>
          </a:ln>
        </p:spPr>
      </p:pic>
      <p:sp>
        <p:nvSpPr>
          <p:cNvPr id="315" name="Google Shape;315;p10"/>
          <p:cNvSpPr txBox="1"/>
          <p:nvPr/>
        </p:nvSpPr>
        <p:spPr>
          <a:xfrm>
            <a:off x="7040740" y="1352450"/>
            <a:ext cx="4755000" cy="200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chemeClr val="dk1"/>
                </a:solidFill>
                <a:latin typeface="Calibri"/>
                <a:ea typeface="Calibri"/>
                <a:cs typeface="Calibri"/>
                <a:sym typeface="Calibri"/>
              </a:rPr>
              <a:t>ROOT-CAUSE NỔI BẬT NHẤT</a:t>
            </a:r>
            <a:endParaRPr b="0" i="0" sz="1400" u="none" cap="none" strike="noStrike">
              <a:solidFill>
                <a:schemeClr val="dk1"/>
              </a:solidFill>
              <a:latin typeface="Arial"/>
              <a:ea typeface="Arial"/>
              <a:cs typeface="Arial"/>
              <a:sym typeface="Arial"/>
            </a:endParaRPr>
          </a:p>
        </p:txBody>
      </p:sp>
      <p:sp>
        <p:nvSpPr>
          <p:cNvPr id="316" name="Google Shape;316;p10"/>
          <p:cNvSpPr txBox="1"/>
          <p:nvPr/>
        </p:nvSpPr>
        <p:spPr>
          <a:xfrm>
            <a:off x="7040740" y="1690778"/>
            <a:ext cx="4755000" cy="14142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Clr>
                <a:srgbClr val="000000"/>
              </a:buClr>
              <a:buSzPts val="1150"/>
              <a:buFont typeface="Arial"/>
              <a:buNone/>
            </a:pPr>
            <a:r>
              <a:rPr b="1" i="0" lang="en-US" sz="1150" u="none" cap="none" strike="noStrike">
                <a:solidFill>
                  <a:schemeClr val="dk1"/>
                </a:solidFill>
                <a:latin typeface="Calibri"/>
                <a:ea typeface="Calibri"/>
                <a:cs typeface="Calibri"/>
                <a:sym typeface="Calibri"/>
              </a:rPr>
              <a:t>›  Vấn đề: </a:t>
            </a:r>
            <a:r>
              <a:rPr b="0" i="0" lang="en-US" sz="1150" u="none" cap="none" strike="noStrike">
                <a:solidFill>
                  <a:schemeClr val="dk1"/>
                </a:solidFill>
                <a:latin typeface="Calibri"/>
                <a:ea typeface="Calibri"/>
                <a:cs typeface="Calibri"/>
                <a:sym typeface="Calibri"/>
              </a:rPr>
              <a:t>Tài liệu PRO-* chưa cập nhật kịp thời (nguyên nhân hàng đầu, ~28% số NC).</a:t>
            </a:r>
            <a:endParaRPr b="0" i="0" sz="1400" u="none" cap="none" strike="noStrike">
              <a:solidFill>
                <a:schemeClr val="dk1"/>
              </a:solidFill>
              <a:latin typeface="Arial"/>
              <a:ea typeface="Arial"/>
              <a:cs typeface="Arial"/>
              <a:sym typeface="Arial"/>
            </a:endParaRPr>
          </a:p>
          <a:p>
            <a:pPr indent="0" lvl="0" marL="0" marR="0" rtl="0" algn="l">
              <a:lnSpc>
                <a:spcPct val="105000"/>
              </a:lnSpc>
              <a:spcBef>
                <a:spcPts val="600"/>
              </a:spcBef>
              <a:spcAft>
                <a:spcPts val="0"/>
              </a:spcAft>
              <a:buClr>
                <a:srgbClr val="000000"/>
              </a:buClr>
              <a:buSzPts val="1150"/>
              <a:buFont typeface="Arial"/>
              <a:buNone/>
            </a:pPr>
            <a:r>
              <a:rPr b="1" i="0" lang="en-US" sz="1150" u="none" cap="none" strike="noStrike">
                <a:solidFill>
                  <a:schemeClr val="dk1"/>
                </a:solidFill>
                <a:latin typeface="Calibri"/>
                <a:ea typeface="Calibri"/>
                <a:cs typeface="Calibri"/>
                <a:sym typeface="Calibri"/>
              </a:rPr>
              <a:t>›  </a:t>
            </a:r>
            <a:r>
              <a:rPr b="0" i="0" lang="en-US" sz="1150" u="none" cap="none" strike="noStrike">
                <a:solidFill>
                  <a:schemeClr val="dk1"/>
                </a:solidFill>
                <a:latin typeface="Calibri"/>
                <a:ea typeface="Calibri"/>
                <a:cs typeface="Calibri"/>
                <a:sym typeface="Calibri"/>
              </a:rPr>
              <a:t>Vì: PRO-* cập nhật thủ công, phụ thuộc một mình QA Manager.</a:t>
            </a:r>
            <a:endParaRPr b="0" i="0" sz="1400" u="none" cap="none" strike="noStrike">
              <a:solidFill>
                <a:schemeClr val="dk1"/>
              </a:solidFill>
              <a:latin typeface="Arial"/>
              <a:ea typeface="Arial"/>
              <a:cs typeface="Arial"/>
              <a:sym typeface="Arial"/>
            </a:endParaRPr>
          </a:p>
          <a:p>
            <a:pPr indent="0" lvl="0" marL="0" marR="0" rtl="0" algn="l">
              <a:lnSpc>
                <a:spcPct val="105000"/>
              </a:lnSpc>
              <a:spcBef>
                <a:spcPts val="600"/>
              </a:spcBef>
              <a:spcAft>
                <a:spcPts val="0"/>
              </a:spcAft>
              <a:buClr>
                <a:srgbClr val="000000"/>
              </a:buClr>
              <a:buSzPts val="1150"/>
              <a:buFont typeface="Arial"/>
              <a:buNone/>
            </a:pPr>
            <a:r>
              <a:rPr b="1" i="0" lang="en-US" sz="1150" u="none" cap="none" strike="noStrike">
                <a:solidFill>
                  <a:schemeClr val="dk1"/>
                </a:solidFill>
                <a:latin typeface="Calibri"/>
                <a:ea typeface="Calibri"/>
                <a:cs typeface="Calibri"/>
                <a:sym typeface="Calibri"/>
              </a:rPr>
              <a:t>›  </a:t>
            </a:r>
            <a:r>
              <a:rPr b="0" i="0" lang="en-US" sz="1150" u="none" cap="none" strike="noStrike">
                <a:solidFill>
                  <a:schemeClr val="dk1"/>
                </a:solidFill>
                <a:latin typeface="Calibri"/>
                <a:ea typeface="Calibri"/>
                <a:cs typeface="Calibri"/>
                <a:sym typeface="Calibri"/>
              </a:rPr>
              <a:t>Vì: chưa có lịch rà soát định kỳ gắn với chu kỳ audit.</a:t>
            </a:r>
            <a:endParaRPr b="0" i="0" sz="1400" u="none" cap="none" strike="noStrike">
              <a:solidFill>
                <a:schemeClr val="dk1"/>
              </a:solidFill>
              <a:latin typeface="Arial"/>
              <a:ea typeface="Arial"/>
              <a:cs typeface="Arial"/>
              <a:sym typeface="Arial"/>
            </a:endParaRPr>
          </a:p>
          <a:p>
            <a:pPr indent="0" lvl="0" marL="0" marR="0" rtl="0" algn="l">
              <a:lnSpc>
                <a:spcPct val="105000"/>
              </a:lnSpc>
              <a:spcBef>
                <a:spcPts val="600"/>
              </a:spcBef>
              <a:spcAft>
                <a:spcPts val="0"/>
              </a:spcAft>
              <a:buClr>
                <a:srgbClr val="000000"/>
              </a:buClr>
              <a:buSzPts val="1150"/>
              <a:buFont typeface="Arial"/>
              <a:buNone/>
            </a:pPr>
            <a:r>
              <a:rPr b="1" i="0" lang="en-US" sz="1150" u="none" cap="none" strike="noStrike">
                <a:solidFill>
                  <a:schemeClr val="dk1"/>
                </a:solidFill>
                <a:latin typeface="Calibri"/>
                <a:ea typeface="Calibri"/>
                <a:cs typeface="Calibri"/>
                <a:sym typeface="Calibri"/>
              </a:rPr>
              <a:t>›  </a:t>
            </a:r>
            <a:r>
              <a:rPr b="0" i="0" lang="en-US" sz="1150" u="none" cap="none" strike="noStrike">
                <a:solidFill>
                  <a:schemeClr val="dk1"/>
                </a:solidFill>
                <a:latin typeface="Calibri"/>
                <a:ea typeface="Calibri"/>
                <a:cs typeface="Calibri"/>
                <a:sym typeface="Calibri"/>
              </a:rPr>
              <a:t>Vì: khối lượng audit hàng quý chiếm phần lớn thời gian QA Manager.</a:t>
            </a:r>
            <a:endParaRPr b="0" i="0" sz="1400" u="none" cap="none" strike="noStrike">
              <a:solidFill>
                <a:schemeClr val="dk1"/>
              </a:solidFill>
              <a:latin typeface="Arial"/>
              <a:ea typeface="Arial"/>
              <a:cs typeface="Arial"/>
              <a:sym typeface="Arial"/>
            </a:endParaRPr>
          </a:p>
          <a:p>
            <a:pPr indent="0" lvl="0" marL="0" marR="0" rtl="0" algn="l">
              <a:lnSpc>
                <a:spcPct val="105000"/>
              </a:lnSpc>
              <a:spcBef>
                <a:spcPts val="600"/>
              </a:spcBef>
              <a:spcAft>
                <a:spcPts val="0"/>
              </a:spcAft>
              <a:buClr>
                <a:srgbClr val="000000"/>
              </a:buClr>
              <a:buSzPts val="1150"/>
              <a:buFont typeface="Arial"/>
              <a:buNone/>
            </a:pPr>
            <a:r>
              <a:rPr b="1" i="0" lang="en-US" sz="1150" u="none" cap="none" strike="noStrike">
                <a:solidFill>
                  <a:schemeClr val="dk1"/>
                </a:solidFill>
                <a:latin typeface="Calibri"/>
                <a:ea typeface="Calibri"/>
                <a:cs typeface="Calibri"/>
                <a:sym typeface="Calibri"/>
              </a:rPr>
              <a:t>›  </a:t>
            </a:r>
            <a:r>
              <a:rPr b="0" i="0" lang="en-US" sz="1150" u="none" cap="none" strike="noStrike">
                <a:solidFill>
                  <a:schemeClr val="dk1"/>
                </a:solidFill>
                <a:latin typeface="Calibri"/>
                <a:ea typeface="Calibri"/>
                <a:cs typeface="Calibri"/>
                <a:sym typeface="Calibri"/>
              </a:rPr>
              <a:t>Vì: thiếu nhân sự chuyên trách cập nhật tài liệu quy trình.</a:t>
            </a:r>
            <a:endParaRPr b="0" i="0" sz="1400" u="none" cap="none" strike="noStrike">
              <a:solidFill>
                <a:schemeClr val="dk1"/>
              </a:solidFill>
              <a:latin typeface="Arial"/>
              <a:ea typeface="Arial"/>
              <a:cs typeface="Arial"/>
              <a:sym typeface="Arial"/>
            </a:endParaRPr>
          </a:p>
        </p:txBody>
      </p:sp>
      <p:graphicFrame>
        <p:nvGraphicFramePr>
          <p:cNvPr id="317" name="Google Shape;317;p10"/>
          <p:cNvGraphicFramePr/>
          <p:nvPr/>
        </p:nvGraphicFramePr>
        <p:xfrm>
          <a:off x="495145" y="4339495"/>
          <a:ext cx="3000000" cy="3000000"/>
        </p:xfrm>
        <a:graphic>
          <a:graphicData uri="http://schemas.openxmlformats.org/drawingml/2006/table">
            <a:tbl>
              <a:tblPr bandRow="1" firstRow="1">
                <a:noFill/>
                <a:tableStyleId>{660C12F0-EA0F-4C08-B8CF-7D1332A2121B}</a:tableStyleId>
              </a:tblPr>
              <a:tblGrid>
                <a:gridCol w="3915925"/>
                <a:gridCol w="2732050"/>
                <a:gridCol w="4553425"/>
              </a:tblGrid>
              <a:tr h="338325">
                <a:tc>
                  <a:txBody>
                    <a:bodyPr/>
                    <a:lstStyle/>
                    <a:p>
                      <a:pPr indent="0" lvl="0" marL="0" marR="0" rtl="0" algn="ctr">
                        <a:lnSpc>
                          <a:spcPct val="100000"/>
                        </a:lnSpc>
                        <a:spcBef>
                          <a:spcPts val="0"/>
                        </a:spcBef>
                        <a:spcAft>
                          <a:spcPts val="0"/>
                        </a:spcAft>
                        <a:buClr>
                          <a:srgbClr val="000000"/>
                        </a:buClr>
                        <a:buSzPts val="1150"/>
                        <a:buFont typeface="Arial"/>
                        <a:buNone/>
                      </a:pPr>
                      <a:r>
                        <a:rPr b="1" lang="en-US" sz="1150" u="none" cap="none" strike="noStrike">
                          <a:solidFill>
                            <a:srgbClr val="FFFFFF"/>
                          </a:solidFill>
                          <a:latin typeface="Calibri"/>
                          <a:ea typeface="Calibri"/>
                          <a:cs typeface="Calibri"/>
                          <a:sym typeface="Calibri"/>
                        </a:rPr>
                        <a:t>Chỉ số</a:t>
                      </a:r>
                      <a:endParaRPr b="1" sz="1150" u="none" cap="none" strike="noStrike">
                        <a:solidFill>
                          <a:srgbClr val="FFFFFF"/>
                        </a:solidFill>
                        <a:latin typeface="Calibri"/>
                        <a:ea typeface="Calibri"/>
                        <a:cs typeface="Calibri"/>
                        <a:sym typeface="Calibri"/>
                      </a:endParaRPr>
                    </a:p>
                  </a:txBody>
                  <a:tcPr marT="25400" marB="25400" marR="76200" marL="76200" anchor="ctr">
                    <a:solidFill>
                      <a:srgbClr val="14B8A6"/>
                    </a:solidFill>
                  </a:tcPr>
                </a:tc>
                <a:tc>
                  <a:txBody>
                    <a:bodyPr/>
                    <a:lstStyle/>
                    <a:p>
                      <a:pPr indent="0" lvl="0" marL="0" marR="0" rtl="0" algn="ctr">
                        <a:lnSpc>
                          <a:spcPct val="100000"/>
                        </a:lnSpc>
                        <a:spcBef>
                          <a:spcPts val="0"/>
                        </a:spcBef>
                        <a:spcAft>
                          <a:spcPts val="0"/>
                        </a:spcAft>
                        <a:buClr>
                          <a:srgbClr val="000000"/>
                        </a:buClr>
                        <a:buSzPts val="1150"/>
                        <a:buFont typeface="Arial"/>
                        <a:buNone/>
                      </a:pPr>
                      <a:r>
                        <a:rPr b="1" lang="en-US" sz="1150" u="none" cap="none" strike="noStrike">
                          <a:solidFill>
                            <a:srgbClr val="FFFFFF"/>
                          </a:solidFill>
                          <a:latin typeface="Calibri"/>
                          <a:ea typeface="Calibri"/>
                          <a:cs typeface="Calibri"/>
                          <a:sym typeface="Calibri"/>
                        </a:rPr>
                        <a:t>Giá trị ước tính</a:t>
                      </a:r>
                      <a:endParaRPr sz="1400" u="none" cap="none" strike="noStrike"/>
                    </a:p>
                  </a:txBody>
                  <a:tcPr marT="25400" marB="25400" marR="76200" marL="76200" anchor="ctr">
                    <a:solidFill>
                      <a:srgbClr val="14B8A6"/>
                    </a:solidFill>
                  </a:tcPr>
                </a:tc>
                <a:tc>
                  <a:txBody>
                    <a:bodyPr/>
                    <a:lstStyle/>
                    <a:p>
                      <a:pPr indent="0" lvl="0" marL="0" marR="0" rtl="0" algn="ctr">
                        <a:lnSpc>
                          <a:spcPct val="100000"/>
                        </a:lnSpc>
                        <a:spcBef>
                          <a:spcPts val="0"/>
                        </a:spcBef>
                        <a:spcAft>
                          <a:spcPts val="0"/>
                        </a:spcAft>
                        <a:buClr>
                          <a:srgbClr val="000000"/>
                        </a:buClr>
                        <a:buSzPts val="1150"/>
                        <a:buFont typeface="Arial"/>
                        <a:buNone/>
                      </a:pPr>
                      <a:r>
                        <a:rPr b="1" lang="en-US" sz="1150" u="none" cap="none" strike="noStrike">
                          <a:solidFill>
                            <a:srgbClr val="FFFFFF"/>
                          </a:solidFill>
                          <a:latin typeface="Calibri"/>
                          <a:ea typeface="Calibri"/>
                          <a:cs typeface="Calibri"/>
                          <a:sym typeface="Calibri"/>
                        </a:rPr>
                        <a:t>Đề xuất cải tiến</a:t>
                      </a:r>
                      <a:endParaRPr sz="1400" u="none" cap="none" strike="noStrike"/>
                    </a:p>
                  </a:txBody>
                  <a:tcPr marT="25400" marB="25400" marR="76200" marL="76200" anchor="ctr">
                    <a:solidFill>
                      <a:srgbClr val="14B8A6"/>
                    </a:solidFill>
                  </a:tcPr>
                </a:tc>
              </a:tr>
              <a:tr h="338325">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333333"/>
                          </a:solidFill>
                          <a:latin typeface="Calibri"/>
                          <a:ea typeface="Calibri"/>
                          <a:cs typeface="Calibri"/>
                          <a:sym typeface="Calibri"/>
                        </a:rPr>
                        <a:t>Tổng số NC ghi nhận / quý</a:t>
                      </a:r>
                      <a:endParaRPr sz="1400" u="none" cap="none" strike="noStrike"/>
                    </a:p>
                  </a:txBody>
                  <a:tcPr marT="25400" marB="25400" marR="76200" marL="76200" anchor="ctr">
                    <a:solidFill>
                      <a:srgbClr val="FFFFFF"/>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333333"/>
                          </a:solidFill>
                          <a:latin typeface="Calibri"/>
                          <a:ea typeface="Calibri"/>
                          <a:cs typeface="Calibri"/>
                          <a:sym typeface="Calibri"/>
                        </a:rPr>
                        <a:t>~85 lượt</a:t>
                      </a:r>
                      <a:endParaRPr sz="1400" u="none" cap="none" strike="noStrike"/>
                    </a:p>
                  </a:txBody>
                  <a:tcPr marT="25400" marB="25400" marR="76200" marL="76200" anchor="ctr">
                    <a:solidFill>
                      <a:srgbClr val="FFFFFF"/>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333333"/>
                          </a:solidFill>
                          <a:latin typeface="Calibri"/>
                          <a:ea typeface="Calibri"/>
                          <a:cs typeface="Calibri"/>
                          <a:sym typeface="Calibri"/>
                        </a:rPr>
                        <a:t>Số hóa QMS (checklist + theo dõi CAPA)</a:t>
                      </a:r>
                      <a:endParaRPr sz="1400" u="none" cap="none" strike="noStrike"/>
                    </a:p>
                  </a:txBody>
                  <a:tcPr marT="25400" marB="25400" marR="76200" marL="76200" anchor="ctr">
                    <a:solidFill>
                      <a:srgbClr val="FFFFFF"/>
                    </a:solidFill>
                  </a:tcPr>
                </a:tc>
              </a:tr>
              <a:tr h="338325">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333333"/>
                          </a:solidFill>
                          <a:latin typeface="Calibri"/>
                          <a:ea typeface="Calibri"/>
                          <a:cs typeface="Calibri"/>
                          <a:sym typeface="Calibri"/>
                        </a:rPr>
                        <a:t>Tỷ lệ CAPA đóng đúng hạn</a:t>
                      </a:r>
                      <a:endParaRPr sz="1400" u="none" cap="none" strike="noStrike"/>
                    </a:p>
                  </a:txBody>
                  <a:tcPr marT="25400" marB="25400" marR="76200" marL="76200" anchor="ctr">
                    <a:solidFill>
                      <a:srgbClr val="F1F3F6"/>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333333"/>
                          </a:solidFill>
                          <a:latin typeface="Calibri"/>
                          <a:ea typeface="Calibri"/>
                          <a:cs typeface="Calibri"/>
                          <a:sym typeface="Calibri"/>
                        </a:rPr>
                        <a:t>65 – 70%</a:t>
                      </a:r>
                      <a:endParaRPr sz="1400" u="none" cap="none" strike="noStrike"/>
                    </a:p>
                  </a:txBody>
                  <a:tcPr marT="25400" marB="25400" marR="76200" marL="76200" anchor="ctr">
                    <a:solidFill>
                      <a:srgbClr val="F1F3F6"/>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333333"/>
                          </a:solidFill>
                          <a:latin typeface="Calibri"/>
                          <a:ea typeface="Calibri"/>
                          <a:cs typeface="Calibri"/>
                          <a:sym typeface="Calibri"/>
                        </a:rPr>
                        <a:t>SLA phản hồi CAPA 3 ngày làm việc</a:t>
                      </a:r>
                      <a:endParaRPr sz="1400" u="none" cap="none" strike="noStrike"/>
                    </a:p>
                  </a:txBody>
                  <a:tcPr marT="25400" marB="25400" marR="76200" marL="76200" anchor="ctr">
                    <a:solidFill>
                      <a:srgbClr val="F1F3F6"/>
                    </a:solidFill>
                  </a:tcPr>
                </a:tc>
              </a:tr>
              <a:tr h="338325">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333333"/>
                          </a:solidFill>
                          <a:latin typeface="Calibri"/>
                          <a:ea typeface="Calibri"/>
                          <a:cs typeface="Calibri"/>
                          <a:sym typeface="Calibri"/>
                        </a:rPr>
                        <a:t>Hiệu suất thời gian quy trình</a:t>
                      </a:r>
                      <a:endParaRPr sz="1400" u="none" cap="none" strike="noStrike"/>
                    </a:p>
                  </a:txBody>
                  <a:tcPr marT="25400" marB="25400" marR="76200" marL="76200" anchor="ctr">
                    <a:solidFill>
                      <a:srgbClr val="FFFFFF"/>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333333"/>
                          </a:solidFill>
                          <a:latin typeface="Calibri"/>
                          <a:ea typeface="Calibri"/>
                          <a:cs typeface="Calibri"/>
                          <a:sym typeface="Calibri"/>
                        </a:rPr>
                        <a:t>96,5%  (11 / 11,4 ngày)</a:t>
                      </a:r>
                      <a:endParaRPr sz="1400" u="none" cap="none" strike="noStrike"/>
                    </a:p>
                  </a:txBody>
                  <a:tcPr marT="25400" marB="25400" marR="76200" marL="76200" anchor="ctr">
                    <a:solidFill>
                      <a:srgbClr val="FFFFFF"/>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333333"/>
                          </a:solidFill>
                          <a:latin typeface="Calibri"/>
                          <a:ea typeface="Calibri"/>
                          <a:cs typeface="Calibri"/>
                          <a:sym typeface="Calibri"/>
                        </a:rPr>
                        <a:t>Duy trì bằng risk-based audit</a:t>
                      </a:r>
                      <a:endParaRPr sz="1400" u="none" cap="none" strike="noStrike"/>
                    </a:p>
                  </a:txBody>
                  <a:tcPr marT="25400" marB="25400" marR="76200" marL="76200" anchor="ctr">
                    <a:solidFill>
                      <a:srgbClr val="FFFFFF"/>
                    </a:solidFill>
                  </a:tcPr>
                </a:tc>
              </a:tr>
              <a:tr h="338325">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333333"/>
                          </a:solidFill>
                          <a:latin typeface="Calibri"/>
                          <a:ea typeface="Calibri"/>
                          <a:cs typeface="Calibri"/>
                          <a:sym typeface="Calibri"/>
                        </a:rPr>
                        <a:t>Chi phí ước tính do CAPA trễ hạn / quý</a:t>
                      </a:r>
                      <a:endParaRPr sz="1400" u="none" cap="none" strike="noStrike"/>
                    </a:p>
                  </a:txBody>
                  <a:tcPr marT="25400" marB="25400" marR="76200" marL="76200" anchor="ctr">
                    <a:solidFill>
                      <a:srgbClr val="F1F3F6"/>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333333"/>
                          </a:solidFill>
                          <a:latin typeface="Calibri"/>
                          <a:ea typeface="Calibri"/>
                          <a:cs typeface="Calibri"/>
                          <a:sym typeface="Calibri"/>
                        </a:rPr>
                        <a:t>15 – 20 triệu VNĐ</a:t>
                      </a:r>
                      <a:endParaRPr sz="1400" u="none" cap="none" strike="noStrike"/>
                    </a:p>
                  </a:txBody>
                  <a:tcPr marT="25400" marB="25400" marR="76200" marL="76200" anchor="ctr">
                    <a:solidFill>
                      <a:srgbClr val="F1F3F6"/>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333333"/>
                          </a:solidFill>
                          <a:latin typeface="Calibri"/>
                          <a:ea typeface="Calibri"/>
                          <a:cs typeface="Calibri"/>
                          <a:sym typeface="Calibri"/>
                        </a:rPr>
                        <a:t>Escalate sớm CAPA có nguy cơ trễ hạn</a:t>
                      </a:r>
                      <a:endParaRPr b="0" sz="1150" u="none" cap="none" strike="noStrike">
                        <a:solidFill>
                          <a:srgbClr val="333333"/>
                        </a:solidFill>
                        <a:latin typeface="Calibri"/>
                        <a:ea typeface="Calibri"/>
                        <a:cs typeface="Calibri"/>
                        <a:sym typeface="Calibri"/>
                      </a:endParaRPr>
                    </a:p>
                  </a:txBody>
                  <a:tcPr marT="25400" marB="25400" marR="76200" marL="76200" anchor="ctr">
                    <a:solidFill>
                      <a:srgbClr val="F1F3F6"/>
                    </a:solidFill>
                  </a:tcPr>
                </a:tc>
              </a:tr>
            </a:tbl>
          </a:graphicData>
        </a:graphic>
      </p:graphicFrame>
      <p:sp>
        <p:nvSpPr>
          <p:cNvPr id="318" name="Google Shape;318;p10"/>
          <p:cNvSpPr txBox="1"/>
          <p:nvPr/>
        </p:nvSpPr>
        <p:spPr>
          <a:xfrm>
            <a:off x="495145" y="6168295"/>
            <a:ext cx="111558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0" i="1" lang="en-US" sz="1000" u="none" cap="none" strike="noStrike">
                <a:solidFill>
                  <a:srgbClr val="595959"/>
                </a:solidFill>
                <a:latin typeface="Calibri"/>
                <a:ea typeface="Calibri"/>
                <a:cs typeface="Calibri"/>
                <a:sym typeface="Calibri"/>
              </a:rPr>
              <a:t>* Số liệu Mục 4 của quy trình này được nhóm ước tính bổ sung dựa trên đặc điểm vận hành mô tả ở Mục 2–3 (báo cáo nguồn chưa có số liệu khảo sát thực tế cho phần này).</a:t>
            </a:r>
            <a:endParaRPr b="0" i="0" sz="1400" u="none" cap="none" strike="noStrike">
              <a:solidFill>
                <a:srgbClr val="000000"/>
              </a:solidFill>
              <a:latin typeface="Arial"/>
              <a:ea typeface="Arial"/>
              <a:cs typeface="Arial"/>
              <a:sym typeface="Arial"/>
            </a:endParaRPr>
          </a:p>
        </p:txBody>
      </p:sp>
      <p:sp>
        <p:nvSpPr>
          <p:cNvPr id="319" name="Google Shape;319;p10"/>
          <p:cNvSpPr txBox="1"/>
          <p:nvPr/>
        </p:nvSpPr>
        <p:spPr>
          <a:xfrm>
            <a:off x="502920" y="6528816"/>
            <a:ext cx="731520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50"/>
              <a:buFont typeface="Arial"/>
              <a:buNone/>
            </a:pPr>
            <a:r>
              <a:rPr b="0" i="1" lang="en-US" sz="950" u="none" cap="none" strike="noStrike">
                <a:solidFill>
                  <a:srgbClr val="595959"/>
                </a:solidFill>
                <a:latin typeface="Calibri"/>
                <a:ea typeface="Calibri"/>
                <a:cs typeface="Calibri"/>
                <a:sym typeface="Calibri"/>
              </a:rPr>
              <a:t>IE203 – Quản trị quy trình nghiệp vụ  |  OR Tech</a:t>
            </a:r>
            <a:endParaRPr b="0" i="0" sz="1400" u="none" cap="none" strike="noStrike">
              <a:solidFill>
                <a:srgbClr val="000000"/>
              </a:solidFill>
              <a:latin typeface="Arial"/>
              <a:ea typeface="Arial"/>
              <a:cs typeface="Arial"/>
              <a:sym typeface="Arial"/>
            </a:endParaRPr>
          </a:p>
        </p:txBody>
      </p:sp>
      <p:sp>
        <p:nvSpPr>
          <p:cNvPr id="320" name="Google Shape;320;p10"/>
          <p:cNvSpPr txBox="1"/>
          <p:nvPr/>
        </p:nvSpPr>
        <p:spPr>
          <a:xfrm>
            <a:off x="11338560" y="6528816"/>
            <a:ext cx="457200" cy="27432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050"/>
              <a:buFont typeface="Arial"/>
              <a:buNone/>
            </a:pPr>
            <a:r>
              <a:rPr b="1" i="0" lang="en-US" sz="1050" u="none" cap="none" strike="noStrike">
                <a:solidFill>
                  <a:srgbClr val="595959"/>
                </a:solidFill>
                <a:latin typeface="Calibri"/>
                <a:ea typeface="Calibri"/>
                <a:cs typeface="Calibri"/>
                <a:sym typeface="Calibri"/>
              </a:rPr>
              <a:t>9</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11"/>
          <p:cNvSpPr/>
          <p:nvPr/>
        </p:nvSpPr>
        <p:spPr>
          <a:xfrm>
            <a:off x="0" y="0"/>
            <a:ext cx="12191700" cy="6858000"/>
          </a:xfrm>
          <a:prstGeom prst="rect">
            <a:avLst/>
          </a:prstGeom>
          <a:solidFill>
            <a:srgbClr val="6366F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27" name="Google Shape;327;p11"/>
          <p:cNvSpPr/>
          <p:nvPr/>
        </p:nvSpPr>
        <p:spPr>
          <a:xfrm>
            <a:off x="9418320" y="-1554480"/>
            <a:ext cx="5029200" cy="5029200"/>
          </a:xfrm>
          <a:prstGeom prst="ellipse">
            <a:avLst/>
          </a:prstGeom>
          <a:solidFill>
            <a:srgbClr val="4F46E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8" name="Google Shape;328;p11"/>
          <p:cNvSpPr/>
          <p:nvPr/>
        </p:nvSpPr>
        <p:spPr>
          <a:xfrm>
            <a:off x="-1463040" y="4206240"/>
            <a:ext cx="4206300" cy="4206300"/>
          </a:xfrm>
          <a:prstGeom prst="ellipse">
            <a:avLst/>
          </a:prstGeom>
          <a:solidFill>
            <a:srgbClr val="4F46E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29" name="Google Shape;329;p11"/>
          <p:cNvGrpSpPr/>
          <p:nvPr/>
        </p:nvGrpSpPr>
        <p:grpSpPr>
          <a:xfrm>
            <a:off x="1323815" y="899840"/>
            <a:ext cx="1051500" cy="1051500"/>
            <a:chOff x="891540" y="1805940"/>
            <a:chExt cx="1051500" cy="1051500"/>
          </a:xfrm>
        </p:grpSpPr>
        <p:sp>
          <p:nvSpPr>
            <p:cNvPr id="330" name="Google Shape;330;p11"/>
            <p:cNvSpPr/>
            <p:nvPr/>
          </p:nvSpPr>
          <p:spPr>
            <a:xfrm>
              <a:off x="891540" y="1805940"/>
              <a:ext cx="1051500" cy="1051500"/>
            </a:xfrm>
            <a:prstGeom prst="ellipse">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1" name="Google Shape;331;p11"/>
            <p:cNvSpPr/>
            <p:nvPr/>
          </p:nvSpPr>
          <p:spPr>
            <a:xfrm>
              <a:off x="891540" y="1805940"/>
              <a:ext cx="1051500" cy="1051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4338CA"/>
                </a:buClr>
                <a:buSzPts val="2600"/>
                <a:buFont typeface="Calibri"/>
                <a:buNone/>
              </a:pPr>
              <a:r>
                <a:rPr b="1" i="0" lang="en-US" sz="2600" u="none" cap="none" strike="noStrike">
                  <a:solidFill>
                    <a:srgbClr val="4338CA"/>
                  </a:solidFill>
                  <a:latin typeface="Calibri"/>
                  <a:ea typeface="Calibri"/>
                  <a:cs typeface="Calibri"/>
                  <a:sym typeface="Calibri"/>
                </a:rPr>
                <a:t>2/3</a:t>
              </a:r>
              <a:endParaRPr b="0" i="0" sz="2600" u="none" cap="none" strike="noStrike">
                <a:solidFill>
                  <a:srgbClr val="000000"/>
                </a:solidFill>
                <a:latin typeface="Calibri"/>
                <a:ea typeface="Calibri"/>
                <a:cs typeface="Calibri"/>
                <a:sym typeface="Calibri"/>
              </a:endParaRPr>
            </a:p>
          </p:txBody>
        </p:sp>
      </p:grpSp>
      <p:sp>
        <p:nvSpPr>
          <p:cNvPr id="332" name="Google Shape;332;p11"/>
          <p:cNvSpPr/>
          <p:nvPr/>
        </p:nvSpPr>
        <p:spPr>
          <a:xfrm>
            <a:off x="889475" y="2340020"/>
            <a:ext cx="9144000" cy="365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QUY TRÌNH 2/3  ·  NHÓM CORE</a:t>
            </a:r>
            <a:endParaRPr b="0" i="0" sz="1400" u="none" cap="none" strike="noStrike">
              <a:solidFill>
                <a:srgbClr val="000000"/>
              </a:solidFill>
              <a:latin typeface="Calibri"/>
              <a:ea typeface="Calibri"/>
              <a:cs typeface="Calibri"/>
              <a:sym typeface="Calibri"/>
            </a:endParaRPr>
          </a:p>
        </p:txBody>
      </p:sp>
      <p:sp>
        <p:nvSpPr>
          <p:cNvPr id="333" name="Google Shape;333;p11"/>
          <p:cNvSpPr/>
          <p:nvPr/>
        </p:nvSpPr>
        <p:spPr>
          <a:xfrm>
            <a:off x="889475" y="2705780"/>
            <a:ext cx="10058400" cy="914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3800"/>
              <a:buFont typeface="Calibri"/>
              <a:buNone/>
            </a:pPr>
            <a:r>
              <a:rPr b="1" i="0" lang="en-US" sz="3800" u="none" cap="none" strike="noStrike">
                <a:solidFill>
                  <a:srgbClr val="FFFFFF"/>
                </a:solidFill>
                <a:latin typeface="Calibri"/>
                <a:ea typeface="Calibri"/>
                <a:cs typeface="Calibri"/>
                <a:sym typeface="Calibri"/>
              </a:rPr>
              <a:t>Quản lý Dự án — Agile Scrum</a:t>
            </a:r>
            <a:endParaRPr b="0" i="0" sz="3800" u="none" cap="none" strike="noStrike">
              <a:solidFill>
                <a:srgbClr val="000000"/>
              </a:solidFill>
              <a:latin typeface="Calibri"/>
              <a:ea typeface="Calibri"/>
              <a:cs typeface="Calibri"/>
              <a:sym typeface="Calibri"/>
            </a:endParaRPr>
          </a:p>
        </p:txBody>
      </p:sp>
      <p:sp>
        <p:nvSpPr>
          <p:cNvPr id="334" name="Google Shape;334;p11"/>
          <p:cNvSpPr/>
          <p:nvPr/>
        </p:nvSpPr>
        <p:spPr>
          <a:xfrm>
            <a:off x="889475" y="3620180"/>
            <a:ext cx="91440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600"/>
              <a:buFont typeface="Calibri"/>
              <a:buNone/>
            </a:pPr>
            <a:r>
              <a:rPr b="0" i="1" lang="en-US" sz="1600" u="none" cap="none" strike="noStrike">
                <a:solidFill>
                  <a:srgbClr val="FFFFFF"/>
                </a:solidFill>
                <a:latin typeface="Calibri"/>
                <a:ea typeface="Calibri"/>
                <a:cs typeface="Calibri"/>
                <a:sym typeface="Calibri"/>
              </a:rPr>
              <a:t>Project Management Process (Agile Scrum)</a:t>
            </a:r>
            <a:endParaRPr b="0" i="0" sz="1600" u="none" cap="none" strike="noStrike">
              <a:solidFill>
                <a:srgbClr val="000000"/>
              </a:solidFill>
              <a:latin typeface="Calibri"/>
              <a:ea typeface="Calibri"/>
              <a:cs typeface="Calibri"/>
              <a:sym typeface="Calibri"/>
            </a:endParaRPr>
          </a:p>
        </p:txBody>
      </p:sp>
      <p:sp>
        <p:nvSpPr>
          <p:cNvPr id="335" name="Google Shape;335;p11"/>
          <p:cNvSpPr txBox="1"/>
          <p:nvPr/>
        </p:nvSpPr>
        <p:spPr>
          <a:xfrm>
            <a:off x="502920" y="6528816"/>
            <a:ext cx="7315200" cy="146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50"/>
              <a:buFont typeface="Arial"/>
              <a:buNone/>
            </a:pPr>
            <a:r>
              <a:rPr b="0" i="1" lang="en-US" sz="950" u="none" cap="none" strike="noStrike">
                <a:solidFill>
                  <a:schemeClr val="lt1"/>
                </a:solidFill>
                <a:latin typeface="Calibri"/>
                <a:ea typeface="Calibri"/>
                <a:cs typeface="Calibri"/>
                <a:sym typeface="Calibri"/>
              </a:rPr>
              <a:t>IE203 – Quản trị quy trình nghiệp vụ  |  OR Tech</a:t>
            </a:r>
            <a:endParaRPr b="0" i="0" sz="1400" u="none" cap="none" strike="noStrike">
              <a:solidFill>
                <a:schemeClr val="lt1"/>
              </a:solidFill>
              <a:latin typeface="Arial"/>
              <a:ea typeface="Arial"/>
              <a:cs typeface="Arial"/>
              <a:sym typeface="Arial"/>
            </a:endParaRPr>
          </a:p>
        </p:txBody>
      </p:sp>
      <p:sp>
        <p:nvSpPr>
          <p:cNvPr id="336" name="Google Shape;336;p11"/>
          <p:cNvSpPr txBox="1"/>
          <p:nvPr/>
        </p:nvSpPr>
        <p:spPr>
          <a:xfrm>
            <a:off x="11338560" y="6528816"/>
            <a:ext cx="457200" cy="1617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050"/>
              <a:buFont typeface="Arial"/>
              <a:buNone/>
            </a:pPr>
            <a:r>
              <a:rPr b="1" i="0" lang="en-US" sz="1050" u="none" cap="none" strike="noStrike">
                <a:solidFill>
                  <a:schemeClr val="lt1"/>
                </a:solidFill>
                <a:latin typeface="Calibri"/>
                <a:ea typeface="Calibri"/>
                <a:cs typeface="Calibri"/>
                <a:sym typeface="Calibri"/>
              </a:rPr>
              <a:t>10</a:t>
            </a:r>
            <a:endParaRPr b="0" i="0" sz="1400" u="none" cap="none" strike="noStrike">
              <a:solidFill>
                <a:schemeClr val="lt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12"/>
          <p:cNvSpPr/>
          <p:nvPr/>
        </p:nvSpPr>
        <p:spPr>
          <a:xfrm>
            <a:off x="0" y="0"/>
            <a:ext cx="12191695"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43" name="Google Shape;343;p12"/>
          <p:cNvSpPr/>
          <p:nvPr/>
        </p:nvSpPr>
        <p:spPr>
          <a:xfrm>
            <a:off x="0" y="0"/>
            <a:ext cx="12191695" cy="960120"/>
          </a:xfrm>
          <a:prstGeom prst="rect">
            <a:avLst/>
          </a:prstGeom>
          <a:solidFill>
            <a:srgbClr val="6366F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44" name="Google Shape;344;p12"/>
          <p:cNvSpPr/>
          <p:nvPr/>
        </p:nvSpPr>
        <p:spPr>
          <a:xfrm>
            <a:off x="0" y="960120"/>
            <a:ext cx="12191695" cy="38100"/>
          </a:xfrm>
          <a:prstGeom prst="rect">
            <a:avLst/>
          </a:prstGeom>
          <a:solidFill>
            <a:srgbClr val="4338C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45" name="Google Shape;345;p12"/>
          <p:cNvSpPr txBox="1"/>
          <p:nvPr/>
        </p:nvSpPr>
        <p:spPr>
          <a:xfrm>
            <a:off x="502920" y="91440"/>
            <a:ext cx="100584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lt1"/>
                </a:solidFill>
                <a:latin typeface="Calibri"/>
                <a:ea typeface="Calibri"/>
                <a:cs typeface="Calibri"/>
                <a:sym typeface="Calibri"/>
              </a:rPr>
              <a:t>QUY TRÌNH 2 · CORE</a:t>
            </a:r>
            <a:endParaRPr b="0" i="0" sz="1400" u="none" cap="none" strike="noStrike">
              <a:solidFill>
                <a:schemeClr val="lt1"/>
              </a:solidFill>
              <a:latin typeface="Arial"/>
              <a:ea typeface="Arial"/>
              <a:cs typeface="Arial"/>
              <a:sym typeface="Arial"/>
            </a:endParaRPr>
          </a:p>
        </p:txBody>
      </p:sp>
      <p:sp>
        <p:nvSpPr>
          <p:cNvPr id="346" name="Google Shape;346;p12"/>
          <p:cNvSpPr txBox="1"/>
          <p:nvPr/>
        </p:nvSpPr>
        <p:spPr>
          <a:xfrm>
            <a:off x="502920" y="365760"/>
            <a:ext cx="10972800" cy="5486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FFFFFF"/>
                </a:solidFill>
                <a:latin typeface="Calibri"/>
                <a:ea typeface="Calibri"/>
                <a:cs typeface="Calibri"/>
                <a:sym typeface="Calibri"/>
              </a:rPr>
              <a:t>Quản lý Dự án (Scrum) — Process Perspective</a:t>
            </a:r>
            <a:endParaRPr b="0" i="0" sz="1400" u="none" cap="none" strike="noStrike">
              <a:solidFill>
                <a:srgbClr val="000000"/>
              </a:solidFill>
              <a:latin typeface="Arial"/>
              <a:ea typeface="Arial"/>
              <a:cs typeface="Arial"/>
              <a:sym typeface="Arial"/>
            </a:endParaRPr>
          </a:p>
        </p:txBody>
      </p:sp>
      <p:pic>
        <p:nvPicPr>
          <p:cNvPr descr="chevron_scrum.png" id="347" name="Google Shape;347;p12"/>
          <p:cNvPicPr preferRelativeResize="0"/>
          <p:nvPr/>
        </p:nvPicPr>
        <p:blipFill rotWithShape="1">
          <a:blip r:embed="rId3">
            <a:alphaModFix/>
          </a:blip>
          <a:srcRect b="0" l="0" r="0" t="0"/>
          <a:stretch/>
        </p:blipFill>
        <p:spPr>
          <a:xfrm>
            <a:off x="2092729" y="1234440"/>
            <a:ext cx="7976061" cy="1737360"/>
          </a:xfrm>
          <a:prstGeom prst="rect">
            <a:avLst/>
          </a:prstGeom>
          <a:noFill/>
          <a:ln>
            <a:noFill/>
          </a:ln>
        </p:spPr>
      </p:pic>
      <p:sp>
        <p:nvSpPr>
          <p:cNvPr id="348" name="Google Shape;348;p12"/>
          <p:cNvSpPr txBox="1"/>
          <p:nvPr/>
        </p:nvSpPr>
        <p:spPr>
          <a:xfrm>
            <a:off x="502920" y="3365000"/>
            <a:ext cx="5486400" cy="16071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1350"/>
              <a:buFont typeface="Arial"/>
              <a:buNone/>
            </a:pPr>
            <a:r>
              <a:rPr b="1" i="0" lang="en-US" sz="1350" u="none" cap="none" strike="noStrike">
                <a:solidFill>
                  <a:schemeClr val="dk1"/>
                </a:solidFill>
                <a:latin typeface="Calibri"/>
                <a:ea typeface="Calibri"/>
                <a:cs typeface="Calibri"/>
                <a:sym typeface="Calibri"/>
              </a:rPr>
              <a:t>›  Actors: </a:t>
            </a:r>
            <a:r>
              <a:rPr b="0" i="0" lang="en-US" sz="1350" u="none" cap="none" strike="noStrike">
                <a:solidFill>
                  <a:schemeClr val="dk1"/>
                </a:solidFill>
                <a:latin typeface="Calibri"/>
                <a:ea typeface="Calibri"/>
                <a:cs typeface="Calibri"/>
                <a:sym typeface="Calibri"/>
              </a:rPr>
              <a:t>Project Sponsor, Product Owner, Scrum Master/PM, Scrum Team (Dev, Tester), Khách hàng.</a:t>
            </a:r>
            <a:endParaRPr b="0" i="0" sz="1400" u="none" cap="none" strike="noStrike">
              <a:solidFill>
                <a:schemeClr val="dk1"/>
              </a:solidFill>
              <a:latin typeface="Arial"/>
              <a:ea typeface="Arial"/>
              <a:cs typeface="Arial"/>
              <a:sym typeface="Arial"/>
            </a:endParaRPr>
          </a:p>
          <a:p>
            <a:pPr indent="0" lvl="0" marL="0" marR="0" rtl="0" algn="l">
              <a:lnSpc>
                <a:spcPct val="110000"/>
              </a:lnSpc>
              <a:spcBef>
                <a:spcPts val="1000"/>
              </a:spcBef>
              <a:spcAft>
                <a:spcPts val="0"/>
              </a:spcAft>
              <a:buClr>
                <a:srgbClr val="000000"/>
              </a:buClr>
              <a:buSzPts val="1350"/>
              <a:buFont typeface="Arial"/>
              <a:buNone/>
            </a:pPr>
            <a:r>
              <a:rPr b="1" i="0" lang="en-US" sz="1350" u="none" cap="none" strike="noStrike">
                <a:solidFill>
                  <a:schemeClr val="dk1"/>
                </a:solidFill>
                <a:latin typeface="Calibri"/>
                <a:ea typeface="Calibri"/>
                <a:cs typeface="Calibri"/>
                <a:sym typeface="Calibri"/>
              </a:rPr>
              <a:t>›  Mục tiêu: </a:t>
            </a:r>
            <a:r>
              <a:rPr b="0" i="0" lang="en-US" sz="1350" u="none" cap="none" strike="noStrike">
                <a:solidFill>
                  <a:schemeClr val="dk1"/>
                </a:solidFill>
                <a:latin typeface="Calibri"/>
                <a:ea typeface="Calibri"/>
                <a:cs typeface="Calibri"/>
                <a:sym typeface="Calibri"/>
              </a:rPr>
              <a:t>xây dựng sản phẩm đúng phạm vi, đúng tiến độ theo từng sprint, khách hàng tham gia đánh giá minh bạch.</a:t>
            </a:r>
            <a:endParaRPr b="0" i="0" sz="1400" u="none" cap="none" strike="noStrike">
              <a:solidFill>
                <a:schemeClr val="dk1"/>
              </a:solidFill>
              <a:latin typeface="Arial"/>
              <a:ea typeface="Arial"/>
              <a:cs typeface="Arial"/>
              <a:sym typeface="Arial"/>
            </a:endParaRPr>
          </a:p>
          <a:p>
            <a:pPr indent="0" lvl="0" marL="0" marR="0" rtl="0" algn="l">
              <a:lnSpc>
                <a:spcPct val="110000"/>
              </a:lnSpc>
              <a:spcBef>
                <a:spcPts val="1000"/>
              </a:spcBef>
              <a:spcAft>
                <a:spcPts val="0"/>
              </a:spcAft>
              <a:buClr>
                <a:srgbClr val="000000"/>
              </a:buClr>
              <a:buSzPts val="1350"/>
              <a:buFont typeface="Arial"/>
              <a:buNone/>
            </a:pPr>
            <a:r>
              <a:rPr b="1" i="0" lang="en-US" sz="1350" u="none" cap="none" strike="noStrike">
                <a:solidFill>
                  <a:schemeClr val="dk1"/>
                </a:solidFill>
                <a:latin typeface="Calibri"/>
                <a:ea typeface="Calibri"/>
                <a:cs typeface="Calibri"/>
                <a:sym typeface="Calibri"/>
              </a:rPr>
              <a:t>›  Giá trị cho khách hàng: </a:t>
            </a:r>
            <a:r>
              <a:rPr b="0" i="0" lang="en-US" sz="1350" u="none" cap="none" strike="noStrike">
                <a:solidFill>
                  <a:schemeClr val="dk1"/>
                </a:solidFill>
                <a:latin typeface="Calibri"/>
                <a:ea typeface="Calibri"/>
                <a:cs typeface="Calibri"/>
                <a:sym typeface="Calibri"/>
              </a:rPr>
              <a:t>theo dõi/tham gia đánh giá tiến độ qua sprint review/demo, sản phẩm tăng trưởng dần mỗi sprint.</a:t>
            </a:r>
            <a:endParaRPr b="0" i="0" sz="1400" u="none" cap="none" strike="noStrike">
              <a:solidFill>
                <a:schemeClr val="dk1"/>
              </a:solidFill>
              <a:latin typeface="Arial"/>
              <a:ea typeface="Arial"/>
              <a:cs typeface="Arial"/>
              <a:sym typeface="Arial"/>
            </a:endParaRPr>
          </a:p>
        </p:txBody>
      </p:sp>
      <p:sp>
        <p:nvSpPr>
          <p:cNvPr id="349" name="Google Shape;349;p12"/>
          <p:cNvSpPr/>
          <p:nvPr/>
        </p:nvSpPr>
        <p:spPr>
          <a:xfrm>
            <a:off x="6263650" y="3200400"/>
            <a:ext cx="5394900" cy="2386500"/>
          </a:xfrm>
          <a:prstGeom prst="rect">
            <a:avLst/>
          </a:prstGeom>
          <a:solidFill>
            <a:srgbClr val="F1F3F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50" name="Google Shape;350;p12"/>
          <p:cNvSpPr txBox="1"/>
          <p:nvPr/>
        </p:nvSpPr>
        <p:spPr>
          <a:xfrm>
            <a:off x="6492240" y="3364992"/>
            <a:ext cx="4937700" cy="192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50"/>
              <a:buFont typeface="Arial"/>
              <a:buNone/>
            </a:pPr>
            <a:r>
              <a:rPr b="1" i="0" lang="en-US" sz="1250" u="none" cap="none" strike="noStrike">
                <a:solidFill>
                  <a:schemeClr val="dk1"/>
                </a:solidFill>
                <a:latin typeface="Calibri"/>
                <a:ea typeface="Calibri"/>
                <a:cs typeface="Calibri"/>
                <a:sym typeface="Calibri"/>
              </a:rPr>
              <a:t>KHẢ NĂNG KẾT QUẢ (OUTCOMES)</a:t>
            </a:r>
            <a:endParaRPr b="0" i="0" sz="1400" u="none" cap="none" strike="noStrike">
              <a:solidFill>
                <a:schemeClr val="dk1"/>
              </a:solidFill>
              <a:latin typeface="Arial"/>
              <a:ea typeface="Arial"/>
              <a:cs typeface="Arial"/>
              <a:sym typeface="Arial"/>
            </a:endParaRPr>
          </a:p>
        </p:txBody>
      </p:sp>
      <p:sp>
        <p:nvSpPr>
          <p:cNvPr id="351" name="Google Shape;351;p12"/>
          <p:cNvSpPr txBox="1"/>
          <p:nvPr/>
        </p:nvSpPr>
        <p:spPr>
          <a:xfrm>
            <a:off x="6492240" y="3749039"/>
            <a:ext cx="4937700" cy="10038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Clr>
                <a:srgbClr val="000000"/>
              </a:buClr>
              <a:buSzPts val="1250"/>
              <a:buFont typeface="Arial"/>
              <a:buNone/>
            </a:pPr>
            <a:r>
              <a:rPr b="1" i="0" lang="en-US" sz="1250" u="none" cap="none" strike="noStrike">
                <a:solidFill>
                  <a:schemeClr val="dk1"/>
                </a:solidFill>
                <a:latin typeface="Calibri"/>
                <a:ea typeface="Calibri"/>
                <a:cs typeface="Calibri"/>
                <a:sym typeface="Calibri"/>
              </a:rPr>
              <a:t>›  </a:t>
            </a:r>
            <a:r>
              <a:rPr b="0" i="0" lang="en-US" sz="1250" u="none" cap="none" strike="noStrike">
                <a:solidFill>
                  <a:schemeClr val="dk1"/>
                </a:solidFill>
                <a:latin typeface="Calibri"/>
                <a:ea typeface="Calibri"/>
                <a:cs typeface="Calibri"/>
                <a:sym typeface="Calibri"/>
              </a:rPr>
              <a:t>Sprint/dự án hoàn thành đúng Definition of Done, khách hàng nghiệm thu.</a:t>
            </a:r>
            <a:endParaRPr b="0" i="0" sz="1400" u="none" cap="none" strike="noStrike">
              <a:solidFill>
                <a:schemeClr val="dk1"/>
              </a:solidFill>
              <a:latin typeface="Arial"/>
              <a:ea typeface="Arial"/>
              <a:cs typeface="Arial"/>
              <a:sym typeface="Arial"/>
            </a:endParaRPr>
          </a:p>
          <a:p>
            <a:pPr indent="0" lvl="0" marL="0" marR="0" rtl="0" algn="l">
              <a:lnSpc>
                <a:spcPct val="105000"/>
              </a:lnSpc>
              <a:spcBef>
                <a:spcPts val="800"/>
              </a:spcBef>
              <a:spcAft>
                <a:spcPts val="0"/>
              </a:spcAft>
              <a:buClr>
                <a:srgbClr val="000000"/>
              </a:buClr>
              <a:buSzPts val="1250"/>
              <a:buFont typeface="Arial"/>
              <a:buNone/>
            </a:pPr>
            <a:r>
              <a:rPr b="1" i="0" lang="en-US" sz="1250" u="none" cap="none" strike="noStrike">
                <a:solidFill>
                  <a:schemeClr val="dk1"/>
                </a:solidFill>
                <a:latin typeface="Calibri"/>
                <a:ea typeface="Calibri"/>
                <a:cs typeface="Calibri"/>
                <a:sym typeface="Calibri"/>
              </a:rPr>
              <a:t>›  </a:t>
            </a:r>
            <a:r>
              <a:rPr b="0" i="0" lang="en-US" sz="1250" u="none" cap="none" strike="noStrike">
                <a:solidFill>
                  <a:schemeClr val="dk1"/>
                </a:solidFill>
                <a:latin typeface="Calibri"/>
                <a:ea typeface="Calibri"/>
                <a:cs typeface="Calibri"/>
                <a:sym typeface="Calibri"/>
              </a:rPr>
              <a:t>Sprint chưa hoàn thành → hạng mục dời sang sprint kế tiếp (carry-over).</a:t>
            </a:r>
            <a:endParaRPr b="0" i="0" sz="1400" u="none" cap="none" strike="noStrike">
              <a:solidFill>
                <a:schemeClr val="dk1"/>
              </a:solidFill>
              <a:latin typeface="Arial"/>
              <a:ea typeface="Arial"/>
              <a:cs typeface="Arial"/>
              <a:sym typeface="Arial"/>
            </a:endParaRPr>
          </a:p>
          <a:p>
            <a:pPr indent="0" lvl="0" marL="0" marR="0" rtl="0" algn="l">
              <a:lnSpc>
                <a:spcPct val="105000"/>
              </a:lnSpc>
              <a:spcBef>
                <a:spcPts val="800"/>
              </a:spcBef>
              <a:spcAft>
                <a:spcPts val="0"/>
              </a:spcAft>
              <a:buClr>
                <a:srgbClr val="000000"/>
              </a:buClr>
              <a:buSzPts val="1250"/>
              <a:buFont typeface="Arial"/>
              <a:buNone/>
            </a:pPr>
            <a:r>
              <a:rPr b="1" i="0" lang="en-US" sz="1250" u="none" cap="none" strike="noStrike">
                <a:solidFill>
                  <a:schemeClr val="dk1"/>
                </a:solidFill>
                <a:latin typeface="Calibri"/>
                <a:ea typeface="Calibri"/>
                <a:cs typeface="Calibri"/>
                <a:sym typeface="Calibri"/>
              </a:rPr>
              <a:t>›  </a:t>
            </a:r>
            <a:r>
              <a:rPr b="0" i="0" lang="en-US" sz="1250" u="none" cap="none" strike="noStrike">
                <a:solidFill>
                  <a:schemeClr val="dk1"/>
                </a:solidFill>
                <a:latin typeface="Calibri"/>
                <a:ea typeface="Calibri"/>
                <a:cs typeface="Calibri"/>
                <a:sym typeface="Calibri"/>
              </a:rPr>
              <a:t>Dự án đóng thành công, bàn giao đầy đủ tài liệu — hoặc bị tạm dừng/hủy giữa chừng do thay đổi từ khách hàng.</a:t>
            </a:r>
            <a:endParaRPr b="0" i="0" sz="1400" u="none" cap="none" strike="noStrike">
              <a:solidFill>
                <a:schemeClr val="dk1"/>
              </a:solidFill>
              <a:latin typeface="Arial"/>
              <a:ea typeface="Arial"/>
              <a:cs typeface="Arial"/>
              <a:sym typeface="Arial"/>
            </a:endParaRPr>
          </a:p>
        </p:txBody>
      </p:sp>
      <p:sp>
        <p:nvSpPr>
          <p:cNvPr id="352" name="Google Shape;352;p12"/>
          <p:cNvSpPr txBox="1"/>
          <p:nvPr/>
        </p:nvSpPr>
        <p:spPr>
          <a:xfrm>
            <a:off x="502920" y="6528816"/>
            <a:ext cx="731520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50"/>
              <a:buFont typeface="Arial"/>
              <a:buNone/>
            </a:pPr>
            <a:r>
              <a:rPr b="0" i="1" lang="en-US" sz="950" u="none" cap="none" strike="noStrike">
                <a:solidFill>
                  <a:srgbClr val="595959"/>
                </a:solidFill>
                <a:latin typeface="Calibri"/>
                <a:ea typeface="Calibri"/>
                <a:cs typeface="Calibri"/>
                <a:sym typeface="Calibri"/>
              </a:rPr>
              <a:t>IE203 – Quản trị quy trình nghiệp vụ  |  OR Tech</a:t>
            </a:r>
            <a:endParaRPr b="0" i="0" sz="1400" u="none" cap="none" strike="noStrike">
              <a:solidFill>
                <a:srgbClr val="000000"/>
              </a:solidFill>
              <a:latin typeface="Arial"/>
              <a:ea typeface="Arial"/>
              <a:cs typeface="Arial"/>
              <a:sym typeface="Arial"/>
            </a:endParaRPr>
          </a:p>
        </p:txBody>
      </p:sp>
      <p:sp>
        <p:nvSpPr>
          <p:cNvPr id="353" name="Google Shape;353;p12"/>
          <p:cNvSpPr txBox="1"/>
          <p:nvPr/>
        </p:nvSpPr>
        <p:spPr>
          <a:xfrm>
            <a:off x="11338560" y="6528816"/>
            <a:ext cx="457200" cy="27432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050"/>
              <a:buFont typeface="Arial"/>
              <a:buNone/>
            </a:pPr>
            <a:r>
              <a:rPr b="1" i="0" lang="en-US" sz="1050" u="none" cap="none" strike="noStrike">
                <a:solidFill>
                  <a:srgbClr val="595959"/>
                </a:solidFill>
                <a:latin typeface="Calibri"/>
                <a:ea typeface="Calibri"/>
                <a:cs typeface="Calibri"/>
                <a:sym typeface="Calibri"/>
              </a:rPr>
              <a:t>11</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13"/>
          <p:cNvSpPr/>
          <p:nvPr/>
        </p:nvSpPr>
        <p:spPr>
          <a:xfrm>
            <a:off x="0" y="0"/>
            <a:ext cx="12191695"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60" name="Google Shape;360;p13"/>
          <p:cNvSpPr/>
          <p:nvPr/>
        </p:nvSpPr>
        <p:spPr>
          <a:xfrm>
            <a:off x="0" y="0"/>
            <a:ext cx="12191695" cy="960120"/>
          </a:xfrm>
          <a:prstGeom prst="rect">
            <a:avLst/>
          </a:prstGeom>
          <a:solidFill>
            <a:srgbClr val="6366F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61" name="Google Shape;361;p13"/>
          <p:cNvSpPr/>
          <p:nvPr/>
        </p:nvSpPr>
        <p:spPr>
          <a:xfrm>
            <a:off x="0" y="960120"/>
            <a:ext cx="12191695" cy="38100"/>
          </a:xfrm>
          <a:prstGeom prst="rect">
            <a:avLst/>
          </a:prstGeom>
          <a:solidFill>
            <a:srgbClr val="4338C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62" name="Google Shape;362;p13"/>
          <p:cNvSpPr txBox="1"/>
          <p:nvPr/>
        </p:nvSpPr>
        <p:spPr>
          <a:xfrm>
            <a:off x="502920" y="91440"/>
            <a:ext cx="100584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lt1"/>
                </a:solidFill>
                <a:latin typeface="Calibri"/>
                <a:ea typeface="Calibri"/>
                <a:cs typeface="Calibri"/>
                <a:sym typeface="Calibri"/>
              </a:rPr>
              <a:t>QUY TRÌNH 2 · CORE</a:t>
            </a:r>
            <a:endParaRPr b="0" i="0" sz="1400" u="none" cap="none" strike="noStrike">
              <a:solidFill>
                <a:schemeClr val="lt1"/>
              </a:solidFill>
              <a:latin typeface="Arial"/>
              <a:ea typeface="Arial"/>
              <a:cs typeface="Arial"/>
              <a:sym typeface="Arial"/>
            </a:endParaRPr>
          </a:p>
        </p:txBody>
      </p:sp>
      <p:sp>
        <p:nvSpPr>
          <p:cNvPr id="363" name="Google Shape;363;p13"/>
          <p:cNvSpPr txBox="1"/>
          <p:nvPr/>
        </p:nvSpPr>
        <p:spPr>
          <a:xfrm>
            <a:off x="502920" y="365760"/>
            <a:ext cx="10972800" cy="5486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FFFFFF"/>
                </a:solidFill>
                <a:latin typeface="Calibri"/>
                <a:ea typeface="Calibri"/>
                <a:cs typeface="Calibri"/>
                <a:sym typeface="Calibri"/>
              </a:rPr>
              <a:t>Quản lý Dự án (Scrum) — Mô hình BPMN chi tiết</a:t>
            </a:r>
            <a:endParaRPr b="0" i="0" sz="1400" u="none" cap="none" strike="noStrike">
              <a:solidFill>
                <a:srgbClr val="000000"/>
              </a:solidFill>
              <a:latin typeface="Arial"/>
              <a:ea typeface="Arial"/>
              <a:cs typeface="Arial"/>
              <a:sym typeface="Arial"/>
            </a:endParaRPr>
          </a:p>
        </p:txBody>
      </p:sp>
      <p:graphicFrame>
        <p:nvGraphicFramePr>
          <p:cNvPr id="364" name="Google Shape;364;p13"/>
          <p:cNvGraphicFramePr/>
          <p:nvPr/>
        </p:nvGraphicFramePr>
        <p:xfrm>
          <a:off x="502920" y="4994945"/>
          <a:ext cx="3000000" cy="3000000"/>
        </p:xfrm>
        <a:graphic>
          <a:graphicData uri="http://schemas.openxmlformats.org/drawingml/2006/table">
            <a:tbl>
              <a:tblPr bandRow="1" firstRow="1">
                <a:noFill/>
                <a:tableStyleId>{660C12F0-EA0F-4C08-B8CF-7D1332A2121B}</a:tableStyleId>
              </a:tblPr>
              <a:tblGrid>
                <a:gridCol w="3422650"/>
                <a:gridCol w="7778750"/>
              </a:tblGrid>
              <a:tr h="182875">
                <a:tc>
                  <a:txBody>
                    <a:bodyPr/>
                    <a:lstStyle/>
                    <a:p>
                      <a:pPr indent="0" lvl="0" marL="0" marR="0" rtl="0" algn="ctr">
                        <a:lnSpc>
                          <a:spcPct val="100000"/>
                        </a:lnSpc>
                        <a:spcBef>
                          <a:spcPts val="0"/>
                        </a:spcBef>
                        <a:spcAft>
                          <a:spcPts val="0"/>
                        </a:spcAft>
                        <a:buClr>
                          <a:srgbClr val="000000"/>
                        </a:buClr>
                        <a:buSzPts val="1050"/>
                        <a:buFont typeface="Arial"/>
                        <a:buNone/>
                      </a:pPr>
                      <a:r>
                        <a:rPr b="1" lang="en-US" sz="1050" u="none" cap="none" strike="noStrike">
                          <a:solidFill>
                            <a:srgbClr val="FFFFFF"/>
                          </a:solidFill>
                          <a:latin typeface="Calibri"/>
                          <a:ea typeface="Calibri"/>
                          <a:cs typeface="Calibri"/>
                          <a:sym typeface="Calibri"/>
                        </a:rPr>
                        <a:t>Tiêu chí</a:t>
                      </a:r>
                      <a:endParaRPr sz="1400" u="none" cap="none" strike="noStrike"/>
                    </a:p>
                  </a:txBody>
                  <a:tcPr marT="25400" marB="25400" marR="76200" marL="76200" anchor="ctr">
                    <a:solidFill>
                      <a:srgbClr val="6366F1"/>
                    </a:solidFill>
                  </a:tcPr>
                </a:tc>
                <a:tc>
                  <a:txBody>
                    <a:bodyPr/>
                    <a:lstStyle/>
                    <a:p>
                      <a:pPr indent="0" lvl="0" marL="0" marR="0" rtl="0" algn="ctr">
                        <a:lnSpc>
                          <a:spcPct val="100000"/>
                        </a:lnSpc>
                        <a:spcBef>
                          <a:spcPts val="0"/>
                        </a:spcBef>
                        <a:spcAft>
                          <a:spcPts val="0"/>
                        </a:spcAft>
                        <a:buClr>
                          <a:srgbClr val="000000"/>
                        </a:buClr>
                        <a:buSzPts val="1050"/>
                        <a:buFont typeface="Arial"/>
                        <a:buNone/>
                      </a:pPr>
                      <a:r>
                        <a:rPr b="1" lang="en-US" sz="1050" u="none" cap="none" strike="noStrike">
                          <a:solidFill>
                            <a:srgbClr val="FFFFFF"/>
                          </a:solidFill>
                          <a:latin typeface="Calibri"/>
                          <a:ea typeface="Calibri"/>
                          <a:cs typeface="Calibri"/>
                          <a:sym typeface="Calibri"/>
                        </a:rPr>
                        <a:t>Giá trị</a:t>
                      </a:r>
                      <a:endParaRPr sz="1400" u="none" cap="none" strike="noStrike"/>
                    </a:p>
                  </a:txBody>
                  <a:tcPr marT="25400" marB="25400" marR="76200" marL="76200" anchor="ctr">
                    <a:solidFill>
                      <a:srgbClr val="6366F1"/>
                    </a:solidFill>
                  </a:tcPr>
                </a:tc>
              </a:tr>
              <a:tr h="182875">
                <a:tc>
                  <a:txBody>
                    <a:bodyPr/>
                    <a:lstStyle/>
                    <a:p>
                      <a:pPr indent="0" lvl="0" marL="0" marR="0" rtl="0" algn="l">
                        <a:lnSpc>
                          <a:spcPct val="100000"/>
                        </a:lnSpc>
                        <a:spcBef>
                          <a:spcPts val="0"/>
                        </a:spcBef>
                        <a:spcAft>
                          <a:spcPts val="0"/>
                        </a:spcAft>
                        <a:buClr>
                          <a:srgbClr val="000000"/>
                        </a:buClr>
                        <a:buSzPts val="1050"/>
                        <a:buFont typeface="Arial"/>
                        <a:buNone/>
                      </a:pPr>
                      <a:r>
                        <a:rPr b="0" lang="en-US" sz="1050" u="none" cap="none" strike="noStrike">
                          <a:solidFill>
                            <a:srgbClr val="333333"/>
                          </a:solidFill>
                          <a:latin typeface="Calibri"/>
                          <a:ea typeface="Calibri"/>
                          <a:cs typeface="Calibri"/>
                          <a:sym typeface="Calibri"/>
                        </a:rPr>
                        <a:t>Số lượng task</a:t>
                      </a:r>
                      <a:endParaRPr sz="1400" u="none" cap="none" strike="noStrike"/>
                    </a:p>
                  </a:txBody>
                  <a:tcPr marT="25400" marB="25400" marR="76200" marL="76200" anchor="ctr">
                    <a:solidFill>
                      <a:srgbClr val="FFFFFF"/>
                    </a:solidFill>
                  </a:tcPr>
                </a:tc>
                <a:tc>
                  <a:txBody>
                    <a:bodyPr/>
                    <a:lstStyle/>
                    <a:p>
                      <a:pPr indent="0" lvl="0" marL="0" marR="0" rtl="0" algn="l">
                        <a:lnSpc>
                          <a:spcPct val="100000"/>
                        </a:lnSpc>
                        <a:spcBef>
                          <a:spcPts val="0"/>
                        </a:spcBef>
                        <a:spcAft>
                          <a:spcPts val="0"/>
                        </a:spcAft>
                        <a:buClr>
                          <a:srgbClr val="000000"/>
                        </a:buClr>
                        <a:buSzPts val="1050"/>
                        <a:buFont typeface="Arial"/>
                        <a:buNone/>
                      </a:pPr>
                      <a:r>
                        <a:rPr b="0" lang="en-US" sz="1050" u="none" cap="none" strike="noStrike">
                          <a:solidFill>
                            <a:srgbClr val="333333"/>
                          </a:solidFill>
                          <a:latin typeface="Calibri"/>
                          <a:ea typeface="Calibri"/>
                          <a:cs typeface="Calibri"/>
                          <a:sym typeface="Calibri"/>
                        </a:rPr>
                        <a:t>12</a:t>
                      </a:r>
                      <a:endParaRPr sz="1400" u="none" cap="none" strike="noStrike"/>
                    </a:p>
                  </a:txBody>
                  <a:tcPr marT="25400" marB="25400" marR="76200" marL="76200" anchor="ctr">
                    <a:solidFill>
                      <a:srgbClr val="FFFFFF"/>
                    </a:solidFill>
                  </a:tcPr>
                </a:tc>
              </a:tr>
              <a:tr h="182875">
                <a:tc>
                  <a:txBody>
                    <a:bodyPr/>
                    <a:lstStyle/>
                    <a:p>
                      <a:pPr indent="0" lvl="0" marL="0" marR="0" rtl="0" algn="l">
                        <a:lnSpc>
                          <a:spcPct val="100000"/>
                        </a:lnSpc>
                        <a:spcBef>
                          <a:spcPts val="0"/>
                        </a:spcBef>
                        <a:spcAft>
                          <a:spcPts val="0"/>
                        </a:spcAft>
                        <a:buClr>
                          <a:srgbClr val="000000"/>
                        </a:buClr>
                        <a:buSzPts val="1050"/>
                        <a:buFont typeface="Arial"/>
                        <a:buNone/>
                      </a:pPr>
                      <a:r>
                        <a:rPr b="0" lang="en-US" sz="1050" u="none" cap="none" strike="noStrike">
                          <a:solidFill>
                            <a:srgbClr val="333333"/>
                          </a:solidFill>
                          <a:latin typeface="Calibri"/>
                          <a:ea typeface="Calibri"/>
                          <a:cs typeface="Calibri"/>
                          <a:sym typeface="Calibri"/>
                        </a:rPr>
                        <a:t>Số lượng gateway</a:t>
                      </a:r>
                      <a:endParaRPr sz="1400" u="none" cap="none" strike="noStrike"/>
                    </a:p>
                  </a:txBody>
                  <a:tcPr marT="25400" marB="25400" marR="76200" marL="76200" anchor="ctr">
                    <a:solidFill>
                      <a:srgbClr val="F1F3F6"/>
                    </a:solidFill>
                  </a:tcPr>
                </a:tc>
                <a:tc>
                  <a:txBody>
                    <a:bodyPr/>
                    <a:lstStyle/>
                    <a:p>
                      <a:pPr indent="0" lvl="0" marL="0" marR="0" rtl="0" algn="l">
                        <a:lnSpc>
                          <a:spcPct val="100000"/>
                        </a:lnSpc>
                        <a:spcBef>
                          <a:spcPts val="0"/>
                        </a:spcBef>
                        <a:spcAft>
                          <a:spcPts val="0"/>
                        </a:spcAft>
                        <a:buClr>
                          <a:srgbClr val="000000"/>
                        </a:buClr>
                        <a:buSzPts val="1050"/>
                        <a:buFont typeface="Arial"/>
                        <a:buNone/>
                      </a:pPr>
                      <a:r>
                        <a:rPr b="0" lang="en-US" sz="1050" u="none" cap="none" strike="noStrike">
                          <a:solidFill>
                            <a:srgbClr val="333333"/>
                          </a:solidFill>
                          <a:latin typeface="Calibri"/>
                          <a:ea typeface="Calibri"/>
                          <a:cs typeface="Calibri"/>
                          <a:sym typeface="Calibri"/>
                        </a:rPr>
                        <a:t>8  (6 XOR + 2 AND)</a:t>
                      </a:r>
                      <a:endParaRPr sz="1400" u="none" cap="none" strike="noStrike"/>
                    </a:p>
                  </a:txBody>
                  <a:tcPr marT="25400" marB="25400" marR="76200" marL="76200" anchor="ctr">
                    <a:solidFill>
                      <a:srgbClr val="F1F3F6"/>
                    </a:solidFill>
                  </a:tcPr>
                </a:tc>
              </a:tr>
              <a:tr h="182875">
                <a:tc>
                  <a:txBody>
                    <a:bodyPr/>
                    <a:lstStyle/>
                    <a:p>
                      <a:pPr indent="0" lvl="0" marL="0" marR="0" rtl="0" algn="l">
                        <a:lnSpc>
                          <a:spcPct val="100000"/>
                        </a:lnSpc>
                        <a:spcBef>
                          <a:spcPts val="0"/>
                        </a:spcBef>
                        <a:spcAft>
                          <a:spcPts val="0"/>
                        </a:spcAft>
                        <a:buClr>
                          <a:srgbClr val="000000"/>
                        </a:buClr>
                        <a:buSzPts val="1050"/>
                        <a:buFont typeface="Arial"/>
                        <a:buNone/>
                      </a:pPr>
                      <a:r>
                        <a:rPr b="0" lang="en-US" sz="1050" u="none" cap="none" strike="noStrike">
                          <a:solidFill>
                            <a:srgbClr val="333333"/>
                          </a:solidFill>
                          <a:latin typeface="Calibri"/>
                          <a:ea typeface="Calibri"/>
                          <a:cs typeface="Calibri"/>
                          <a:sym typeface="Calibri"/>
                        </a:rPr>
                        <a:t>Split &amp; Join</a:t>
                      </a:r>
                      <a:endParaRPr sz="1400" u="none" cap="none" strike="noStrike"/>
                    </a:p>
                  </a:txBody>
                  <a:tcPr marT="25400" marB="25400" marR="76200" marL="76200" anchor="ctr">
                    <a:solidFill>
                      <a:srgbClr val="FFFFFF"/>
                    </a:solidFill>
                  </a:tcPr>
                </a:tc>
                <a:tc>
                  <a:txBody>
                    <a:bodyPr/>
                    <a:lstStyle/>
                    <a:p>
                      <a:pPr indent="0" lvl="0" marL="0" marR="0" rtl="0" algn="l">
                        <a:lnSpc>
                          <a:spcPct val="100000"/>
                        </a:lnSpc>
                        <a:spcBef>
                          <a:spcPts val="0"/>
                        </a:spcBef>
                        <a:spcAft>
                          <a:spcPts val="0"/>
                        </a:spcAft>
                        <a:buClr>
                          <a:srgbClr val="000000"/>
                        </a:buClr>
                        <a:buSzPts val="1050"/>
                        <a:buFont typeface="Arial"/>
                        <a:buNone/>
                      </a:pPr>
                      <a:r>
                        <a:rPr b="0" lang="en-US" sz="1050" u="none" cap="none" strike="noStrike">
                          <a:solidFill>
                            <a:srgbClr val="333333"/>
                          </a:solidFill>
                          <a:latin typeface="Calibri"/>
                          <a:ea typeface="Calibri"/>
                          <a:cs typeface="Calibri"/>
                          <a:sym typeface="Calibri"/>
                        </a:rPr>
                        <a:t>1 cặp AND-split/join (phát triển // viết test case, hội tụ trước kiểm thử)</a:t>
                      </a:r>
                      <a:endParaRPr sz="1400" u="none" cap="none" strike="noStrike"/>
                    </a:p>
                  </a:txBody>
                  <a:tcPr marT="25400" marB="25400" marR="76200" marL="76200" anchor="ctr">
                    <a:solidFill>
                      <a:srgbClr val="FFFFFF"/>
                    </a:solidFill>
                  </a:tcPr>
                </a:tc>
              </a:tr>
              <a:tr h="182875">
                <a:tc>
                  <a:txBody>
                    <a:bodyPr/>
                    <a:lstStyle/>
                    <a:p>
                      <a:pPr indent="0" lvl="0" marL="0" marR="0" rtl="0" algn="l">
                        <a:lnSpc>
                          <a:spcPct val="100000"/>
                        </a:lnSpc>
                        <a:spcBef>
                          <a:spcPts val="0"/>
                        </a:spcBef>
                        <a:spcAft>
                          <a:spcPts val="0"/>
                        </a:spcAft>
                        <a:buClr>
                          <a:srgbClr val="000000"/>
                        </a:buClr>
                        <a:buSzPts val="1050"/>
                        <a:buFont typeface="Arial"/>
                        <a:buNone/>
                      </a:pPr>
                      <a:r>
                        <a:rPr b="0" lang="en-US" sz="1050" u="none" cap="none" strike="noStrike">
                          <a:solidFill>
                            <a:srgbClr val="333333"/>
                          </a:solidFill>
                          <a:latin typeface="Calibri"/>
                          <a:ea typeface="Calibri"/>
                          <a:cs typeface="Calibri"/>
                          <a:sym typeface="Calibri"/>
                        </a:rPr>
                        <a:t>Vòng lặp</a:t>
                      </a:r>
                      <a:endParaRPr sz="1400" u="none" cap="none" strike="noStrike"/>
                    </a:p>
                  </a:txBody>
                  <a:tcPr marT="25400" marB="25400" marR="76200" marL="76200" anchor="ctr">
                    <a:solidFill>
                      <a:srgbClr val="F1F3F6"/>
                    </a:solidFill>
                  </a:tcPr>
                </a:tc>
                <a:tc>
                  <a:txBody>
                    <a:bodyPr/>
                    <a:lstStyle/>
                    <a:p>
                      <a:pPr indent="0" lvl="0" marL="0" marR="0" rtl="0" algn="l">
                        <a:lnSpc>
                          <a:spcPct val="100000"/>
                        </a:lnSpc>
                        <a:spcBef>
                          <a:spcPts val="0"/>
                        </a:spcBef>
                        <a:spcAft>
                          <a:spcPts val="0"/>
                        </a:spcAft>
                        <a:buClr>
                          <a:srgbClr val="000000"/>
                        </a:buClr>
                        <a:buSzPts val="1050"/>
                        <a:buFont typeface="Arial"/>
                        <a:buNone/>
                      </a:pPr>
                      <a:r>
                        <a:rPr b="0" lang="en-US" sz="1050" u="none" cap="none" strike="noStrike">
                          <a:solidFill>
                            <a:srgbClr val="333333"/>
                          </a:solidFill>
                          <a:latin typeface="Calibri"/>
                          <a:ea typeface="Calibri"/>
                          <a:cs typeface="Calibri"/>
                          <a:sym typeface="Calibri"/>
                        </a:rPr>
                        <a:t>3 vòng lặp lồng nhau (fix bug; carry-over; sprint tiếp theo)</a:t>
                      </a:r>
                      <a:endParaRPr sz="1400" u="none" cap="none" strike="noStrike"/>
                    </a:p>
                  </a:txBody>
                  <a:tcPr marT="25400" marB="25400" marR="76200" marL="76200" anchor="ctr">
                    <a:solidFill>
                      <a:srgbClr val="F1F3F6"/>
                    </a:solidFill>
                  </a:tcPr>
                </a:tc>
              </a:tr>
              <a:tr h="182875">
                <a:tc>
                  <a:txBody>
                    <a:bodyPr/>
                    <a:lstStyle/>
                    <a:p>
                      <a:pPr indent="0" lvl="0" marL="0" marR="0" rtl="0" algn="l">
                        <a:lnSpc>
                          <a:spcPct val="100000"/>
                        </a:lnSpc>
                        <a:spcBef>
                          <a:spcPts val="0"/>
                        </a:spcBef>
                        <a:spcAft>
                          <a:spcPts val="0"/>
                        </a:spcAft>
                        <a:buClr>
                          <a:srgbClr val="000000"/>
                        </a:buClr>
                        <a:buSzPts val="1050"/>
                        <a:buFont typeface="Arial"/>
                        <a:buNone/>
                      </a:pPr>
                      <a:r>
                        <a:rPr b="0" lang="en-US" sz="1050" u="none" cap="none" strike="noStrike">
                          <a:solidFill>
                            <a:srgbClr val="333333"/>
                          </a:solidFill>
                          <a:latin typeface="Calibri"/>
                          <a:ea typeface="Calibri"/>
                          <a:cs typeface="Calibri"/>
                          <a:sym typeface="Calibri"/>
                        </a:rPr>
                        <a:t>Mức độ phức tạp</a:t>
                      </a:r>
                      <a:endParaRPr sz="1400" u="none" cap="none" strike="noStrike"/>
                    </a:p>
                  </a:txBody>
                  <a:tcPr marT="25400" marB="25400" marR="76200" marL="76200" anchor="ctr">
                    <a:solidFill>
                      <a:srgbClr val="FFFFFF"/>
                    </a:solidFill>
                  </a:tcPr>
                </a:tc>
                <a:tc>
                  <a:txBody>
                    <a:bodyPr/>
                    <a:lstStyle/>
                    <a:p>
                      <a:pPr indent="0" lvl="0" marL="0" marR="0" rtl="0" algn="l">
                        <a:lnSpc>
                          <a:spcPct val="100000"/>
                        </a:lnSpc>
                        <a:spcBef>
                          <a:spcPts val="0"/>
                        </a:spcBef>
                        <a:spcAft>
                          <a:spcPts val="0"/>
                        </a:spcAft>
                        <a:buClr>
                          <a:srgbClr val="000000"/>
                        </a:buClr>
                        <a:buSzPts val="1050"/>
                        <a:buFont typeface="Arial"/>
                        <a:buNone/>
                      </a:pPr>
                      <a:r>
                        <a:rPr b="0" lang="en-US" sz="1050" u="none" cap="none" strike="noStrike">
                          <a:solidFill>
                            <a:srgbClr val="333333"/>
                          </a:solidFill>
                          <a:latin typeface="Calibri"/>
                          <a:ea typeface="Calibri"/>
                          <a:cs typeface="Calibri"/>
                          <a:sym typeface="Calibri"/>
                        </a:rPr>
                        <a:t>Cao — vòng lặp lồng nhau thể hiện đúng bản chất iterative của Scrum</a:t>
                      </a:r>
                      <a:endParaRPr sz="1400" u="none" cap="none" strike="noStrike"/>
                    </a:p>
                  </a:txBody>
                  <a:tcPr marT="25400" marB="25400" marR="76200" marL="76200" anchor="ctr">
                    <a:solidFill>
                      <a:srgbClr val="FFFFFF"/>
                    </a:solidFill>
                  </a:tcPr>
                </a:tc>
              </a:tr>
            </a:tbl>
          </a:graphicData>
        </a:graphic>
      </p:graphicFrame>
      <p:sp>
        <p:nvSpPr>
          <p:cNvPr id="365" name="Google Shape;365;p13"/>
          <p:cNvSpPr txBox="1"/>
          <p:nvPr/>
        </p:nvSpPr>
        <p:spPr>
          <a:xfrm>
            <a:off x="502920" y="6528816"/>
            <a:ext cx="731520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50"/>
              <a:buFont typeface="Arial"/>
              <a:buNone/>
            </a:pPr>
            <a:r>
              <a:rPr b="0" i="1" lang="en-US" sz="950" u="none" cap="none" strike="noStrike">
                <a:solidFill>
                  <a:srgbClr val="595959"/>
                </a:solidFill>
                <a:latin typeface="Calibri"/>
                <a:ea typeface="Calibri"/>
                <a:cs typeface="Calibri"/>
                <a:sym typeface="Calibri"/>
              </a:rPr>
              <a:t>IE203 – Quản trị quy trình nghiệp vụ  |  OR Tech</a:t>
            </a:r>
            <a:endParaRPr b="0" i="0" sz="1400" u="none" cap="none" strike="noStrike">
              <a:solidFill>
                <a:srgbClr val="000000"/>
              </a:solidFill>
              <a:latin typeface="Arial"/>
              <a:ea typeface="Arial"/>
              <a:cs typeface="Arial"/>
              <a:sym typeface="Arial"/>
            </a:endParaRPr>
          </a:p>
        </p:txBody>
      </p:sp>
      <p:sp>
        <p:nvSpPr>
          <p:cNvPr id="366" name="Google Shape;366;p13"/>
          <p:cNvSpPr txBox="1"/>
          <p:nvPr/>
        </p:nvSpPr>
        <p:spPr>
          <a:xfrm>
            <a:off x="11338560" y="6528816"/>
            <a:ext cx="457200" cy="27432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050"/>
              <a:buFont typeface="Arial"/>
              <a:buNone/>
            </a:pPr>
            <a:r>
              <a:rPr b="1" i="0" lang="en-US" sz="1050" u="none" cap="none" strike="noStrike">
                <a:solidFill>
                  <a:srgbClr val="595959"/>
                </a:solidFill>
                <a:latin typeface="Calibri"/>
                <a:ea typeface="Calibri"/>
                <a:cs typeface="Calibri"/>
                <a:sym typeface="Calibri"/>
              </a:rPr>
              <a:t>12</a:t>
            </a:r>
            <a:endParaRPr b="0" i="0" sz="1400" u="none" cap="none" strike="noStrike">
              <a:solidFill>
                <a:srgbClr val="000000"/>
              </a:solidFill>
              <a:latin typeface="Arial"/>
              <a:ea typeface="Arial"/>
              <a:cs typeface="Arial"/>
              <a:sym typeface="Arial"/>
            </a:endParaRPr>
          </a:p>
        </p:txBody>
      </p:sp>
      <p:pic>
        <p:nvPicPr>
          <p:cNvPr id="367" name="Google Shape;367;p13" title="bpmn_scrum.drawio.png"/>
          <p:cNvPicPr preferRelativeResize="0"/>
          <p:nvPr/>
        </p:nvPicPr>
        <p:blipFill rotWithShape="1">
          <a:blip r:embed="rId3">
            <a:alphaModFix/>
          </a:blip>
          <a:srcRect b="0" l="0" r="0" t="0"/>
          <a:stretch/>
        </p:blipFill>
        <p:spPr>
          <a:xfrm>
            <a:off x="502925" y="1041075"/>
            <a:ext cx="11201400" cy="38729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14"/>
          <p:cNvSpPr/>
          <p:nvPr/>
        </p:nvSpPr>
        <p:spPr>
          <a:xfrm>
            <a:off x="0" y="0"/>
            <a:ext cx="121917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74" name="Google Shape;374;p14"/>
          <p:cNvSpPr/>
          <p:nvPr/>
        </p:nvSpPr>
        <p:spPr>
          <a:xfrm>
            <a:off x="0" y="0"/>
            <a:ext cx="12191695" cy="960120"/>
          </a:xfrm>
          <a:prstGeom prst="rect">
            <a:avLst/>
          </a:prstGeom>
          <a:solidFill>
            <a:srgbClr val="6366F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75" name="Google Shape;375;p14"/>
          <p:cNvSpPr/>
          <p:nvPr/>
        </p:nvSpPr>
        <p:spPr>
          <a:xfrm>
            <a:off x="0" y="960120"/>
            <a:ext cx="12191695" cy="38100"/>
          </a:xfrm>
          <a:prstGeom prst="rect">
            <a:avLst/>
          </a:prstGeom>
          <a:solidFill>
            <a:srgbClr val="4338C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76" name="Google Shape;376;p14"/>
          <p:cNvSpPr txBox="1"/>
          <p:nvPr/>
        </p:nvSpPr>
        <p:spPr>
          <a:xfrm>
            <a:off x="502920" y="91440"/>
            <a:ext cx="100584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lt1"/>
                </a:solidFill>
                <a:latin typeface="Calibri"/>
                <a:ea typeface="Calibri"/>
                <a:cs typeface="Calibri"/>
                <a:sym typeface="Calibri"/>
              </a:rPr>
              <a:t>QUY TRÌNH 2 · CORE</a:t>
            </a:r>
            <a:endParaRPr b="0" i="0" sz="1400" u="none" cap="none" strike="noStrike">
              <a:solidFill>
                <a:schemeClr val="lt1"/>
              </a:solidFill>
              <a:latin typeface="Arial"/>
              <a:ea typeface="Arial"/>
              <a:cs typeface="Arial"/>
              <a:sym typeface="Arial"/>
            </a:endParaRPr>
          </a:p>
        </p:txBody>
      </p:sp>
      <p:sp>
        <p:nvSpPr>
          <p:cNvPr id="377" name="Google Shape;377;p14"/>
          <p:cNvSpPr txBox="1"/>
          <p:nvPr/>
        </p:nvSpPr>
        <p:spPr>
          <a:xfrm>
            <a:off x="502920" y="365760"/>
            <a:ext cx="10972800" cy="5486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FFFFFF"/>
                </a:solidFill>
                <a:latin typeface="Calibri"/>
                <a:ea typeface="Calibri"/>
                <a:cs typeface="Calibri"/>
                <a:sym typeface="Calibri"/>
              </a:rPr>
              <a:t>Quản lý Dự án (Scrum) — Phương pháp &amp; bằng chứng</a:t>
            </a:r>
            <a:endParaRPr b="0" i="0" sz="1400" u="none" cap="none" strike="noStrike">
              <a:solidFill>
                <a:srgbClr val="000000"/>
              </a:solidFill>
              <a:latin typeface="Arial"/>
              <a:ea typeface="Arial"/>
              <a:cs typeface="Arial"/>
              <a:sym typeface="Arial"/>
            </a:endParaRPr>
          </a:p>
        </p:txBody>
      </p:sp>
      <p:sp>
        <p:nvSpPr>
          <p:cNvPr id="378" name="Google Shape;378;p14"/>
          <p:cNvSpPr txBox="1"/>
          <p:nvPr/>
        </p:nvSpPr>
        <p:spPr>
          <a:xfrm>
            <a:off x="333170" y="1918520"/>
            <a:ext cx="6675000" cy="200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chemeClr val="dk1"/>
                </a:solidFill>
                <a:latin typeface="Calibri"/>
                <a:ea typeface="Calibri"/>
                <a:cs typeface="Calibri"/>
                <a:sym typeface="Calibri"/>
              </a:rPr>
              <a:t>MÔ TẢ QUY TRÌNH HIỆN CÓ</a:t>
            </a:r>
            <a:endParaRPr b="0" i="0" sz="1400" u="none" cap="none" strike="noStrike">
              <a:solidFill>
                <a:schemeClr val="dk1"/>
              </a:solidFill>
              <a:latin typeface="Arial"/>
              <a:ea typeface="Arial"/>
              <a:cs typeface="Arial"/>
              <a:sym typeface="Arial"/>
            </a:endParaRPr>
          </a:p>
        </p:txBody>
      </p:sp>
      <p:sp>
        <p:nvSpPr>
          <p:cNvPr id="379" name="Google Shape;379;p14"/>
          <p:cNvSpPr txBox="1"/>
          <p:nvPr/>
        </p:nvSpPr>
        <p:spPr>
          <a:xfrm>
            <a:off x="333170" y="2265992"/>
            <a:ext cx="6675000" cy="8904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300"/>
              <a:buFont typeface="Arial"/>
              <a:buNone/>
            </a:pPr>
            <a:r>
              <a:rPr b="0" i="0" lang="en-US" sz="1300" u="none" cap="none" strike="noStrike">
                <a:solidFill>
                  <a:srgbClr val="333333"/>
                </a:solidFill>
                <a:latin typeface="Calibri"/>
                <a:ea typeface="Calibri"/>
                <a:cs typeface="Calibri"/>
                <a:sym typeface="Calibri"/>
              </a:rPr>
              <a:t>Sprint Zero khởi tạo Product Backlog và kick-off; team thực hiện Sprint Planning để estimate &amp; cam kết backlog, sau đó Development Sprint với Daily Standup; Review/Retrospective cuối mỗi sprint; Release/Closing khi hoàn tất dự án. Vai trò chính: Project Sponsor, Product Owner, Scrum Master/PM và Development Team.</a:t>
            </a:r>
            <a:endParaRPr b="0" i="0" sz="1400" u="none" cap="none" strike="noStrike">
              <a:solidFill>
                <a:srgbClr val="000000"/>
              </a:solidFill>
              <a:latin typeface="Arial"/>
              <a:ea typeface="Arial"/>
              <a:cs typeface="Arial"/>
              <a:sym typeface="Arial"/>
            </a:endParaRPr>
          </a:p>
        </p:txBody>
      </p:sp>
      <p:sp>
        <p:nvSpPr>
          <p:cNvPr id="380" name="Google Shape;380;p14"/>
          <p:cNvSpPr txBox="1"/>
          <p:nvPr/>
        </p:nvSpPr>
        <p:spPr>
          <a:xfrm>
            <a:off x="333182" y="3975985"/>
            <a:ext cx="6675000" cy="200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chemeClr val="dk1"/>
                </a:solidFill>
                <a:latin typeface="Calibri"/>
                <a:ea typeface="Calibri"/>
                <a:cs typeface="Calibri"/>
                <a:sym typeface="Calibri"/>
              </a:rPr>
              <a:t>CÂU HỎI PHỎNG VẤN TIÊU BIỂU</a:t>
            </a:r>
            <a:endParaRPr b="0" i="0" sz="1400" u="none" cap="none" strike="noStrike">
              <a:solidFill>
                <a:schemeClr val="dk1"/>
              </a:solidFill>
              <a:latin typeface="Arial"/>
              <a:ea typeface="Arial"/>
              <a:cs typeface="Arial"/>
              <a:sym typeface="Arial"/>
            </a:endParaRPr>
          </a:p>
        </p:txBody>
      </p:sp>
      <p:sp>
        <p:nvSpPr>
          <p:cNvPr id="381" name="Google Shape;381;p14"/>
          <p:cNvSpPr txBox="1"/>
          <p:nvPr/>
        </p:nvSpPr>
        <p:spPr>
          <a:xfrm>
            <a:off x="333182" y="4341745"/>
            <a:ext cx="6675000" cy="96720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Clr>
                <a:srgbClr val="000000"/>
              </a:buClr>
              <a:buSzPts val="1250"/>
              <a:buFont typeface="Arial"/>
              <a:buNone/>
            </a:pPr>
            <a:r>
              <a:rPr b="1" i="0" lang="en-US" sz="1250" u="none" cap="none" strike="noStrike">
                <a:solidFill>
                  <a:schemeClr val="dk1"/>
                </a:solidFill>
                <a:latin typeface="Calibri"/>
                <a:ea typeface="Calibri"/>
                <a:cs typeface="Calibri"/>
                <a:sym typeface="Calibri"/>
              </a:rPr>
              <a:t>›  Định tính — </a:t>
            </a:r>
            <a:r>
              <a:rPr b="0" i="0" lang="en-US" sz="1250" u="none" cap="none" strike="noStrike">
                <a:solidFill>
                  <a:schemeClr val="dk1"/>
                </a:solidFill>
                <a:latin typeface="Calibri"/>
                <a:ea typeface="Calibri"/>
                <a:cs typeface="Calibri"/>
                <a:sym typeface="Calibri"/>
              </a:rPr>
              <a:t>“Theo Scrum Master, nguyên nhân chính khiến sprint không đạt DoD là: Ước lượng sai / Thay đổi yêu cầu / Thiếu nguồn lực / Khác?”</a:t>
            </a:r>
            <a:endParaRPr b="0" i="0" sz="1400" u="none" cap="none" strike="noStrike">
              <a:solidFill>
                <a:schemeClr val="dk1"/>
              </a:solidFill>
              <a:latin typeface="Arial"/>
              <a:ea typeface="Arial"/>
              <a:cs typeface="Arial"/>
              <a:sym typeface="Arial"/>
            </a:endParaRPr>
          </a:p>
          <a:p>
            <a:pPr indent="0" lvl="0" marL="0" marR="0" rtl="0" algn="l">
              <a:lnSpc>
                <a:spcPct val="112000"/>
              </a:lnSpc>
              <a:spcBef>
                <a:spcPts val="1000"/>
              </a:spcBef>
              <a:spcAft>
                <a:spcPts val="0"/>
              </a:spcAft>
              <a:buClr>
                <a:srgbClr val="000000"/>
              </a:buClr>
              <a:buSzPts val="1250"/>
              <a:buFont typeface="Arial"/>
              <a:buNone/>
            </a:pPr>
            <a:r>
              <a:rPr b="1" i="0" lang="en-US" sz="1250" u="none" cap="none" strike="noStrike">
                <a:solidFill>
                  <a:schemeClr val="dk1"/>
                </a:solidFill>
                <a:latin typeface="Calibri"/>
                <a:ea typeface="Calibri"/>
                <a:cs typeface="Calibri"/>
                <a:sym typeface="Calibri"/>
              </a:rPr>
              <a:t>›  Định lượng — </a:t>
            </a:r>
            <a:r>
              <a:rPr b="0" i="0" lang="en-US" sz="1250" u="none" cap="none" strike="noStrike">
                <a:solidFill>
                  <a:schemeClr val="dk1"/>
                </a:solidFill>
                <a:latin typeface="Calibri"/>
                <a:ea typeface="Calibri"/>
                <a:cs typeface="Calibri"/>
                <a:sym typeface="Calibri"/>
              </a:rPr>
              <a:t>“Velocity trung bình của team trong 3 sprint gần nhất là bao nhiêu story point?” (Scrum Master, đơn vị: story point)</a:t>
            </a:r>
            <a:endParaRPr b="0" i="0" sz="1400" u="none" cap="none" strike="noStrike">
              <a:solidFill>
                <a:schemeClr val="dk1"/>
              </a:solidFill>
              <a:latin typeface="Arial"/>
              <a:ea typeface="Arial"/>
              <a:cs typeface="Arial"/>
              <a:sym typeface="Arial"/>
            </a:endParaRPr>
          </a:p>
        </p:txBody>
      </p:sp>
      <p:pic>
        <p:nvPicPr>
          <p:cNvPr descr="orgchart_scrum.png" id="382" name="Google Shape;382;p14"/>
          <p:cNvPicPr preferRelativeResize="0"/>
          <p:nvPr/>
        </p:nvPicPr>
        <p:blipFill rotWithShape="1">
          <a:blip r:embed="rId3">
            <a:alphaModFix/>
          </a:blip>
          <a:srcRect b="26959" l="18044" r="17189" t="0"/>
          <a:stretch/>
        </p:blipFill>
        <p:spPr>
          <a:xfrm>
            <a:off x="7257875" y="1992950"/>
            <a:ext cx="4851150" cy="3376875"/>
          </a:xfrm>
          <a:prstGeom prst="rect">
            <a:avLst/>
          </a:prstGeom>
          <a:noFill/>
          <a:ln>
            <a:noFill/>
          </a:ln>
        </p:spPr>
      </p:pic>
      <p:sp>
        <p:nvSpPr>
          <p:cNvPr id="383" name="Google Shape;383;p14"/>
          <p:cNvSpPr txBox="1"/>
          <p:nvPr/>
        </p:nvSpPr>
        <p:spPr>
          <a:xfrm>
            <a:off x="502920" y="6528816"/>
            <a:ext cx="731520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50"/>
              <a:buFont typeface="Arial"/>
              <a:buNone/>
            </a:pPr>
            <a:r>
              <a:rPr b="0" i="1" lang="en-US" sz="950" u="none" cap="none" strike="noStrike">
                <a:solidFill>
                  <a:srgbClr val="595959"/>
                </a:solidFill>
                <a:latin typeface="Calibri"/>
                <a:ea typeface="Calibri"/>
                <a:cs typeface="Calibri"/>
                <a:sym typeface="Calibri"/>
              </a:rPr>
              <a:t>IE203 – Quản trị quy trình nghiệp vụ  |  OR Tech</a:t>
            </a:r>
            <a:endParaRPr b="0" i="0" sz="1400" u="none" cap="none" strike="noStrike">
              <a:solidFill>
                <a:srgbClr val="000000"/>
              </a:solidFill>
              <a:latin typeface="Arial"/>
              <a:ea typeface="Arial"/>
              <a:cs typeface="Arial"/>
              <a:sym typeface="Arial"/>
            </a:endParaRPr>
          </a:p>
        </p:txBody>
      </p:sp>
      <p:sp>
        <p:nvSpPr>
          <p:cNvPr id="384" name="Google Shape;384;p14"/>
          <p:cNvSpPr txBox="1"/>
          <p:nvPr/>
        </p:nvSpPr>
        <p:spPr>
          <a:xfrm>
            <a:off x="11338560" y="6528816"/>
            <a:ext cx="457200" cy="27432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050"/>
              <a:buFont typeface="Arial"/>
              <a:buNone/>
            </a:pPr>
            <a:r>
              <a:rPr b="1" i="0" lang="en-US" sz="1050" u="none" cap="none" strike="noStrike">
                <a:solidFill>
                  <a:srgbClr val="595959"/>
                </a:solidFill>
                <a:latin typeface="Calibri"/>
                <a:ea typeface="Calibri"/>
                <a:cs typeface="Calibri"/>
                <a:sym typeface="Calibri"/>
              </a:rPr>
              <a:t>13</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15"/>
          <p:cNvSpPr/>
          <p:nvPr/>
        </p:nvSpPr>
        <p:spPr>
          <a:xfrm>
            <a:off x="0" y="0"/>
            <a:ext cx="12191695"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91" name="Google Shape;391;p15"/>
          <p:cNvSpPr/>
          <p:nvPr/>
        </p:nvSpPr>
        <p:spPr>
          <a:xfrm>
            <a:off x="0" y="0"/>
            <a:ext cx="12191695" cy="960120"/>
          </a:xfrm>
          <a:prstGeom prst="rect">
            <a:avLst/>
          </a:prstGeom>
          <a:solidFill>
            <a:srgbClr val="6366F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92" name="Google Shape;392;p15"/>
          <p:cNvSpPr/>
          <p:nvPr/>
        </p:nvSpPr>
        <p:spPr>
          <a:xfrm>
            <a:off x="0" y="960120"/>
            <a:ext cx="12191695" cy="38100"/>
          </a:xfrm>
          <a:prstGeom prst="rect">
            <a:avLst/>
          </a:prstGeom>
          <a:solidFill>
            <a:srgbClr val="4338C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93" name="Google Shape;393;p15"/>
          <p:cNvSpPr txBox="1"/>
          <p:nvPr/>
        </p:nvSpPr>
        <p:spPr>
          <a:xfrm>
            <a:off x="502920" y="91440"/>
            <a:ext cx="100584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lt1"/>
                </a:solidFill>
                <a:latin typeface="Calibri"/>
                <a:ea typeface="Calibri"/>
                <a:cs typeface="Calibri"/>
                <a:sym typeface="Calibri"/>
              </a:rPr>
              <a:t>QUY TRÌNH 2 · CORE · MỤC 4</a:t>
            </a:r>
            <a:endParaRPr b="0" i="0" sz="1400" u="none" cap="none" strike="noStrike">
              <a:solidFill>
                <a:schemeClr val="lt1"/>
              </a:solidFill>
              <a:latin typeface="Arial"/>
              <a:ea typeface="Arial"/>
              <a:cs typeface="Arial"/>
              <a:sym typeface="Arial"/>
            </a:endParaRPr>
          </a:p>
        </p:txBody>
      </p:sp>
      <p:sp>
        <p:nvSpPr>
          <p:cNvPr id="394" name="Google Shape;394;p15"/>
          <p:cNvSpPr txBox="1"/>
          <p:nvPr/>
        </p:nvSpPr>
        <p:spPr>
          <a:xfrm>
            <a:off x="502920" y="365760"/>
            <a:ext cx="10972800" cy="5486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FFFFFF"/>
                </a:solidFill>
                <a:latin typeface="Calibri"/>
                <a:ea typeface="Calibri"/>
                <a:cs typeface="Calibri"/>
                <a:sym typeface="Calibri"/>
              </a:rPr>
              <a:t>Quản lý Dự án (Scrum) — Phân tích định tính</a:t>
            </a:r>
            <a:endParaRPr b="0" i="0" sz="1400" u="none" cap="none" strike="noStrike">
              <a:solidFill>
                <a:srgbClr val="000000"/>
              </a:solidFill>
              <a:latin typeface="Arial"/>
              <a:ea typeface="Arial"/>
              <a:cs typeface="Arial"/>
              <a:sym typeface="Arial"/>
            </a:endParaRPr>
          </a:p>
        </p:txBody>
      </p:sp>
      <p:sp>
        <p:nvSpPr>
          <p:cNvPr id="395" name="Google Shape;395;p15"/>
          <p:cNvSpPr txBox="1"/>
          <p:nvPr/>
        </p:nvSpPr>
        <p:spPr>
          <a:xfrm>
            <a:off x="502920" y="1143000"/>
            <a:ext cx="11155800" cy="200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chemeClr val="dk1"/>
                </a:solidFill>
                <a:latin typeface="Calibri"/>
                <a:ea typeface="Calibri"/>
                <a:cs typeface="Calibri"/>
                <a:sym typeface="Calibri"/>
              </a:rPr>
              <a:t>PHÂN TÍCH GIÁ TRỊ GIA TĂNG (VA / BVA / NVA)</a:t>
            </a:r>
            <a:endParaRPr b="0" i="0" sz="1400" u="none" cap="none" strike="noStrike">
              <a:solidFill>
                <a:schemeClr val="dk1"/>
              </a:solidFill>
              <a:latin typeface="Arial"/>
              <a:ea typeface="Arial"/>
              <a:cs typeface="Arial"/>
              <a:sym typeface="Arial"/>
            </a:endParaRPr>
          </a:p>
        </p:txBody>
      </p:sp>
      <p:graphicFrame>
        <p:nvGraphicFramePr>
          <p:cNvPr id="396" name="Google Shape;396;p15"/>
          <p:cNvGraphicFramePr/>
          <p:nvPr/>
        </p:nvGraphicFramePr>
        <p:xfrm>
          <a:off x="502920" y="1481328"/>
          <a:ext cx="3000000" cy="3000000"/>
        </p:xfrm>
        <a:graphic>
          <a:graphicData uri="http://schemas.openxmlformats.org/drawingml/2006/table">
            <a:tbl>
              <a:tblPr bandRow="1" firstRow="1">
                <a:noFill/>
                <a:tableStyleId>{660C12F0-EA0F-4C08-B8CF-7D1332A2121B}</a:tableStyleId>
              </a:tblPr>
              <a:tblGrid>
                <a:gridCol w="4553425"/>
                <a:gridCol w="1183875"/>
                <a:gridCol w="5464100"/>
              </a:tblGrid>
              <a:tr h="310900">
                <a:tc>
                  <a:txBody>
                    <a:bodyPr/>
                    <a:lstStyle/>
                    <a:p>
                      <a:pPr indent="0" lvl="0" marL="0" marR="0" rtl="0" algn="ctr">
                        <a:lnSpc>
                          <a:spcPct val="100000"/>
                        </a:lnSpc>
                        <a:spcBef>
                          <a:spcPts val="0"/>
                        </a:spcBef>
                        <a:spcAft>
                          <a:spcPts val="0"/>
                        </a:spcAft>
                        <a:buClr>
                          <a:srgbClr val="000000"/>
                        </a:buClr>
                        <a:buSzPts val="1150"/>
                        <a:buFont typeface="Arial"/>
                        <a:buNone/>
                      </a:pPr>
                      <a:r>
                        <a:rPr b="1" lang="en-US" sz="1150" u="none" cap="none" strike="noStrike">
                          <a:solidFill>
                            <a:srgbClr val="FFFFFF"/>
                          </a:solidFill>
                          <a:latin typeface="Calibri"/>
                          <a:ea typeface="Calibri"/>
                          <a:cs typeface="Calibri"/>
                          <a:sym typeface="Calibri"/>
                        </a:rPr>
                        <a:t>Bước</a:t>
                      </a:r>
                      <a:endParaRPr sz="1400" u="none" cap="none" strike="noStrike"/>
                    </a:p>
                  </a:txBody>
                  <a:tcPr marT="25400" marB="25400" marR="76200" marL="76200" anchor="ctr">
                    <a:solidFill>
                      <a:srgbClr val="6366F1"/>
                    </a:solidFill>
                  </a:tcPr>
                </a:tc>
                <a:tc>
                  <a:txBody>
                    <a:bodyPr/>
                    <a:lstStyle/>
                    <a:p>
                      <a:pPr indent="0" lvl="0" marL="0" marR="0" rtl="0" algn="ctr">
                        <a:lnSpc>
                          <a:spcPct val="100000"/>
                        </a:lnSpc>
                        <a:spcBef>
                          <a:spcPts val="0"/>
                        </a:spcBef>
                        <a:spcAft>
                          <a:spcPts val="0"/>
                        </a:spcAft>
                        <a:buClr>
                          <a:srgbClr val="000000"/>
                        </a:buClr>
                        <a:buSzPts val="1150"/>
                        <a:buFont typeface="Arial"/>
                        <a:buNone/>
                      </a:pPr>
                      <a:r>
                        <a:rPr b="1" lang="en-US" sz="1150" u="none" cap="none" strike="noStrike">
                          <a:solidFill>
                            <a:srgbClr val="FFFFFF"/>
                          </a:solidFill>
                          <a:latin typeface="Calibri"/>
                          <a:ea typeface="Calibri"/>
                          <a:cs typeface="Calibri"/>
                          <a:sym typeface="Calibri"/>
                        </a:rPr>
                        <a:t>Phân loại</a:t>
                      </a:r>
                      <a:endParaRPr sz="1400" u="none" cap="none" strike="noStrike"/>
                    </a:p>
                  </a:txBody>
                  <a:tcPr marT="25400" marB="25400" marR="76200" marL="76200" anchor="ctr">
                    <a:solidFill>
                      <a:srgbClr val="6366F1"/>
                    </a:solidFill>
                  </a:tcPr>
                </a:tc>
                <a:tc>
                  <a:txBody>
                    <a:bodyPr/>
                    <a:lstStyle/>
                    <a:p>
                      <a:pPr indent="0" lvl="0" marL="0" marR="0" rtl="0" algn="ctr">
                        <a:lnSpc>
                          <a:spcPct val="100000"/>
                        </a:lnSpc>
                        <a:spcBef>
                          <a:spcPts val="0"/>
                        </a:spcBef>
                        <a:spcAft>
                          <a:spcPts val="0"/>
                        </a:spcAft>
                        <a:buClr>
                          <a:srgbClr val="000000"/>
                        </a:buClr>
                        <a:buSzPts val="1150"/>
                        <a:buFont typeface="Arial"/>
                        <a:buNone/>
                      </a:pPr>
                      <a:r>
                        <a:rPr b="1" lang="en-US" sz="1150" u="none" cap="none" strike="noStrike">
                          <a:solidFill>
                            <a:srgbClr val="FFFFFF"/>
                          </a:solidFill>
                          <a:latin typeface="Calibri"/>
                          <a:ea typeface="Calibri"/>
                          <a:cs typeface="Calibri"/>
                          <a:sym typeface="Calibri"/>
                        </a:rPr>
                        <a:t>Khắc phục đề xuất</a:t>
                      </a:r>
                      <a:endParaRPr sz="1400" u="none" cap="none" strike="noStrike"/>
                    </a:p>
                  </a:txBody>
                  <a:tcPr marT="25400" marB="25400" marR="76200" marL="76200" anchor="ctr">
                    <a:solidFill>
                      <a:srgbClr val="6366F1"/>
                    </a:solidFill>
                  </a:tcPr>
                </a:tc>
              </a:tr>
              <a:tr h="310900">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333333"/>
                          </a:solidFill>
                          <a:latin typeface="Calibri"/>
                          <a:ea typeface="Calibri"/>
                          <a:cs typeface="Calibri"/>
                          <a:sym typeface="Calibri"/>
                        </a:rPr>
                        <a:t>Phát triển deliverables (coding)</a:t>
                      </a:r>
                      <a:endParaRPr sz="1400" u="none" cap="none" strike="noStrike"/>
                    </a:p>
                  </a:txBody>
                  <a:tcPr marT="25400" marB="25400" marR="76200" marL="76200" anchor="ctr">
                    <a:solidFill>
                      <a:srgbClr val="FFFFFF"/>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333333"/>
                          </a:solidFill>
                          <a:latin typeface="Calibri"/>
                          <a:ea typeface="Calibri"/>
                          <a:cs typeface="Calibri"/>
                          <a:sym typeface="Calibri"/>
                        </a:rPr>
                        <a:t>VA</a:t>
                      </a:r>
                      <a:endParaRPr sz="1400" u="none" cap="none" strike="noStrike"/>
                    </a:p>
                  </a:txBody>
                  <a:tcPr marT="25400" marB="25400" marR="76200" marL="76200" anchor="ctr">
                    <a:solidFill>
                      <a:srgbClr val="FFFFFF"/>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333333"/>
                          </a:solidFill>
                          <a:latin typeface="Calibri"/>
                          <a:ea typeface="Calibri"/>
                          <a:cs typeface="Calibri"/>
                          <a:sym typeface="Calibri"/>
                        </a:rPr>
                        <a:t>Code review đồng thời để giảm rework</a:t>
                      </a:r>
                      <a:endParaRPr sz="1400" u="none" cap="none" strike="noStrike"/>
                    </a:p>
                  </a:txBody>
                  <a:tcPr marT="25400" marB="25400" marR="76200" marL="76200" anchor="ctr">
                    <a:solidFill>
                      <a:srgbClr val="FFFFFF"/>
                    </a:solidFill>
                  </a:tcPr>
                </a:tc>
              </a:tr>
              <a:tr h="310900">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333333"/>
                          </a:solidFill>
                          <a:latin typeface="Calibri"/>
                          <a:ea typeface="Calibri"/>
                          <a:cs typeface="Calibri"/>
                          <a:sym typeface="Calibri"/>
                        </a:rPr>
                        <a:t>Viết test case // kiểm thử song song</a:t>
                      </a:r>
                      <a:endParaRPr sz="1400" u="none" cap="none" strike="noStrike"/>
                    </a:p>
                  </a:txBody>
                  <a:tcPr marT="25400" marB="25400" marR="76200" marL="76200" anchor="ctr">
                    <a:solidFill>
                      <a:srgbClr val="F1F3F6"/>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333333"/>
                          </a:solidFill>
                          <a:latin typeface="Calibri"/>
                          <a:ea typeface="Calibri"/>
                          <a:cs typeface="Calibri"/>
                          <a:sym typeface="Calibri"/>
                        </a:rPr>
                        <a:t>VA</a:t>
                      </a:r>
                      <a:endParaRPr sz="1400" u="none" cap="none" strike="noStrike"/>
                    </a:p>
                  </a:txBody>
                  <a:tcPr marT="25400" marB="25400" marR="76200" marL="76200" anchor="ctr">
                    <a:solidFill>
                      <a:srgbClr val="F1F3F6"/>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333333"/>
                          </a:solidFill>
                          <a:latin typeface="Calibri"/>
                          <a:ea typeface="Calibri"/>
                          <a:cs typeface="Calibri"/>
                          <a:sym typeface="Calibri"/>
                        </a:rPr>
                        <a:t>Tự động hóa test (CI/CD) để tăng tốc kiểm thử</a:t>
                      </a:r>
                      <a:endParaRPr sz="1400" u="none" cap="none" strike="noStrike"/>
                    </a:p>
                  </a:txBody>
                  <a:tcPr marT="25400" marB="25400" marR="76200" marL="76200" anchor="ctr">
                    <a:solidFill>
                      <a:srgbClr val="F1F3F6"/>
                    </a:solidFill>
                  </a:tcPr>
                </a:tc>
              </a:tr>
              <a:tr h="310900">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333333"/>
                          </a:solidFill>
                          <a:latin typeface="Calibri"/>
                          <a:ea typeface="Calibri"/>
                          <a:cs typeface="Calibri"/>
                          <a:sym typeface="Calibri"/>
                        </a:rPr>
                        <a:t>Sprint Review (demo cho khách hàng)</a:t>
                      </a:r>
                      <a:endParaRPr sz="1400" u="none" cap="none" strike="noStrike"/>
                    </a:p>
                  </a:txBody>
                  <a:tcPr marT="25400" marB="25400" marR="76200" marL="76200" anchor="ctr">
                    <a:solidFill>
                      <a:srgbClr val="FFFFFF"/>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333333"/>
                          </a:solidFill>
                          <a:latin typeface="Calibri"/>
                          <a:ea typeface="Calibri"/>
                          <a:cs typeface="Calibri"/>
                          <a:sym typeface="Calibri"/>
                        </a:rPr>
                        <a:t>VA</a:t>
                      </a:r>
                      <a:endParaRPr sz="1400" u="none" cap="none" strike="noStrike"/>
                    </a:p>
                  </a:txBody>
                  <a:tcPr marT="25400" marB="25400" marR="76200" marL="76200" anchor="ctr">
                    <a:solidFill>
                      <a:srgbClr val="FFFFFF"/>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333333"/>
                          </a:solidFill>
                          <a:latin typeface="Calibri"/>
                          <a:ea typeface="Calibri"/>
                          <a:cs typeface="Calibri"/>
                          <a:sym typeface="Calibri"/>
                        </a:rPr>
                        <a:t>Chuẩn bị kịch bản demo tập trung vào giá trị</a:t>
                      </a:r>
                      <a:endParaRPr sz="1400" u="none" cap="none" strike="noStrike"/>
                    </a:p>
                  </a:txBody>
                  <a:tcPr marT="25400" marB="25400" marR="76200" marL="76200" anchor="ctr">
                    <a:solidFill>
                      <a:srgbClr val="FFFFFF"/>
                    </a:solidFill>
                  </a:tcPr>
                </a:tc>
              </a:tr>
              <a:tr h="310900">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333333"/>
                          </a:solidFill>
                          <a:latin typeface="Calibri"/>
                          <a:ea typeface="Calibri"/>
                          <a:cs typeface="Calibri"/>
                          <a:sym typeface="Calibri"/>
                        </a:rPr>
                        <a:t>Cập nhật tài liệu cuối Closing</a:t>
                      </a:r>
                      <a:endParaRPr sz="1400" u="none" cap="none" strike="noStrike"/>
                    </a:p>
                  </a:txBody>
                  <a:tcPr marT="25400" marB="25400" marR="76200" marL="76200" anchor="ctr">
                    <a:solidFill>
                      <a:srgbClr val="F1F3F6"/>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333333"/>
                          </a:solidFill>
                          <a:latin typeface="Calibri"/>
                          <a:ea typeface="Calibri"/>
                          <a:cs typeface="Calibri"/>
                          <a:sym typeface="Calibri"/>
                        </a:rPr>
                        <a:t>NVA</a:t>
                      </a:r>
                      <a:endParaRPr sz="1400" u="none" cap="none" strike="noStrike"/>
                    </a:p>
                  </a:txBody>
                  <a:tcPr marT="25400" marB="25400" marR="76200" marL="76200" anchor="ctr">
                    <a:solidFill>
                      <a:srgbClr val="F1F3F6"/>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333333"/>
                          </a:solidFill>
                          <a:latin typeface="Calibri"/>
                          <a:ea typeface="Calibri"/>
                          <a:cs typeface="Calibri"/>
                          <a:sym typeface="Calibri"/>
                        </a:rPr>
                        <a:t>Chỉ giữ tài liệu thiết yếu, tự động sinh từ công cụ quản lý</a:t>
                      </a:r>
                      <a:endParaRPr sz="1400" u="none" cap="none" strike="noStrike"/>
                    </a:p>
                  </a:txBody>
                  <a:tcPr marT="25400" marB="25400" marR="76200" marL="76200" anchor="ctr">
                    <a:solidFill>
                      <a:srgbClr val="F1F3F6"/>
                    </a:solidFill>
                  </a:tcPr>
                </a:tc>
              </a:tr>
            </a:tbl>
          </a:graphicData>
        </a:graphic>
      </p:graphicFrame>
      <p:sp>
        <p:nvSpPr>
          <p:cNvPr id="397" name="Google Shape;397;p15"/>
          <p:cNvSpPr txBox="1"/>
          <p:nvPr/>
        </p:nvSpPr>
        <p:spPr>
          <a:xfrm>
            <a:off x="502920" y="3246120"/>
            <a:ext cx="11155800" cy="200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chemeClr val="dk1"/>
                </a:solidFill>
                <a:latin typeface="Calibri"/>
                <a:ea typeface="Calibri"/>
                <a:cs typeface="Calibri"/>
                <a:sym typeface="Calibri"/>
              </a:rPr>
              <a:t>PHÂN TÍCH SỰ LÃNG PHÍ (MOVE / HOLD / OVERDO)</a:t>
            </a:r>
            <a:endParaRPr b="0" i="0" sz="1400" u="none" cap="none" strike="noStrike">
              <a:solidFill>
                <a:schemeClr val="dk1"/>
              </a:solidFill>
              <a:latin typeface="Arial"/>
              <a:ea typeface="Arial"/>
              <a:cs typeface="Arial"/>
              <a:sym typeface="Arial"/>
            </a:endParaRPr>
          </a:p>
        </p:txBody>
      </p:sp>
      <p:graphicFrame>
        <p:nvGraphicFramePr>
          <p:cNvPr id="398" name="Google Shape;398;p15"/>
          <p:cNvGraphicFramePr/>
          <p:nvPr/>
        </p:nvGraphicFramePr>
        <p:xfrm>
          <a:off x="502920" y="3584448"/>
          <a:ext cx="3000000" cy="3000000"/>
        </p:xfrm>
        <a:graphic>
          <a:graphicData uri="http://schemas.openxmlformats.org/drawingml/2006/table">
            <a:tbl>
              <a:tblPr bandRow="1" firstRow="1">
                <a:noFill/>
                <a:tableStyleId>{660C12F0-EA0F-4C08-B8CF-7D1332A2121B}</a:tableStyleId>
              </a:tblPr>
              <a:tblGrid>
                <a:gridCol w="1183875"/>
                <a:gridCol w="5646225"/>
                <a:gridCol w="4371275"/>
              </a:tblGrid>
              <a:tr h="320050">
                <a:tc>
                  <a:txBody>
                    <a:bodyPr/>
                    <a:lstStyle/>
                    <a:p>
                      <a:pPr indent="0" lvl="0" marL="0" marR="0" rtl="0" algn="ctr">
                        <a:lnSpc>
                          <a:spcPct val="100000"/>
                        </a:lnSpc>
                        <a:spcBef>
                          <a:spcPts val="0"/>
                        </a:spcBef>
                        <a:spcAft>
                          <a:spcPts val="0"/>
                        </a:spcAft>
                        <a:buClr>
                          <a:srgbClr val="000000"/>
                        </a:buClr>
                        <a:buSzPts val="1150"/>
                        <a:buFont typeface="Arial"/>
                        <a:buNone/>
                      </a:pPr>
                      <a:r>
                        <a:rPr b="1" lang="en-US" sz="1150" u="none" cap="none" strike="noStrike">
                          <a:solidFill>
                            <a:srgbClr val="FFFFFF"/>
                          </a:solidFill>
                          <a:latin typeface="Calibri"/>
                          <a:ea typeface="Calibri"/>
                          <a:cs typeface="Calibri"/>
                          <a:sym typeface="Calibri"/>
                        </a:rPr>
                        <a:t>Loại lãng phí</a:t>
                      </a:r>
                      <a:endParaRPr sz="1400" u="none" cap="none" strike="noStrike"/>
                    </a:p>
                  </a:txBody>
                  <a:tcPr marT="25400" marB="25400" marR="76200" marL="76200" anchor="ctr">
                    <a:solidFill>
                      <a:srgbClr val="6366F1"/>
                    </a:solidFill>
                  </a:tcPr>
                </a:tc>
                <a:tc>
                  <a:txBody>
                    <a:bodyPr/>
                    <a:lstStyle/>
                    <a:p>
                      <a:pPr indent="0" lvl="0" marL="0" marR="0" rtl="0" algn="ctr">
                        <a:lnSpc>
                          <a:spcPct val="100000"/>
                        </a:lnSpc>
                        <a:spcBef>
                          <a:spcPts val="0"/>
                        </a:spcBef>
                        <a:spcAft>
                          <a:spcPts val="0"/>
                        </a:spcAft>
                        <a:buClr>
                          <a:srgbClr val="000000"/>
                        </a:buClr>
                        <a:buSzPts val="1150"/>
                        <a:buFont typeface="Arial"/>
                        <a:buNone/>
                      </a:pPr>
                      <a:r>
                        <a:rPr b="1" lang="en-US" sz="1150" u="none" cap="none" strike="noStrike">
                          <a:solidFill>
                            <a:srgbClr val="FFFFFF"/>
                          </a:solidFill>
                          <a:latin typeface="Calibri"/>
                          <a:ea typeface="Calibri"/>
                          <a:cs typeface="Calibri"/>
                          <a:sym typeface="Calibri"/>
                        </a:rPr>
                        <a:t>Mô tả</a:t>
                      </a:r>
                      <a:endParaRPr sz="1400" u="none" cap="none" strike="noStrike"/>
                    </a:p>
                  </a:txBody>
                  <a:tcPr marT="25400" marB="25400" marR="76200" marL="76200" anchor="ctr">
                    <a:solidFill>
                      <a:srgbClr val="6366F1"/>
                    </a:solidFill>
                  </a:tcPr>
                </a:tc>
                <a:tc>
                  <a:txBody>
                    <a:bodyPr/>
                    <a:lstStyle/>
                    <a:p>
                      <a:pPr indent="0" lvl="0" marL="0" marR="0" rtl="0" algn="ctr">
                        <a:lnSpc>
                          <a:spcPct val="100000"/>
                        </a:lnSpc>
                        <a:spcBef>
                          <a:spcPts val="0"/>
                        </a:spcBef>
                        <a:spcAft>
                          <a:spcPts val="0"/>
                        </a:spcAft>
                        <a:buClr>
                          <a:srgbClr val="000000"/>
                        </a:buClr>
                        <a:buSzPts val="1150"/>
                        <a:buFont typeface="Arial"/>
                        <a:buNone/>
                      </a:pPr>
                      <a:r>
                        <a:rPr b="1" lang="en-US" sz="1150" u="none" cap="none" strike="noStrike">
                          <a:solidFill>
                            <a:srgbClr val="FFFFFF"/>
                          </a:solidFill>
                          <a:latin typeface="Calibri"/>
                          <a:ea typeface="Calibri"/>
                          <a:cs typeface="Calibri"/>
                          <a:sym typeface="Calibri"/>
                        </a:rPr>
                        <a:t>Khắc phục đề xuất</a:t>
                      </a:r>
                      <a:endParaRPr sz="1400" u="none" cap="none" strike="noStrike"/>
                    </a:p>
                  </a:txBody>
                  <a:tcPr marT="25400" marB="25400" marR="76200" marL="76200" anchor="ctr">
                    <a:solidFill>
                      <a:srgbClr val="6366F1"/>
                    </a:solidFill>
                  </a:tcPr>
                </a:tc>
              </a:tr>
              <a:tr h="320050">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333333"/>
                          </a:solidFill>
                          <a:latin typeface="Calibri"/>
                          <a:ea typeface="Calibri"/>
                          <a:cs typeface="Calibri"/>
                          <a:sym typeface="Calibri"/>
                        </a:rPr>
                        <a:t>Move</a:t>
                      </a:r>
                      <a:endParaRPr sz="1400" u="none" cap="none" strike="noStrike"/>
                    </a:p>
                  </a:txBody>
                  <a:tcPr marT="25400" marB="25400" marR="76200" marL="76200" anchor="ctr">
                    <a:solidFill>
                      <a:srgbClr val="FFFFFF"/>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333333"/>
                          </a:solidFill>
                          <a:latin typeface="Calibri"/>
                          <a:ea typeface="Calibri"/>
                          <a:cs typeface="Calibri"/>
                          <a:sym typeface="Calibri"/>
                        </a:rPr>
                        <a:t>Yêu cầu/thông tin trao đổi qua nhiều kênh (email, chat, họp) khiến ngữ cảnh bị thất lạc</a:t>
                      </a:r>
                      <a:endParaRPr sz="1400" u="none" cap="none" strike="noStrike"/>
                    </a:p>
                  </a:txBody>
                  <a:tcPr marT="25400" marB="25400" marR="76200" marL="76200" anchor="ctr">
                    <a:solidFill>
                      <a:srgbClr val="FFFFFF"/>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333333"/>
                          </a:solidFill>
                          <a:latin typeface="Calibri"/>
                          <a:ea typeface="Calibri"/>
                          <a:cs typeface="Calibri"/>
                          <a:sym typeface="Calibri"/>
                        </a:rPr>
                        <a:t>Một kênh trao đổi chính thức duy nhất mỗi sprint (Jira/Slack)</a:t>
                      </a:r>
                      <a:endParaRPr sz="1400" u="none" cap="none" strike="noStrike"/>
                    </a:p>
                  </a:txBody>
                  <a:tcPr marT="25400" marB="25400" marR="76200" marL="76200" anchor="ctr">
                    <a:solidFill>
                      <a:srgbClr val="FFFFFF"/>
                    </a:solidFill>
                  </a:tcPr>
                </a:tc>
              </a:tr>
              <a:tr h="320050">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333333"/>
                          </a:solidFill>
                          <a:latin typeface="Calibri"/>
                          <a:ea typeface="Calibri"/>
                          <a:cs typeface="Calibri"/>
                          <a:sym typeface="Calibri"/>
                        </a:rPr>
                        <a:t>Hold</a:t>
                      </a:r>
                      <a:endParaRPr sz="1400" u="none" cap="none" strike="noStrike"/>
                    </a:p>
                  </a:txBody>
                  <a:tcPr marT="25400" marB="25400" marR="76200" marL="76200" anchor="ctr">
                    <a:solidFill>
                      <a:srgbClr val="F1F3F6"/>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333333"/>
                          </a:solidFill>
                          <a:latin typeface="Calibri"/>
                          <a:ea typeface="Calibri"/>
                          <a:cs typeface="Calibri"/>
                          <a:sym typeface="Calibri"/>
                        </a:rPr>
                        <a:t>Team phải chờ Product Owner làm rõ yêu cầu, gây đình trệ giữa sprint</a:t>
                      </a:r>
                      <a:endParaRPr sz="1400" u="none" cap="none" strike="noStrike"/>
                    </a:p>
                  </a:txBody>
                  <a:tcPr marT="25400" marB="25400" marR="76200" marL="76200" anchor="ctr">
                    <a:solidFill>
                      <a:srgbClr val="F1F3F6"/>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333333"/>
                          </a:solidFill>
                          <a:latin typeface="Calibri"/>
                          <a:ea typeface="Calibri"/>
                          <a:cs typeface="Calibri"/>
                          <a:sym typeface="Calibri"/>
                        </a:rPr>
                        <a:t>Product Owner dành thời gian cố định hàng ngày để giải đáp</a:t>
                      </a:r>
                      <a:endParaRPr sz="1400" u="none" cap="none" strike="noStrike"/>
                    </a:p>
                  </a:txBody>
                  <a:tcPr marT="25400" marB="25400" marR="76200" marL="76200" anchor="ctr">
                    <a:solidFill>
                      <a:srgbClr val="F1F3F6"/>
                    </a:solidFill>
                  </a:tcPr>
                </a:tc>
              </a:tr>
              <a:tr h="320050">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333333"/>
                          </a:solidFill>
                          <a:latin typeface="Calibri"/>
                          <a:ea typeface="Calibri"/>
                          <a:cs typeface="Calibri"/>
                          <a:sym typeface="Calibri"/>
                        </a:rPr>
                        <a:t>Overdo</a:t>
                      </a:r>
                      <a:endParaRPr sz="1400" u="none" cap="none" strike="noStrike"/>
                    </a:p>
                  </a:txBody>
                  <a:tcPr marT="25400" marB="25400" marR="76200" marL="76200" anchor="ctr">
                    <a:solidFill>
                      <a:srgbClr val="FFFFFF"/>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333333"/>
                          </a:solidFill>
                          <a:latin typeface="Calibri"/>
                          <a:ea typeface="Calibri"/>
                          <a:cs typeface="Calibri"/>
                          <a:sym typeface="Calibri"/>
                        </a:rPr>
                        <a:t>Viết tài liệu đặc tả quá chi tiết cho task đơn giản, không cần thiết</a:t>
                      </a:r>
                      <a:endParaRPr sz="1400" u="none" cap="none" strike="noStrike"/>
                    </a:p>
                  </a:txBody>
                  <a:tcPr marT="25400" marB="25400" marR="76200" marL="76200" anchor="ctr">
                    <a:solidFill>
                      <a:srgbClr val="FFFFFF"/>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333333"/>
                          </a:solidFill>
                          <a:latin typeface="Calibri"/>
                          <a:ea typeface="Calibri"/>
                          <a:cs typeface="Calibri"/>
                          <a:sym typeface="Calibri"/>
                        </a:rPr>
                        <a:t>Nguyên tắc 'vừa đủ' (just enough documentation)</a:t>
                      </a:r>
                      <a:endParaRPr sz="1400" u="none" cap="none" strike="noStrike"/>
                    </a:p>
                  </a:txBody>
                  <a:tcPr marT="25400" marB="25400" marR="76200" marL="76200" anchor="ctr">
                    <a:solidFill>
                      <a:srgbClr val="FFFFFF"/>
                    </a:solidFill>
                  </a:tcPr>
                </a:tc>
              </a:tr>
            </a:tbl>
          </a:graphicData>
        </a:graphic>
      </p:graphicFrame>
      <p:sp>
        <p:nvSpPr>
          <p:cNvPr id="399" name="Google Shape;399;p15"/>
          <p:cNvSpPr txBox="1"/>
          <p:nvPr/>
        </p:nvSpPr>
        <p:spPr>
          <a:xfrm>
            <a:off x="502920" y="5257800"/>
            <a:ext cx="11155800" cy="200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chemeClr val="dk1"/>
                </a:solidFill>
                <a:latin typeface="Calibri"/>
                <a:ea typeface="Calibri"/>
                <a:cs typeface="Calibri"/>
                <a:sym typeface="Calibri"/>
              </a:rPr>
              <a:t>CÁC BÊN LIÊN QUAN CHÍNH</a:t>
            </a:r>
            <a:endParaRPr b="0" i="0" sz="1400" u="none" cap="none" strike="noStrike">
              <a:solidFill>
                <a:schemeClr val="dk1"/>
              </a:solidFill>
              <a:latin typeface="Arial"/>
              <a:ea typeface="Arial"/>
              <a:cs typeface="Arial"/>
              <a:sym typeface="Arial"/>
            </a:endParaRPr>
          </a:p>
        </p:txBody>
      </p:sp>
      <p:sp>
        <p:nvSpPr>
          <p:cNvPr id="400" name="Google Shape;400;p15"/>
          <p:cNvSpPr txBox="1"/>
          <p:nvPr/>
        </p:nvSpPr>
        <p:spPr>
          <a:xfrm>
            <a:off x="502920" y="5577840"/>
            <a:ext cx="11155800" cy="4143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Clr>
                <a:srgbClr val="000000"/>
              </a:buClr>
              <a:buSzPts val="1150"/>
              <a:buFont typeface="Arial"/>
              <a:buNone/>
            </a:pPr>
            <a:r>
              <a:rPr b="1" i="0" lang="en-US" sz="1150" u="none" cap="none" strike="noStrike">
                <a:solidFill>
                  <a:schemeClr val="dk1"/>
                </a:solidFill>
                <a:latin typeface="Calibri"/>
                <a:ea typeface="Calibri"/>
                <a:cs typeface="Calibri"/>
                <a:sym typeface="Calibri"/>
              </a:rPr>
              <a:t>›  Product Owner &amp; Scrum Master/PM: </a:t>
            </a:r>
            <a:r>
              <a:rPr b="0" i="0" lang="en-US" sz="1150" u="none" cap="none" strike="noStrike">
                <a:solidFill>
                  <a:schemeClr val="dk1"/>
                </a:solidFill>
                <a:latin typeface="Calibri"/>
                <a:ea typeface="Calibri"/>
                <a:cs typeface="Calibri"/>
                <a:sym typeface="Calibri"/>
              </a:rPr>
              <a:t>backlog phản ánh đúng giá trị kinh doanh, gỡ impediment kịp thời.</a:t>
            </a:r>
            <a:endParaRPr b="0" i="0" sz="1400" u="none" cap="none" strike="noStrike">
              <a:solidFill>
                <a:schemeClr val="dk1"/>
              </a:solidFill>
              <a:latin typeface="Arial"/>
              <a:ea typeface="Arial"/>
              <a:cs typeface="Arial"/>
              <a:sym typeface="Arial"/>
            </a:endParaRPr>
          </a:p>
          <a:p>
            <a:pPr indent="0" lvl="0" marL="0" marR="0" rtl="0" algn="l">
              <a:lnSpc>
                <a:spcPct val="105000"/>
              </a:lnSpc>
              <a:spcBef>
                <a:spcPts val="400"/>
              </a:spcBef>
              <a:spcAft>
                <a:spcPts val="0"/>
              </a:spcAft>
              <a:buClr>
                <a:srgbClr val="000000"/>
              </a:buClr>
              <a:buSzPts val="1150"/>
              <a:buFont typeface="Arial"/>
              <a:buNone/>
            </a:pPr>
            <a:r>
              <a:rPr b="1" i="0" lang="en-US" sz="1150" u="none" cap="none" strike="noStrike">
                <a:solidFill>
                  <a:schemeClr val="dk1"/>
                </a:solidFill>
                <a:latin typeface="Calibri"/>
                <a:ea typeface="Calibri"/>
                <a:cs typeface="Calibri"/>
                <a:sym typeface="Calibri"/>
              </a:rPr>
              <a:t>›  Dev/Scrum Team &amp; Customer: </a:t>
            </a:r>
            <a:r>
              <a:rPr b="0" i="0" lang="en-US" sz="1150" u="none" cap="none" strike="noStrike">
                <a:solidFill>
                  <a:schemeClr val="dk1"/>
                </a:solidFill>
                <a:latin typeface="Calibri"/>
                <a:ea typeface="Calibri"/>
                <a:cs typeface="Calibri"/>
                <a:sym typeface="Calibri"/>
              </a:rPr>
              <a:t>cần yêu cầu rõ ràng, đủ thời gian hoàn thành; khách hàng mất niềm tin nếu nhiều sprint liên tiếp không đạt DoD.</a:t>
            </a:r>
            <a:endParaRPr b="0" i="0" sz="1400" u="none" cap="none" strike="noStrike">
              <a:solidFill>
                <a:schemeClr val="dk1"/>
              </a:solidFill>
              <a:latin typeface="Arial"/>
              <a:ea typeface="Arial"/>
              <a:cs typeface="Arial"/>
              <a:sym typeface="Arial"/>
            </a:endParaRPr>
          </a:p>
        </p:txBody>
      </p:sp>
      <p:sp>
        <p:nvSpPr>
          <p:cNvPr id="401" name="Google Shape;401;p15"/>
          <p:cNvSpPr txBox="1"/>
          <p:nvPr/>
        </p:nvSpPr>
        <p:spPr>
          <a:xfrm>
            <a:off x="502920" y="6528816"/>
            <a:ext cx="731520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50"/>
              <a:buFont typeface="Arial"/>
              <a:buNone/>
            </a:pPr>
            <a:r>
              <a:rPr b="0" i="1" lang="en-US" sz="950" u="none" cap="none" strike="noStrike">
                <a:solidFill>
                  <a:srgbClr val="595959"/>
                </a:solidFill>
                <a:latin typeface="Calibri"/>
                <a:ea typeface="Calibri"/>
                <a:cs typeface="Calibri"/>
                <a:sym typeface="Calibri"/>
              </a:rPr>
              <a:t>IE203 – Quản trị quy trình nghiệp vụ  |  OR Tech</a:t>
            </a:r>
            <a:endParaRPr b="0" i="0" sz="1400" u="none" cap="none" strike="noStrike">
              <a:solidFill>
                <a:srgbClr val="000000"/>
              </a:solidFill>
              <a:latin typeface="Arial"/>
              <a:ea typeface="Arial"/>
              <a:cs typeface="Arial"/>
              <a:sym typeface="Arial"/>
            </a:endParaRPr>
          </a:p>
        </p:txBody>
      </p:sp>
      <p:sp>
        <p:nvSpPr>
          <p:cNvPr id="402" name="Google Shape;402;p15"/>
          <p:cNvSpPr txBox="1"/>
          <p:nvPr/>
        </p:nvSpPr>
        <p:spPr>
          <a:xfrm>
            <a:off x="11338560" y="6528816"/>
            <a:ext cx="457200" cy="27432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050"/>
              <a:buFont typeface="Arial"/>
              <a:buNone/>
            </a:pPr>
            <a:r>
              <a:rPr b="1" i="0" lang="en-US" sz="1050" u="none" cap="none" strike="noStrike">
                <a:solidFill>
                  <a:srgbClr val="595959"/>
                </a:solidFill>
                <a:latin typeface="Calibri"/>
                <a:ea typeface="Calibri"/>
                <a:cs typeface="Calibri"/>
                <a:sym typeface="Calibri"/>
              </a:rPr>
              <a:t>14</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16"/>
          <p:cNvSpPr/>
          <p:nvPr/>
        </p:nvSpPr>
        <p:spPr>
          <a:xfrm>
            <a:off x="0" y="0"/>
            <a:ext cx="12191695"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09" name="Google Shape;409;p16"/>
          <p:cNvSpPr/>
          <p:nvPr/>
        </p:nvSpPr>
        <p:spPr>
          <a:xfrm>
            <a:off x="0" y="0"/>
            <a:ext cx="12191695" cy="960120"/>
          </a:xfrm>
          <a:prstGeom prst="rect">
            <a:avLst/>
          </a:prstGeom>
          <a:solidFill>
            <a:srgbClr val="6366F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10" name="Google Shape;410;p16"/>
          <p:cNvSpPr/>
          <p:nvPr/>
        </p:nvSpPr>
        <p:spPr>
          <a:xfrm>
            <a:off x="0" y="960120"/>
            <a:ext cx="12191695" cy="38100"/>
          </a:xfrm>
          <a:prstGeom prst="rect">
            <a:avLst/>
          </a:prstGeom>
          <a:solidFill>
            <a:srgbClr val="4338C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11" name="Google Shape;411;p16"/>
          <p:cNvSpPr txBox="1"/>
          <p:nvPr/>
        </p:nvSpPr>
        <p:spPr>
          <a:xfrm>
            <a:off x="502920" y="91440"/>
            <a:ext cx="100584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lt1"/>
                </a:solidFill>
                <a:latin typeface="Calibri"/>
                <a:ea typeface="Calibri"/>
                <a:cs typeface="Calibri"/>
                <a:sym typeface="Calibri"/>
              </a:rPr>
              <a:t>QUY TRÌNH 2 · CORE · MỤC 4</a:t>
            </a:r>
            <a:endParaRPr b="0" i="0" sz="1400" u="none" cap="none" strike="noStrike">
              <a:solidFill>
                <a:schemeClr val="lt1"/>
              </a:solidFill>
              <a:latin typeface="Arial"/>
              <a:ea typeface="Arial"/>
              <a:cs typeface="Arial"/>
              <a:sym typeface="Arial"/>
            </a:endParaRPr>
          </a:p>
        </p:txBody>
      </p:sp>
      <p:sp>
        <p:nvSpPr>
          <p:cNvPr id="412" name="Google Shape;412;p16"/>
          <p:cNvSpPr txBox="1"/>
          <p:nvPr/>
        </p:nvSpPr>
        <p:spPr>
          <a:xfrm>
            <a:off x="502920" y="365760"/>
            <a:ext cx="10972800" cy="5486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FFFFFF"/>
                </a:solidFill>
                <a:latin typeface="Calibri"/>
                <a:ea typeface="Calibri"/>
                <a:cs typeface="Calibri"/>
                <a:sym typeface="Calibri"/>
              </a:rPr>
              <a:t>Quản lý Dự án (Scrum) — Phân tích định lượng</a:t>
            </a:r>
            <a:endParaRPr b="0" i="0" sz="1400" u="none" cap="none" strike="noStrike">
              <a:solidFill>
                <a:srgbClr val="000000"/>
              </a:solidFill>
              <a:latin typeface="Arial"/>
              <a:ea typeface="Arial"/>
              <a:cs typeface="Arial"/>
              <a:sym typeface="Arial"/>
            </a:endParaRPr>
          </a:p>
        </p:txBody>
      </p:sp>
      <p:pic>
        <p:nvPicPr>
          <p:cNvPr descr="pareto_scrum.png" id="413" name="Google Shape;413;p16"/>
          <p:cNvPicPr preferRelativeResize="0"/>
          <p:nvPr/>
        </p:nvPicPr>
        <p:blipFill rotWithShape="1">
          <a:blip r:embed="rId3">
            <a:alphaModFix/>
          </a:blip>
          <a:srcRect b="0" l="0" r="0" t="0"/>
          <a:stretch/>
        </p:blipFill>
        <p:spPr>
          <a:xfrm>
            <a:off x="457200" y="1182025"/>
            <a:ext cx="6309350" cy="3429963"/>
          </a:xfrm>
          <a:prstGeom prst="rect">
            <a:avLst/>
          </a:prstGeom>
          <a:noFill/>
          <a:ln>
            <a:noFill/>
          </a:ln>
        </p:spPr>
      </p:pic>
      <p:sp>
        <p:nvSpPr>
          <p:cNvPr id="414" name="Google Shape;414;p16"/>
          <p:cNvSpPr txBox="1"/>
          <p:nvPr/>
        </p:nvSpPr>
        <p:spPr>
          <a:xfrm>
            <a:off x="6949440" y="1143000"/>
            <a:ext cx="4755000" cy="200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chemeClr val="dk1"/>
                </a:solidFill>
                <a:latin typeface="Calibri"/>
                <a:ea typeface="Calibri"/>
                <a:cs typeface="Calibri"/>
                <a:sym typeface="Calibri"/>
              </a:rPr>
              <a:t>ROOT-CAUSE NỔI BẬT NHẤT</a:t>
            </a:r>
            <a:endParaRPr b="0" i="0" sz="1400" u="none" cap="none" strike="noStrike">
              <a:solidFill>
                <a:schemeClr val="dk1"/>
              </a:solidFill>
              <a:latin typeface="Arial"/>
              <a:ea typeface="Arial"/>
              <a:cs typeface="Arial"/>
              <a:sym typeface="Arial"/>
            </a:endParaRPr>
          </a:p>
        </p:txBody>
      </p:sp>
      <p:sp>
        <p:nvSpPr>
          <p:cNvPr id="415" name="Google Shape;415;p16"/>
          <p:cNvSpPr txBox="1"/>
          <p:nvPr/>
        </p:nvSpPr>
        <p:spPr>
          <a:xfrm>
            <a:off x="6949440" y="1481328"/>
            <a:ext cx="4755000" cy="15999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Clr>
                <a:srgbClr val="000000"/>
              </a:buClr>
              <a:buSzPts val="1150"/>
              <a:buFont typeface="Arial"/>
              <a:buNone/>
            </a:pPr>
            <a:r>
              <a:rPr b="1" i="0" lang="en-US" sz="1150" u="none" cap="none" strike="noStrike">
                <a:solidFill>
                  <a:schemeClr val="dk1"/>
                </a:solidFill>
                <a:latin typeface="Calibri"/>
                <a:ea typeface="Calibri"/>
                <a:cs typeface="Calibri"/>
                <a:sym typeface="Calibri"/>
              </a:rPr>
              <a:t>›  Vấn đề: </a:t>
            </a:r>
            <a:r>
              <a:rPr b="0" i="0" lang="en-US" sz="1150" u="none" cap="none" strike="noStrike">
                <a:solidFill>
                  <a:schemeClr val="dk1"/>
                </a:solidFill>
                <a:latin typeface="Calibri"/>
                <a:ea typeface="Calibri"/>
                <a:cs typeface="Calibri"/>
                <a:sym typeface="Calibri"/>
              </a:rPr>
              <a:t>Sprint không đạt Definition of Done (nguyên nhân hàng đầu, 26% số lần ghi nhận/quý).</a:t>
            </a:r>
            <a:endParaRPr b="0" i="0" sz="1400" u="none" cap="none" strike="noStrike">
              <a:solidFill>
                <a:schemeClr val="dk1"/>
              </a:solidFill>
              <a:latin typeface="Arial"/>
              <a:ea typeface="Arial"/>
              <a:cs typeface="Arial"/>
              <a:sym typeface="Arial"/>
            </a:endParaRPr>
          </a:p>
          <a:p>
            <a:pPr indent="0" lvl="0" marL="0" marR="0" rtl="0" algn="l">
              <a:lnSpc>
                <a:spcPct val="105000"/>
              </a:lnSpc>
              <a:spcBef>
                <a:spcPts val="600"/>
              </a:spcBef>
              <a:spcAft>
                <a:spcPts val="0"/>
              </a:spcAft>
              <a:buClr>
                <a:srgbClr val="000000"/>
              </a:buClr>
              <a:buSzPts val="1150"/>
              <a:buFont typeface="Arial"/>
              <a:buNone/>
            </a:pPr>
            <a:r>
              <a:rPr b="1" i="0" lang="en-US" sz="1150" u="none" cap="none" strike="noStrike">
                <a:solidFill>
                  <a:schemeClr val="dk1"/>
                </a:solidFill>
                <a:latin typeface="Calibri"/>
                <a:ea typeface="Calibri"/>
                <a:cs typeface="Calibri"/>
                <a:sym typeface="Calibri"/>
              </a:rPr>
              <a:t>›  </a:t>
            </a:r>
            <a:r>
              <a:rPr b="0" i="0" lang="en-US" sz="1150" u="none" cap="none" strike="noStrike">
                <a:solidFill>
                  <a:schemeClr val="dk1"/>
                </a:solidFill>
                <a:latin typeface="Calibri"/>
                <a:ea typeface="Calibri"/>
                <a:cs typeface="Calibri"/>
                <a:sym typeface="Calibri"/>
              </a:rPr>
              <a:t>Vì: ước lượng story point chưa sát thực tế.</a:t>
            </a:r>
            <a:endParaRPr b="0" i="0" sz="1400" u="none" cap="none" strike="noStrike">
              <a:solidFill>
                <a:schemeClr val="dk1"/>
              </a:solidFill>
              <a:latin typeface="Arial"/>
              <a:ea typeface="Arial"/>
              <a:cs typeface="Arial"/>
              <a:sym typeface="Arial"/>
            </a:endParaRPr>
          </a:p>
          <a:p>
            <a:pPr indent="0" lvl="0" marL="0" marR="0" rtl="0" algn="l">
              <a:lnSpc>
                <a:spcPct val="105000"/>
              </a:lnSpc>
              <a:spcBef>
                <a:spcPts val="600"/>
              </a:spcBef>
              <a:spcAft>
                <a:spcPts val="0"/>
              </a:spcAft>
              <a:buClr>
                <a:srgbClr val="000000"/>
              </a:buClr>
              <a:buSzPts val="1150"/>
              <a:buFont typeface="Arial"/>
              <a:buNone/>
            </a:pPr>
            <a:r>
              <a:rPr b="1" i="0" lang="en-US" sz="1150" u="none" cap="none" strike="noStrike">
                <a:solidFill>
                  <a:schemeClr val="dk1"/>
                </a:solidFill>
                <a:latin typeface="Calibri"/>
                <a:ea typeface="Calibri"/>
                <a:cs typeface="Calibri"/>
                <a:sym typeface="Calibri"/>
              </a:rPr>
              <a:t>›  </a:t>
            </a:r>
            <a:r>
              <a:rPr b="0" i="0" lang="en-US" sz="1150" u="none" cap="none" strike="noStrike">
                <a:solidFill>
                  <a:schemeClr val="dk1"/>
                </a:solidFill>
                <a:latin typeface="Calibri"/>
                <a:ea typeface="Calibri"/>
                <a:cs typeface="Calibri"/>
                <a:sym typeface="Calibri"/>
              </a:rPr>
              <a:t>Vì: thiếu dữ liệu lịch sử velocity để tham chiếu.</a:t>
            </a:r>
            <a:endParaRPr b="0" i="0" sz="1400" u="none" cap="none" strike="noStrike">
              <a:solidFill>
                <a:schemeClr val="dk1"/>
              </a:solidFill>
              <a:latin typeface="Arial"/>
              <a:ea typeface="Arial"/>
              <a:cs typeface="Arial"/>
              <a:sym typeface="Arial"/>
            </a:endParaRPr>
          </a:p>
          <a:p>
            <a:pPr indent="0" lvl="0" marL="0" marR="0" rtl="0" algn="l">
              <a:lnSpc>
                <a:spcPct val="105000"/>
              </a:lnSpc>
              <a:spcBef>
                <a:spcPts val="600"/>
              </a:spcBef>
              <a:spcAft>
                <a:spcPts val="0"/>
              </a:spcAft>
              <a:buClr>
                <a:srgbClr val="000000"/>
              </a:buClr>
              <a:buSzPts val="1150"/>
              <a:buFont typeface="Arial"/>
              <a:buNone/>
            </a:pPr>
            <a:r>
              <a:rPr b="1" i="0" lang="en-US" sz="1150" u="none" cap="none" strike="noStrike">
                <a:solidFill>
                  <a:schemeClr val="dk1"/>
                </a:solidFill>
                <a:latin typeface="Calibri"/>
                <a:ea typeface="Calibri"/>
                <a:cs typeface="Calibri"/>
                <a:sym typeface="Calibri"/>
              </a:rPr>
              <a:t>›  </a:t>
            </a:r>
            <a:r>
              <a:rPr b="0" i="0" lang="en-US" sz="1150" u="none" cap="none" strike="noStrike">
                <a:solidFill>
                  <a:schemeClr val="dk1"/>
                </a:solidFill>
                <a:latin typeface="Calibri"/>
                <a:ea typeface="Calibri"/>
                <a:cs typeface="Calibri"/>
                <a:sym typeface="Calibri"/>
              </a:rPr>
              <a:t>Vì: chưa refine backlog kỹ trước khi Sprint Planning.</a:t>
            </a:r>
            <a:endParaRPr b="0" i="0" sz="1400" u="none" cap="none" strike="noStrike">
              <a:solidFill>
                <a:schemeClr val="dk1"/>
              </a:solidFill>
              <a:latin typeface="Arial"/>
              <a:ea typeface="Arial"/>
              <a:cs typeface="Arial"/>
              <a:sym typeface="Arial"/>
            </a:endParaRPr>
          </a:p>
          <a:p>
            <a:pPr indent="0" lvl="0" marL="0" marR="0" rtl="0" algn="l">
              <a:lnSpc>
                <a:spcPct val="105000"/>
              </a:lnSpc>
              <a:spcBef>
                <a:spcPts val="600"/>
              </a:spcBef>
              <a:spcAft>
                <a:spcPts val="0"/>
              </a:spcAft>
              <a:buClr>
                <a:srgbClr val="000000"/>
              </a:buClr>
              <a:buSzPts val="1150"/>
              <a:buFont typeface="Arial"/>
              <a:buNone/>
            </a:pPr>
            <a:r>
              <a:rPr b="1" i="0" lang="en-US" sz="1150" u="none" cap="none" strike="noStrike">
                <a:solidFill>
                  <a:schemeClr val="dk1"/>
                </a:solidFill>
                <a:latin typeface="Calibri"/>
                <a:ea typeface="Calibri"/>
                <a:cs typeface="Calibri"/>
                <a:sym typeface="Calibri"/>
              </a:rPr>
              <a:t>›  </a:t>
            </a:r>
            <a:r>
              <a:rPr b="0" i="0" lang="en-US" sz="1150" u="none" cap="none" strike="noStrike">
                <a:solidFill>
                  <a:schemeClr val="dk1"/>
                </a:solidFill>
                <a:latin typeface="Calibri"/>
                <a:ea typeface="Calibri"/>
                <a:cs typeface="Calibri"/>
                <a:sym typeface="Calibri"/>
              </a:rPr>
              <a:t>Vì: yêu cầu thay đổi giữa sprint (scope creep) do Product Owner chưa chốt kịp.</a:t>
            </a:r>
            <a:endParaRPr b="0" i="0" sz="1400" u="none" cap="none" strike="noStrike">
              <a:solidFill>
                <a:schemeClr val="dk1"/>
              </a:solidFill>
              <a:latin typeface="Arial"/>
              <a:ea typeface="Arial"/>
              <a:cs typeface="Arial"/>
              <a:sym typeface="Arial"/>
            </a:endParaRPr>
          </a:p>
        </p:txBody>
      </p:sp>
      <p:graphicFrame>
        <p:nvGraphicFramePr>
          <p:cNvPr id="416" name="Google Shape;416;p16"/>
          <p:cNvGraphicFramePr/>
          <p:nvPr/>
        </p:nvGraphicFramePr>
        <p:xfrm>
          <a:off x="495295" y="4611995"/>
          <a:ext cx="3000000" cy="3000000"/>
        </p:xfrm>
        <a:graphic>
          <a:graphicData uri="http://schemas.openxmlformats.org/drawingml/2006/table">
            <a:tbl>
              <a:tblPr bandRow="1" firstRow="1">
                <a:noFill/>
                <a:tableStyleId>{660C12F0-EA0F-4C08-B8CF-7D1332A2121B}</a:tableStyleId>
              </a:tblPr>
              <a:tblGrid>
                <a:gridCol w="3915925"/>
                <a:gridCol w="2732050"/>
                <a:gridCol w="4553425"/>
              </a:tblGrid>
              <a:tr h="338325">
                <a:tc>
                  <a:txBody>
                    <a:bodyPr/>
                    <a:lstStyle/>
                    <a:p>
                      <a:pPr indent="0" lvl="0" marL="0" marR="0" rtl="0" algn="ctr">
                        <a:lnSpc>
                          <a:spcPct val="100000"/>
                        </a:lnSpc>
                        <a:spcBef>
                          <a:spcPts val="0"/>
                        </a:spcBef>
                        <a:spcAft>
                          <a:spcPts val="0"/>
                        </a:spcAft>
                        <a:buClr>
                          <a:srgbClr val="000000"/>
                        </a:buClr>
                        <a:buSzPts val="1150"/>
                        <a:buFont typeface="Arial"/>
                        <a:buNone/>
                      </a:pPr>
                      <a:r>
                        <a:rPr b="1" lang="en-US" sz="1150" u="none" cap="none" strike="noStrike">
                          <a:solidFill>
                            <a:srgbClr val="FFFFFF"/>
                          </a:solidFill>
                          <a:latin typeface="Calibri"/>
                          <a:ea typeface="Calibri"/>
                          <a:cs typeface="Calibri"/>
                          <a:sym typeface="Calibri"/>
                        </a:rPr>
                        <a:t>Chỉ số</a:t>
                      </a:r>
                      <a:endParaRPr sz="1400" u="none" cap="none" strike="noStrike"/>
                    </a:p>
                  </a:txBody>
                  <a:tcPr marT="25400" marB="25400" marR="76200" marL="76200" anchor="ctr">
                    <a:solidFill>
                      <a:srgbClr val="6366F1"/>
                    </a:solidFill>
                  </a:tcPr>
                </a:tc>
                <a:tc>
                  <a:txBody>
                    <a:bodyPr/>
                    <a:lstStyle/>
                    <a:p>
                      <a:pPr indent="0" lvl="0" marL="0" marR="0" rtl="0" algn="ctr">
                        <a:lnSpc>
                          <a:spcPct val="100000"/>
                        </a:lnSpc>
                        <a:spcBef>
                          <a:spcPts val="0"/>
                        </a:spcBef>
                        <a:spcAft>
                          <a:spcPts val="0"/>
                        </a:spcAft>
                        <a:buClr>
                          <a:srgbClr val="000000"/>
                        </a:buClr>
                        <a:buSzPts val="1150"/>
                        <a:buFont typeface="Arial"/>
                        <a:buNone/>
                      </a:pPr>
                      <a:r>
                        <a:rPr b="1" lang="en-US" sz="1150" u="none" cap="none" strike="noStrike">
                          <a:solidFill>
                            <a:srgbClr val="FFFFFF"/>
                          </a:solidFill>
                          <a:latin typeface="Calibri"/>
                          <a:ea typeface="Calibri"/>
                          <a:cs typeface="Calibri"/>
                          <a:sym typeface="Calibri"/>
                        </a:rPr>
                        <a:t>Giá trị ước tính</a:t>
                      </a:r>
                      <a:endParaRPr sz="1400" u="none" cap="none" strike="noStrike"/>
                    </a:p>
                  </a:txBody>
                  <a:tcPr marT="25400" marB="25400" marR="76200" marL="76200" anchor="ctr">
                    <a:solidFill>
                      <a:srgbClr val="6366F1"/>
                    </a:solidFill>
                  </a:tcPr>
                </a:tc>
                <a:tc>
                  <a:txBody>
                    <a:bodyPr/>
                    <a:lstStyle/>
                    <a:p>
                      <a:pPr indent="0" lvl="0" marL="0" marR="0" rtl="0" algn="ctr">
                        <a:lnSpc>
                          <a:spcPct val="100000"/>
                        </a:lnSpc>
                        <a:spcBef>
                          <a:spcPts val="0"/>
                        </a:spcBef>
                        <a:spcAft>
                          <a:spcPts val="0"/>
                        </a:spcAft>
                        <a:buClr>
                          <a:srgbClr val="000000"/>
                        </a:buClr>
                        <a:buSzPts val="1150"/>
                        <a:buFont typeface="Arial"/>
                        <a:buNone/>
                      </a:pPr>
                      <a:r>
                        <a:rPr b="1" lang="en-US" sz="1150" u="none" cap="none" strike="noStrike">
                          <a:solidFill>
                            <a:srgbClr val="FFFFFF"/>
                          </a:solidFill>
                          <a:latin typeface="Calibri"/>
                          <a:ea typeface="Calibri"/>
                          <a:cs typeface="Calibri"/>
                          <a:sym typeface="Calibri"/>
                        </a:rPr>
                        <a:t>Đề xuất cải tiến</a:t>
                      </a:r>
                      <a:endParaRPr sz="1400" u="none" cap="none" strike="noStrike"/>
                    </a:p>
                  </a:txBody>
                  <a:tcPr marT="25400" marB="25400" marR="76200" marL="76200" anchor="ctr">
                    <a:solidFill>
                      <a:srgbClr val="6366F1"/>
                    </a:solidFill>
                  </a:tcPr>
                </a:tc>
              </a:tr>
              <a:tr h="338325">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333333"/>
                          </a:solidFill>
                          <a:latin typeface="Calibri"/>
                          <a:ea typeface="Calibri"/>
                          <a:cs typeface="Calibri"/>
                          <a:sym typeface="Calibri"/>
                        </a:rPr>
                        <a:t>Velocity trung bình / sprint</a:t>
                      </a:r>
                      <a:endParaRPr sz="1400" u="none" cap="none" strike="noStrike"/>
                    </a:p>
                  </a:txBody>
                  <a:tcPr marT="25400" marB="25400" marR="76200" marL="76200" anchor="ctr">
                    <a:solidFill>
                      <a:srgbClr val="FFFFFF"/>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333333"/>
                          </a:solidFill>
                          <a:latin typeface="Calibri"/>
                          <a:ea typeface="Calibri"/>
                          <a:cs typeface="Calibri"/>
                          <a:sym typeface="Calibri"/>
                        </a:rPr>
                        <a:t>35 – 40 story points</a:t>
                      </a:r>
                      <a:endParaRPr sz="1400" u="none" cap="none" strike="noStrike"/>
                    </a:p>
                  </a:txBody>
                  <a:tcPr marT="25400" marB="25400" marR="76200" marL="76200" anchor="ctr">
                    <a:solidFill>
                      <a:srgbClr val="FFFFFF"/>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333333"/>
                          </a:solidFill>
                          <a:latin typeface="Calibri"/>
                          <a:ea typeface="Calibri"/>
                          <a:cs typeface="Calibri"/>
                          <a:sym typeface="Calibri"/>
                        </a:rPr>
                        <a:t>Refine backlog kỹ hơn trước Sprint Planning</a:t>
                      </a:r>
                      <a:endParaRPr sz="1400" u="none" cap="none" strike="noStrike"/>
                    </a:p>
                  </a:txBody>
                  <a:tcPr marT="25400" marB="25400" marR="76200" marL="76200" anchor="ctr">
                    <a:solidFill>
                      <a:srgbClr val="FFFFFF"/>
                    </a:solidFill>
                  </a:tcPr>
                </a:tc>
              </a:tr>
              <a:tr h="338325">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333333"/>
                          </a:solidFill>
                          <a:latin typeface="Calibri"/>
                          <a:ea typeface="Calibri"/>
                          <a:cs typeface="Calibri"/>
                          <a:sym typeface="Calibri"/>
                        </a:rPr>
                        <a:t>Tỷ lệ sprint đạt DoD đúng hạn</a:t>
                      </a:r>
                      <a:endParaRPr sz="1400" u="none" cap="none" strike="noStrike"/>
                    </a:p>
                  </a:txBody>
                  <a:tcPr marT="25400" marB="25400" marR="76200" marL="76200" anchor="ctr">
                    <a:solidFill>
                      <a:srgbClr val="F1F3F6"/>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333333"/>
                          </a:solidFill>
                          <a:latin typeface="Calibri"/>
                          <a:ea typeface="Calibri"/>
                          <a:cs typeface="Calibri"/>
                          <a:sym typeface="Calibri"/>
                        </a:rPr>
                        <a:t>70 – 75%</a:t>
                      </a:r>
                      <a:endParaRPr sz="1400" u="none" cap="none" strike="noStrike"/>
                    </a:p>
                  </a:txBody>
                  <a:tcPr marT="25400" marB="25400" marR="76200" marL="76200" anchor="ctr">
                    <a:solidFill>
                      <a:srgbClr val="F1F3F6"/>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333333"/>
                          </a:solidFill>
                          <a:latin typeface="Calibri"/>
                          <a:ea typeface="Calibri"/>
                          <a:cs typeface="Calibri"/>
                          <a:sym typeface="Calibri"/>
                        </a:rPr>
                        <a:t>Giảm scope creep bằng cam kết backlog rõ ràng</a:t>
                      </a:r>
                      <a:endParaRPr sz="1400" u="none" cap="none" strike="noStrike"/>
                    </a:p>
                  </a:txBody>
                  <a:tcPr marT="25400" marB="25400" marR="76200" marL="76200" anchor="ctr">
                    <a:solidFill>
                      <a:srgbClr val="F1F3F6"/>
                    </a:solidFill>
                  </a:tcPr>
                </a:tc>
              </a:tr>
              <a:tr h="338325">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333333"/>
                          </a:solidFill>
                          <a:latin typeface="Calibri"/>
                          <a:ea typeface="Calibri"/>
                          <a:cs typeface="Calibri"/>
                          <a:sym typeface="Calibri"/>
                        </a:rPr>
                        <a:t>Hiệu suất thời gian quy trình</a:t>
                      </a:r>
                      <a:endParaRPr sz="1400" u="none" cap="none" strike="noStrike"/>
                    </a:p>
                  </a:txBody>
                  <a:tcPr marT="25400" marB="25400" marR="76200" marL="76200" anchor="ctr">
                    <a:solidFill>
                      <a:srgbClr val="FFFFFF"/>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333333"/>
                          </a:solidFill>
                          <a:latin typeface="Calibri"/>
                          <a:ea typeface="Calibri"/>
                          <a:cs typeface="Calibri"/>
                          <a:sym typeface="Calibri"/>
                        </a:rPr>
                        <a:t>98,0%  (10 / 10,2 ngày)</a:t>
                      </a:r>
                      <a:endParaRPr sz="1400" u="none" cap="none" strike="noStrike"/>
                    </a:p>
                  </a:txBody>
                  <a:tcPr marT="25400" marB="25400" marR="76200" marL="76200" anchor="ctr">
                    <a:solidFill>
                      <a:srgbClr val="FFFFFF"/>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333333"/>
                          </a:solidFill>
                          <a:latin typeface="Calibri"/>
                          <a:ea typeface="Calibri"/>
                          <a:cs typeface="Calibri"/>
                          <a:sym typeface="Calibri"/>
                        </a:rPr>
                        <a:t>Duy trì bằng backlog refinement + test tự động</a:t>
                      </a:r>
                      <a:endParaRPr sz="1400" u="none" cap="none" strike="noStrike"/>
                    </a:p>
                  </a:txBody>
                  <a:tcPr marT="25400" marB="25400" marR="76200" marL="76200" anchor="ctr">
                    <a:solidFill>
                      <a:srgbClr val="FFFFFF"/>
                    </a:solidFill>
                  </a:tcPr>
                </a:tc>
              </a:tr>
              <a:tr h="338325">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333333"/>
                          </a:solidFill>
                          <a:latin typeface="Calibri"/>
                          <a:ea typeface="Calibri"/>
                          <a:cs typeface="Calibri"/>
                          <a:sym typeface="Calibri"/>
                        </a:rPr>
                        <a:t>Chi phí rework do bug phát hiện trễ</a:t>
                      </a:r>
                      <a:endParaRPr sz="1400" u="none" cap="none" strike="noStrike"/>
                    </a:p>
                  </a:txBody>
                  <a:tcPr marT="25400" marB="25400" marR="76200" marL="76200" anchor="ctr">
                    <a:solidFill>
                      <a:srgbClr val="F1F3F6"/>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333333"/>
                          </a:solidFill>
                          <a:latin typeface="Calibri"/>
                          <a:ea typeface="Calibri"/>
                          <a:cs typeface="Calibri"/>
                          <a:sym typeface="Calibri"/>
                        </a:rPr>
                        <a:t>20 – 30 giờ công / tháng</a:t>
                      </a:r>
                      <a:endParaRPr sz="1400" u="none" cap="none" strike="noStrike"/>
                    </a:p>
                  </a:txBody>
                  <a:tcPr marT="25400" marB="25400" marR="76200" marL="76200" anchor="ctr">
                    <a:solidFill>
                      <a:srgbClr val="F1F3F6"/>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333333"/>
                          </a:solidFill>
                          <a:latin typeface="Calibri"/>
                          <a:ea typeface="Calibri"/>
                          <a:cs typeface="Calibri"/>
                          <a:sym typeface="Calibri"/>
                        </a:rPr>
                        <a:t>Tăng cường test tự động (CI/CD)</a:t>
                      </a:r>
                      <a:endParaRPr sz="1400" u="none" cap="none" strike="noStrike"/>
                    </a:p>
                  </a:txBody>
                  <a:tcPr marT="25400" marB="25400" marR="76200" marL="76200" anchor="ctr">
                    <a:solidFill>
                      <a:srgbClr val="F1F3F6"/>
                    </a:solidFill>
                  </a:tcPr>
                </a:tc>
              </a:tr>
            </a:tbl>
          </a:graphicData>
        </a:graphic>
      </p:graphicFrame>
      <p:sp>
        <p:nvSpPr>
          <p:cNvPr id="417" name="Google Shape;417;p16"/>
          <p:cNvSpPr txBox="1"/>
          <p:nvPr/>
        </p:nvSpPr>
        <p:spPr>
          <a:xfrm>
            <a:off x="502920" y="6528816"/>
            <a:ext cx="731520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50"/>
              <a:buFont typeface="Arial"/>
              <a:buNone/>
            </a:pPr>
            <a:r>
              <a:rPr b="0" i="1" lang="en-US" sz="950" u="none" cap="none" strike="noStrike">
                <a:solidFill>
                  <a:srgbClr val="595959"/>
                </a:solidFill>
                <a:latin typeface="Calibri"/>
                <a:ea typeface="Calibri"/>
                <a:cs typeface="Calibri"/>
                <a:sym typeface="Calibri"/>
              </a:rPr>
              <a:t>IE203 – Quản trị quy trình nghiệp vụ  |  OR Tech</a:t>
            </a:r>
            <a:endParaRPr b="0" i="0" sz="1400" u="none" cap="none" strike="noStrike">
              <a:solidFill>
                <a:srgbClr val="000000"/>
              </a:solidFill>
              <a:latin typeface="Arial"/>
              <a:ea typeface="Arial"/>
              <a:cs typeface="Arial"/>
              <a:sym typeface="Arial"/>
            </a:endParaRPr>
          </a:p>
        </p:txBody>
      </p:sp>
      <p:sp>
        <p:nvSpPr>
          <p:cNvPr id="418" name="Google Shape;418;p16"/>
          <p:cNvSpPr txBox="1"/>
          <p:nvPr/>
        </p:nvSpPr>
        <p:spPr>
          <a:xfrm>
            <a:off x="11338560" y="6528816"/>
            <a:ext cx="457200" cy="27432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050"/>
              <a:buFont typeface="Arial"/>
              <a:buNone/>
            </a:pPr>
            <a:r>
              <a:rPr b="1" i="0" lang="en-US" sz="1050" u="none" cap="none" strike="noStrike">
                <a:solidFill>
                  <a:srgbClr val="595959"/>
                </a:solidFill>
                <a:latin typeface="Calibri"/>
                <a:ea typeface="Calibri"/>
                <a:cs typeface="Calibri"/>
                <a:sym typeface="Calibri"/>
              </a:rPr>
              <a:t>15</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p17"/>
          <p:cNvSpPr/>
          <p:nvPr/>
        </p:nvSpPr>
        <p:spPr>
          <a:xfrm>
            <a:off x="0" y="0"/>
            <a:ext cx="12191700" cy="6858000"/>
          </a:xfrm>
          <a:prstGeom prst="rect">
            <a:avLst/>
          </a:prstGeom>
          <a:solidFill>
            <a:srgbClr val="EA58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25" name="Google Shape;425;p17"/>
          <p:cNvSpPr/>
          <p:nvPr/>
        </p:nvSpPr>
        <p:spPr>
          <a:xfrm>
            <a:off x="9418320" y="-1554480"/>
            <a:ext cx="5029200" cy="5029200"/>
          </a:xfrm>
          <a:prstGeom prst="ellipse">
            <a:avLst/>
          </a:prstGeom>
          <a:solidFill>
            <a:srgbClr val="C2410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6" name="Google Shape;426;p17"/>
          <p:cNvSpPr/>
          <p:nvPr/>
        </p:nvSpPr>
        <p:spPr>
          <a:xfrm>
            <a:off x="-1463040" y="4206240"/>
            <a:ext cx="4206300" cy="4206300"/>
          </a:xfrm>
          <a:prstGeom prst="ellipse">
            <a:avLst/>
          </a:prstGeom>
          <a:solidFill>
            <a:srgbClr val="C2410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27" name="Google Shape;427;p17"/>
          <p:cNvGrpSpPr/>
          <p:nvPr/>
        </p:nvGrpSpPr>
        <p:grpSpPr>
          <a:xfrm>
            <a:off x="1919240" y="962215"/>
            <a:ext cx="1051500" cy="1051500"/>
            <a:chOff x="891540" y="1805940"/>
            <a:chExt cx="1051500" cy="1051500"/>
          </a:xfrm>
        </p:grpSpPr>
        <p:sp>
          <p:nvSpPr>
            <p:cNvPr id="428" name="Google Shape;428;p17"/>
            <p:cNvSpPr/>
            <p:nvPr/>
          </p:nvSpPr>
          <p:spPr>
            <a:xfrm>
              <a:off x="891540" y="1805940"/>
              <a:ext cx="1051500" cy="1051500"/>
            </a:xfrm>
            <a:prstGeom prst="ellipse">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9" name="Google Shape;429;p17"/>
            <p:cNvSpPr/>
            <p:nvPr/>
          </p:nvSpPr>
          <p:spPr>
            <a:xfrm>
              <a:off x="891540" y="1805940"/>
              <a:ext cx="1051500" cy="1051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C2410C"/>
                </a:buClr>
                <a:buSzPts val="2600"/>
                <a:buFont typeface="Calibri"/>
                <a:buNone/>
              </a:pPr>
              <a:r>
                <a:rPr b="1" i="0" lang="en-US" sz="2600" u="none" cap="none" strike="noStrike">
                  <a:solidFill>
                    <a:srgbClr val="C2410C"/>
                  </a:solidFill>
                  <a:latin typeface="Calibri"/>
                  <a:ea typeface="Calibri"/>
                  <a:cs typeface="Calibri"/>
                  <a:sym typeface="Calibri"/>
                </a:rPr>
                <a:t>3/3</a:t>
              </a:r>
              <a:endParaRPr b="0" i="0" sz="2600" u="none" cap="none" strike="noStrike">
                <a:solidFill>
                  <a:srgbClr val="000000"/>
                </a:solidFill>
                <a:latin typeface="Calibri"/>
                <a:ea typeface="Calibri"/>
                <a:cs typeface="Calibri"/>
                <a:sym typeface="Calibri"/>
              </a:endParaRPr>
            </a:p>
          </p:txBody>
        </p:sp>
      </p:grpSp>
      <p:sp>
        <p:nvSpPr>
          <p:cNvPr id="430" name="Google Shape;430;p17"/>
          <p:cNvSpPr/>
          <p:nvPr/>
        </p:nvSpPr>
        <p:spPr>
          <a:xfrm>
            <a:off x="1484900" y="2402395"/>
            <a:ext cx="9144000" cy="365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QUY TRÌNH 3/3  ·  NHÓM SUPPORT</a:t>
            </a:r>
            <a:endParaRPr b="0" i="0" sz="1400" u="none" cap="none" strike="noStrike">
              <a:solidFill>
                <a:srgbClr val="000000"/>
              </a:solidFill>
              <a:latin typeface="Calibri"/>
              <a:ea typeface="Calibri"/>
              <a:cs typeface="Calibri"/>
              <a:sym typeface="Calibri"/>
            </a:endParaRPr>
          </a:p>
        </p:txBody>
      </p:sp>
      <p:sp>
        <p:nvSpPr>
          <p:cNvPr id="431" name="Google Shape;431;p17"/>
          <p:cNvSpPr/>
          <p:nvPr/>
        </p:nvSpPr>
        <p:spPr>
          <a:xfrm>
            <a:off x="1484900" y="2768155"/>
            <a:ext cx="10058400" cy="914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3800"/>
              <a:buFont typeface="Calibri"/>
              <a:buNone/>
            </a:pPr>
            <a:r>
              <a:rPr b="1" i="0" lang="en-US" sz="3800" u="none" cap="none" strike="noStrike">
                <a:solidFill>
                  <a:srgbClr val="FFFFFF"/>
                </a:solidFill>
                <a:latin typeface="Calibri"/>
                <a:ea typeface="Calibri"/>
                <a:cs typeface="Calibri"/>
                <a:sym typeface="Calibri"/>
              </a:rPr>
              <a:t>Tuyển dụng Nhân sự</a:t>
            </a:r>
            <a:endParaRPr b="0" i="0" sz="3800" u="none" cap="none" strike="noStrike">
              <a:solidFill>
                <a:srgbClr val="000000"/>
              </a:solidFill>
              <a:latin typeface="Calibri"/>
              <a:ea typeface="Calibri"/>
              <a:cs typeface="Calibri"/>
              <a:sym typeface="Calibri"/>
            </a:endParaRPr>
          </a:p>
        </p:txBody>
      </p:sp>
      <p:sp>
        <p:nvSpPr>
          <p:cNvPr id="432" name="Google Shape;432;p17"/>
          <p:cNvSpPr/>
          <p:nvPr/>
        </p:nvSpPr>
        <p:spPr>
          <a:xfrm>
            <a:off x="1484900" y="3682555"/>
            <a:ext cx="91440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600"/>
              <a:buFont typeface="Calibri"/>
              <a:buNone/>
            </a:pPr>
            <a:r>
              <a:rPr b="0" i="1" lang="en-US" sz="1600" u="none" cap="none" strike="noStrike">
                <a:solidFill>
                  <a:srgbClr val="FFFFFF"/>
                </a:solidFill>
                <a:latin typeface="Calibri"/>
                <a:ea typeface="Calibri"/>
                <a:cs typeface="Calibri"/>
                <a:sym typeface="Calibri"/>
              </a:rPr>
              <a:t>HR Recruitment Process</a:t>
            </a:r>
            <a:endParaRPr b="0" i="0" sz="1600" u="none" cap="none" strike="noStrike">
              <a:solidFill>
                <a:srgbClr val="000000"/>
              </a:solidFill>
              <a:latin typeface="Calibri"/>
              <a:ea typeface="Calibri"/>
              <a:cs typeface="Calibri"/>
              <a:sym typeface="Calibri"/>
            </a:endParaRPr>
          </a:p>
        </p:txBody>
      </p:sp>
      <p:sp>
        <p:nvSpPr>
          <p:cNvPr id="433" name="Google Shape;433;p17"/>
          <p:cNvSpPr txBox="1"/>
          <p:nvPr/>
        </p:nvSpPr>
        <p:spPr>
          <a:xfrm>
            <a:off x="502920" y="6528816"/>
            <a:ext cx="7315200" cy="146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50"/>
              <a:buFont typeface="Arial"/>
              <a:buNone/>
            </a:pPr>
            <a:r>
              <a:rPr b="0" i="1" lang="en-US" sz="950" u="none" cap="none" strike="noStrike">
                <a:solidFill>
                  <a:schemeClr val="lt1"/>
                </a:solidFill>
                <a:latin typeface="Calibri"/>
                <a:ea typeface="Calibri"/>
                <a:cs typeface="Calibri"/>
                <a:sym typeface="Calibri"/>
              </a:rPr>
              <a:t>IE203 – Quản trị quy trình nghiệp vụ  |  OR Tech</a:t>
            </a:r>
            <a:endParaRPr b="0" i="0" sz="1400" u="none" cap="none" strike="noStrike">
              <a:solidFill>
                <a:schemeClr val="lt1"/>
              </a:solidFill>
              <a:latin typeface="Arial"/>
              <a:ea typeface="Arial"/>
              <a:cs typeface="Arial"/>
              <a:sym typeface="Arial"/>
            </a:endParaRPr>
          </a:p>
        </p:txBody>
      </p:sp>
      <p:sp>
        <p:nvSpPr>
          <p:cNvPr id="434" name="Google Shape;434;p17"/>
          <p:cNvSpPr txBox="1"/>
          <p:nvPr/>
        </p:nvSpPr>
        <p:spPr>
          <a:xfrm>
            <a:off x="11338560" y="6528816"/>
            <a:ext cx="457200" cy="1617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050"/>
              <a:buFont typeface="Arial"/>
              <a:buNone/>
            </a:pPr>
            <a:r>
              <a:rPr b="1" i="0" lang="en-US" sz="1050" u="none" cap="none" strike="noStrike">
                <a:solidFill>
                  <a:schemeClr val="lt1"/>
                </a:solidFill>
                <a:latin typeface="Calibri"/>
                <a:ea typeface="Calibri"/>
                <a:cs typeface="Calibri"/>
                <a:sym typeface="Calibri"/>
              </a:rPr>
              <a:t>16</a:t>
            </a:r>
            <a:endParaRPr b="0" i="0" sz="1400" u="none" cap="none" strike="noStrike">
              <a:solidFill>
                <a:schemeClr val="lt1"/>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39" name="Shape 439"/>
        <p:cNvGrpSpPr/>
        <p:nvPr/>
      </p:nvGrpSpPr>
      <p:grpSpPr>
        <a:xfrm>
          <a:off x="0" y="0"/>
          <a:ext cx="0" cy="0"/>
          <a:chOff x="0" y="0"/>
          <a:chExt cx="0" cy="0"/>
        </a:xfrm>
      </p:grpSpPr>
      <p:sp>
        <p:nvSpPr>
          <p:cNvPr id="440" name="Google Shape;440;p18"/>
          <p:cNvSpPr/>
          <p:nvPr/>
        </p:nvSpPr>
        <p:spPr>
          <a:xfrm>
            <a:off x="0" y="0"/>
            <a:ext cx="12191695"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41" name="Google Shape;441;p18"/>
          <p:cNvSpPr/>
          <p:nvPr/>
        </p:nvSpPr>
        <p:spPr>
          <a:xfrm>
            <a:off x="0" y="0"/>
            <a:ext cx="12191695" cy="960120"/>
          </a:xfrm>
          <a:prstGeom prst="rect">
            <a:avLst/>
          </a:prstGeom>
          <a:solidFill>
            <a:srgbClr val="EA58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42" name="Google Shape;442;p18"/>
          <p:cNvSpPr/>
          <p:nvPr/>
        </p:nvSpPr>
        <p:spPr>
          <a:xfrm>
            <a:off x="0" y="960120"/>
            <a:ext cx="12191695" cy="3810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43" name="Google Shape;443;p18"/>
          <p:cNvSpPr txBox="1"/>
          <p:nvPr/>
        </p:nvSpPr>
        <p:spPr>
          <a:xfrm>
            <a:off x="502920" y="91440"/>
            <a:ext cx="100584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lt1"/>
                </a:solidFill>
                <a:latin typeface="Calibri"/>
                <a:ea typeface="Calibri"/>
                <a:cs typeface="Calibri"/>
                <a:sym typeface="Calibri"/>
              </a:rPr>
              <a:t>QUY TRÌNH 3 · SUPPORT</a:t>
            </a:r>
            <a:endParaRPr b="0" i="0" sz="1400" u="none" cap="none" strike="noStrike">
              <a:solidFill>
                <a:schemeClr val="lt1"/>
              </a:solidFill>
              <a:latin typeface="Arial"/>
              <a:ea typeface="Arial"/>
              <a:cs typeface="Arial"/>
              <a:sym typeface="Arial"/>
            </a:endParaRPr>
          </a:p>
        </p:txBody>
      </p:sp>
      <p:sp>
        <p:nvSpPr>
          <p:cNvPr id="444" name="Google Shape;444;p18"/>
          <p:cNvSpPr txBox="1"/>
          <p:nvPr/>
        </p:nvSpPr>
        <p:spPr>
          <a:xfrm>
            <a:off x="502920" y="365760"/>
            <a:ext cx="10972800" cy="5486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FFFFFF"/>
                </a:solidFill>
                <a:latin typeface="Calibri"/>
                <a:ea typeface="Calibri"/>
                <a:cs typeface="Calibri"/>
                <a:sym typeface="Calibri"/>
              </a:rPr>
              <a:t>Tuyển dụng Nhân sự — Process Perspective</a:t>
            </a:r>
            <a:endParaRPr b="0" i="0" sz="1400" u="none" cap="none" strike="noStrike">
              <a:solidFill>
                <a:srgbClr val="000000"/>
              </a:solidFill>
              <a:latin typeface="Arial"/>
              <a:ea typeface="Arial"/>
              <a:cs typeface="Arial"/>
              <a:sym typeface="Arial"/>
            </a:endParaRPr>
          </a:p>
        </p:txBody>
      </p:sp>
      <p:pic>
        <p:nvPicPr>
          <p:cNvPr descr="chevron_hr.png" id="445" name="Google Shape;445;p18"/>
          <p:cNvPicPr preferRelativeResize="0"/>
          <p:nvPr/>
        </p:nvPicPr>
        <p:blipFill rotWithShape="1">
          <a:blip r:embed="rId3">
            <a:alphaModFix/>
          </a:blip>
          <a:srcRect b="0" l="0" r="0" t="0"/>
          <a:stretch/>
        </p:blipFill>
        <p:spPr>
          <a:xfrm>
            <a:off x="1391707" y="1234440"/>
            <a:ext cx="9378105" cy="1737360"/>
          </a:xfrm>
          <a:prstGeom prst="rect">
            <a:avLst/>
          </a:prstGeom>
          <a:noFill/>
          <a:ln>
            <a:noFill/>
          </a:ln>
        </p:spPr>
      </p:pic>
      <p:sp>
        <p:nvSpPr>
          <p:cNvPr id="446" name="Google Shape;446;p18"/>
          <p:cNvSpPr txBox="1"/>
          <p:nvPr/>
        </p:nvSpPr>
        <p:spPr>
          <a:xfrm>
            <a:off x="502920" y="3365000"/>
            <a:ext cx="5486400" cy="16071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1350"/>
              <a:buFont typeface="Arial"/>
              <a:buNone/>
            </a:pPr>
            <a:r>
              <a:rPr b="1" i="0" lang="en-US" sz="1350" u="none" cap="none" strike="noStrike">
                <a:solidFill>
                  <a:schemeClr val="dk1"/>
                </a:solidFill>
                <a:latin typeface="Calibri"/>
                <a:ea typeface="Calibri"/>
                <a:cs typeface="Calibri"/>
                <a:sym typeface="Calibri"/>
              </a:rPr>
              <a:t>›  Actors: </a:t>
            </a:r>
            <a:r>
              <a:rPr b="0" i="0" lang="en-US" sz="1350" u="none" cap="none" strike="noStrike">
                <a:solidFill>
                  <a:schemeClr val="dk1"/>
                </a:solidFill>
                <a:latin typeface="Calibri"/>
                <a:ea typeface="Calibri"/>
                <a:cs typeface="Calibri"/>
                <a:sym typeface="Calibri"/>
              </a:rPr>
              <a:t>Requester (Leader/Manager/Sales), TA Leader/member, HR Manager, BOD/COO, Ứng viên (Candidate).</a:t>
            </a:r>
            <a:endParaRPr b="0" i="0" sz="1400" u="none" cap="none" strike="noStrike">
              <a:solidFill>
                <a:schemeClr val="dk1"/>
              </a:solidFill>
              <a:latin typeface="Arial"/>
              <a:ea typeface="Arial"/>
              <a:cs typeface="Arial"/>
              <a:sym typeface="Arial"/>
            </a:endParaRPr>
          </a:p>
          <a:p>
            <a:pPr indent="0" lvl="0" marL="0" marR="0" rtl="0" algn="l">
              <a:lnSpc>
                <a:spcPct val="110000"/>
              </a:lnSpc>
              <a:spcBef>
                <a:spcPts val="1000"/>
              </a:spcBef>
              <a:spcAft>
                <a:spcPts val="0"/>
              </a:spcAft>
              <a:buClr>
                <a:srgbClr val="000000"/>
              </a:buClr>
              <a:buSzPts val="1350"/>
              <a:buFont typeface="Arial"/>
              <a:buNone/>
            </a:pPr>
            <a:r>
              <a:rPr b="1" i="0" lang="en-US" sz="1350" u="none" cap="none" strike="noStrike">
                <a:solidFill>
                  <a:schemeClr val="dk1"/>
                </a:solidFill>
                <a:latin typeface="Calibri"/>
                <a:ea typeface="Calibri"/>
                <a:cs typeface="Calibri"/>
                <a:sym typeface="Calibri"/>
              </a:rPr>
              <a:t>›  Mục tiêu: </a:t>
            </a:r>
            <a:r>
              <a:rPr b="0" i="0" lang="en-US" sz="1350" u="none" cap="none" strike="noStrike">
                <a:solidFill>
                  <a:schemeClr val="dk1"/>
                </a:solidFill>
                <a:latin typeface="Calibri"/>
                <a:ea typeface="Calibri"/>
                <a:cs typeface="Calibri"/>
                <a:sym typeface="Calibri"/>
              </a:rPr>
              <a:t>cung cấp nguồn nhân lực IT chất lượng, đúng thời điểm cho các phòng ban/dự án.</a:t>
            </a:r>
            <a:endParaRPr b="0" i="0" sz="1400" u="none" cap="none" strike="noStrike">
              <a:solidFill>
                <a:schemeClr val="dk1"/>
              </a:solidFill>
              <a:latin typeface="Arial"/>
              <a:ea typeface="Arial"/>
              <a:cs typeface="Arial"/>
              <a:sym typeface="Arial"/>
            </a:endParaRPr>
          </a:p>
          <a:p>
            <a:pPr indent="0" lvl="0" marL="0" marR="0" rtl="0" algn="l">
              <a:lnSpc>
                <a:spcPct val="110000"/>
              </a:lnSpc>
              <a:spcBef>
                <a:spcPts val="1000"/>
              </a:spcBef>
              <a:spcAft>
                <a:spcPts val="0"/>
              </a:spcAft>
              <a:buClr>
                <a:srgbClr val="000000"/>
              </a:buClr>
              <a:buSzPts val="1350"/>
              <a:buFont typeface="Arial"/>
              <a:buNone/>
            </a:pPr>
            <a:r>
              <a:rPr b="1" i="0" lang="en-US" sz="1350" u="none" cap="none" strike="noStrike">
                <a:solidFill>
                  <a:schemeClr val="dk1"/>
                </a:solidFill>
                <a:latin typeface="Calibri"/>
                <a:ea typeface="Calibri"/>
                <a:cs typeface="Calibri"/>
                <a:sym typeface="Calibri"/>
              </a:rPr>
              <a:t>›  Giá trị cho khách hàng: </a:t>
            </a:r>
            <a:r>
              <a:rPr b="0" i="0" lang="en-US" sz="1350" u="none" cap="none" strike="noStrike">
                <a:solidFill>
                  <a:schemeClr val="dk1"/>
                </a:solidFill>
                <a:latin typeface="Calibri"/>
                <a:ea typeface="Calibri"/>
                <a:cs typeface="Calibri"/>
                <a:sym typeface="Calibri"/>
              </a:rPr>
              <a:t>gián tiếp đảm bảo công ty luôn đủ năng lực đáp ứng các hợp đồng đã ký với khách hàng.</a:t>
            </a:r>
            <a:endParaRPr b="0" i="0" sz="1400" u="none" cap="none" strike="noStrike">
              <a:solidFill>
                <a:schemeClr val="dk1"/>
              </a:solidFill>
              <a:latin typeface="Arial"/>
              <a:ea typeface="Arial"/>
              <a:cs typeface="Arial"/>
              <a:sym typeface="Arial"/>
            </a:endParaRPr>
          </a:p>
        </p:txBody>
      </p:sp>
      <p:sp>
        <p:nvSpPr>
          <p:cNvPr id="447" name="Google Shape;447;p18"/>
          <p:cNvSpPr/>
          <p:nvPr/>
        </p:nvSpPr>
        <p:spPr>
          <a:xfrm>
            <a:off x="6263650" y="3200400"/>
            <a:ext cx="5394900" cy="2339100"/>
          </a:xfrm>
          <a:prstGeom prst="rect">
            <a:avLst/>
          </a:prstGeom>
          <a:solidFill>
            <a:srgbClr val="F1F3F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48" name="Google Shape;448;p18"/>
          <p:cNvSpPr txBox="1"/>
          <p:nvPr/>
        </p:nvSpPr>
        <p:spPr>
          <a:xfrm>
            <a:off x="6492240" y="3364992"/>
            <a:ext cx="4937700" cy="192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50"/>
              <a:buFont typeface="Arial"/>
              <a:buNone/>
            </a:pPr>
            <a:r>
              <a:rPr b="1" i="0" lang="en-US" sz="1250" u="none" cap="none" strike="noStrike">
                <a:solidFill>
                  <a:schemeClr val="dk1"/>
                </a:solidFill>
                <a:latin typeface="Calibri"/>
                <a:ea typeface="Calibri"/>
                <a:cs typeface="Calibri"/>
                <a:sym typeface="Calibri"/>
              </a:rPr>
              <a:t>KHẢ NĂNG KẾT QUẢ (OUTCOMES)</a:t>
            </a:r>
            <a:endParaRPr b="0" i="0" sz="1400" u="none" cap="none" strike="noStrike">
              <a:solidFill>
                <a:schemeClr val="dk1"/>
              </a:solidFill>
              <a:latin typeface="Arial"/>
              <a:ea typeface="Arial"/>
              <a:cs typeface="Arial"/>
              <a:sym typeface="Arial"/>
            </a:endParaRPr>
          </a:p>
        </p:txBody>
      </p:sp>
      <p:sp>
        <p:nvSpPr>
          <p:cNvPr id="449" name="Google Shape;449;p18"/>
          <p:cNvSpPr txBox="1"/>
          <p:nvPr/>
        </p:nvSpPr>
        <p:spPr>
          <a:xfrm>
            <a:off x="6492240" y="3749039"/>
            <a:ext cx="4937700" cy="10038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Clr>
                <a:srgbClr val="000000"/>
              </a:buClr>
              <a:buSzPts val="1250"/>
              <a:buFont typeface="Arial"/>
              <a:buNone/>
            </a:pPr>
            <a:r>
              <a:rPr b="1" i="0" lang="en-US" sz="1250" u="none" cap="none" strike="noStrike">
                <a:solidFill>
                  <a:schemeClr val="dk1"/>
                </a:solidFill>
                <a:latin typeface="Calibri"/>
                <a:ea typeface="Calibri"/>
                <a:cs typeface="Calibri"/>
                <a:sym typeface="Calibri"/>
              </a:rPr>
              <a:t>›  </a:t>
            </a:r>
            <a:r>
              <a:rPr b="0" i="0" lang="en-US" sz="1250" u="none" cap="none" strike="noStrike">
                <a:solidFill>
                  <a:schemeClr val="dk1"/>
                </a:solidFill>
                <a:latin typeface="Calibri"/>
                <a:ea typeface="Calibri"/>
                <a:cs typeface="Calibri"/>
                <a:sym typeface="Calibri"/>
              </a:rPr>
              <a:t>Tuyển được ứng viên phù hợp, ứng viên chấp nhận offer (Offer accepted).</a:t>
            </a:r>
            <a:endParaRPr b="0" i="0" sz="1400" u="none" cap="none" strike="noStrike">
              <a:solidFill>
                <a:schemeClr val="dk1"/>
              </a:solidFill>
              <a:latin typeface="Arial"/>
              <a:ea typeface="Arial"/>
              <a:cs typeface="Arial"/>
              <a:sym typeface="Arial"/>
            </a:endParaRPr>
          </a:p>
          <a:p>
            <a:pPr indent="0" lvl="0" marL="0" marR="0" rtl="0" algn="l">
              <a:lnSpc>
                <a:spcPct val="105000"/>
              </a:lnSpc>
              <a:spcBef>
                <a:spcPts val="800"/>
              </a:spcBef>
              <a:spcAft>
                <a:spcPts val="0"/>
              </a:spcAft>
              <a:buClr>
                <a:srgbClr val="000000"/>
              </a:buClr>
              <a:buSzPts val="1250"/>
              <a:buFont typeface="Arial"/>
              <a:buNone/>
            </a:pPr>
            <a:r>
              <a:rPr b="1" i="0" lang="en-US" sz="1250" u="none" cap="none" strike="noStrike">
                <a:solidFill>
                  <a:schemeClr val="dk1"/>
                </a:solidFill>
                <a:latin typeface="Calibri"/>
                <a:ea typeface="Calibri"/>
                <a:cs typeface="Calibri"/>
                <a:sym typeface="Calibri"/>
              </a:rPr>
              <a:t>›  </a:t>
            </a:r>
            <a:r>
              <a:rPr b="0" i="0" lang="en-US" sz="1250" u="none" cap="none" strike="noStrike">
                <a:solidFill>
                  <a:schemeClr val="dk1"/>
                </a:solidFill>
                <a:latin typeface="Calibri"/>
                <a:ea typeface="Calibri"/>
                <a:cs typeface="Calibri"/>
                <a:sym typeface="Calibri"/>
              </a:rPr>
              <a:t>Ứng viên từ chối offer (Offer declined) — quay lại bước tìm ứng viên khác.</a:t>
            </a:r>
            <a:endParaRPr b="0" i="0" sz="1400" u="none" cap="none" strike="noStrike">
              <a:solidFill>
                <a:schemeClr val="dk1"/>
              </a:solidFill>
              <a:latin typeface="Arial"/>
              <a:ea typeface="Arial"/>
              <a:cs typeface="Arial"/>
              <a:sym typeface="Arial"/>
            </a:endParaRPr>
          </a:p>
          <a:p>
            <a:pPr indent="0" lvl="0" marL="0" marR="0" rtl="0" algn="l">
              <a:lnSpc>
                <a:spcPct val="105000"/>
              </a:lnSpc>
              <a:spcBef>
                <a:spcPts val="800"/>
              </a:spcBef>
              <a:spcAft>
                <a:spcPts val="0"/>
              </a:spcAft>
              <a:buClr>
                <a:srgbClr val="000000"/>
              </a:buClr>
              <a:buSzPts val="1250"/>
              <a:buFont typeface="Arial"/>
              <a:buNone/>
            </a:pPr>
            <a:r>
              <a:rPr b="1" i="0" lang="en-US" sz="1250" u="none" cap="none" strike="noStrike">
                <a:solidFill>
                  <a:schemeClr val="dk1"/>
                </a:solidFill>
                <a:latin typeface="Calibri"/>
                <a:ea typeface="Calibri"/>
                <a:cs typeface="Calibri"/>
                <a:sym typeface="Calibri"/>
              </a:rPr>
              <a:t>›  </a:t>
            </a:r>
            <a:r>
              <a:rPr b="0" i="0" lang="en-US" sz="1250" u="none" cap="none" strike="noStrike">
                <a:solidFill>
                  <a:schemeClr val="dk1"/>
                </a:solidFill>
                <a:latin typeface="Calibri"/>
                <a:ea typeface="Calibri"/>
                <a:cs typeface="Calibri"/>
                <a:sym typeface="Calibri"/>
              </a:rPr>
              <a:t>Vị trí bị hủy do nhu cầu thay đổi, hoặc kéo dài thời gian tuyển dụng (Recruitment delayed).</a:t>
            </a:r>
            <a:endParaRPr b="0" i="0" sz="1400" u="none" cap="none" strike="noStrike">
              <a:solidFill>
                <a:schemeClr val="dk1"/>
              </a:solidFill>
              <a:latin typeface="Arial"/>
              <a:ea typeface="Arial"/>
              <a:cs typeface="Arial"/>
              <a:sym typeface="Arial"/>
            </a:endParaRPr>
          </a:p>
        </p:txBody>
      </p:sp>
      <p:sp>
        <p:nvSpPr>
          <p:cNvPr id="450" name="Google Shape;450;p18"/>
          <p:cNvSpPr txBox="1"/>
          <p:nvPr/>
        </p:nvSpPr>
        <p:spPr>
          <a:xfrm>
            <a:off x="502920" y="6528816"/>
            <a:ext cx="731520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50"/>
              <a:buFont typeface="Arial"/>
              <a:buNone/>
            </a:pPr>
            <a:r>
              <a:rPr b="0" i="1" lang="en-US" sz="950" u="none" cap="none" strike="noStrike">
                <a:solidFill>
                  <a:srgbClr val="595959"/>
                </a:solidFill>
                <a:latin typeface="Calibri"/>
                <a:ea typeface="Calibri"/>
                <a:cs typeface="Calibri"/>
                <a:sym typeface="Calibri"/>
              </a:rPr>
              <a:t>IE203 – Quản trị quy trình nghiệp vụ  |  OR Tech</a:t>
            </a:r>
            <a:endParaRPr b="0" i="0" sz="1400" u="none" cap="none" strike="noStrike">
              <a:solidFill>
                <a:srgbClr val="000000"/>
              </a:solidFill>
              <a:latin typeface="Arial"/>
              <a:ea typeface="Arial"/>
              <a:cs typeface="Arial"/>
              <a:sym typeface="Arial"/>
            </a:endParaRPr>
          </a:p>
        </p:txBody>
      </p:sp>
      <p:sp>
        <p:nvSpPr>
          <p:cNvPr id="451" name="Google Shape;451;p18"/>
          <p:cNvSpPr txBox="1"/>
          <p:nvPr/>
        </p:nvSpPr>
        <p:spPr>
          <a:xfrm>
            <a:off x="11338560" y="6528816"/>
            <a:ext cx="457200" cy="27432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050"/>
              <a:buFont typeface="Arial"/>
              <a:buNone/>
            </a:pPr>
            <a:r>
              <a:rPr b="1" i="0" lang="en-US" sz="1050" u="none" cap="none" strike="noStrike">
                <a:solidFill>
                  <a:srgbClr val="595959"/>
                </a:solidFill>
                <a:latin typeface="Calibri"/>
                <a:ea typeface="Calibri"/>
                <a:cs typeface="Calibri"/>
                <a:sym typeface="Calibri"/>
              </a:rPr>
              <a:t>17</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p19"/>
          <p:cNvSpPr/>
          <p:nvPr/>
        </p:nvSpPr>
        <p:spPr>
          <a:xfrm>
            <a:off x="0" y="0"/>
            <a:ext cx="121917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58" name="Google Shape;458;p19"/>
          <p:cNvSpPr/>
          <p:nvPr/>
        </p:nvSpPr>
        <p:spPr>
          <a:xfrm>
            <a:off x="0" y="0"/>
            <a:ext cx="12191695" cy="960120"/>
          </a:xfrm>
          <a:prstGeom prst="rect">
            <a:avLst/>
          </a:prstGeom>
          <a:solidFill>
            <a:srgbClr val="EA58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59" name="Google Shape;459;p19"/>
          <p:cNvSpPr/>
          <p:nvPr/>
        </p:nvSpPr>
        <p:spPr>
          <a:xfrm>
            <a:off x="0" y="960120"/>
            <a:ext cx="12191695" cy="3810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60" name="Google Shape;460;p19"/>
          <p:cNvSpPr txBox="1"/>
          <p:nvPr/>
        </p:nvSpPr>
        <p:spPr>
          <a:xfrm>
            <a:off x="502920" y="91440"/>
            <a:ext cx="100584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lt1"/>
                </a:solidFill>
                <a:latin typeface="Calibri"/>
                <a:ea typeface="Calibri"/>
                <a:cs typeface="Calibri"/>
                <a:sym typeface="Calibri"/>
              </a:rPr>
              <a:t>QUY TRÌNH 3 · SUPPORT</a:t>
            </a:r>
            <a:endParaRPr b="0" i="0" sz="1400" u="none" cap="none" strike="noStrike">
              <a:solidFill>
                <a:schemeClr val="lt1"/>
              </a:solidFill>
              <a:latin typeface="Arial"/>
              <a:ea typeface="Arial"/>
              <a:cs typeface="Arial"/>
              <a:sym typeface="Arial"/>
            </a:endParaRPr>
          </a:p>
        </p:txBody>
      </p:sp>
      <p:sp>
        <p:nvSpPr>
          <p:cNvPr id="461" name="Google Shape;461;p19"/>
          <p:cNvSpPr txBox="1"/>
          <p:nvPr/>
        </p:nvSpPr>
        <p:spPr>
          <a:xfrm>
            <a:off x="502920" y="365760"/>
            <a:ext cx="10972800" cy="5486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FFFFFF"/>
                </a:solidFill>
                <a:latin typeface="Calibri"/>
                <a:ea typeface="Calibri"/>
                <a:cs typeface="Calibri"/>
                <a:sym typeface="Calibri"/>
              </a:rPr>
              <a:t>Tuyển dụng Nhân sự — Mô hình BPMN chi tiết</a:t>
            </a:r>
            <a:endParaRPr b="0" i="0" sz="1400" u="none" cap="none" strike="noStrike">
              <a:solidFill>
                <a:srgbClr val="000000"/>
              </a:solidFill>
              <a:latin typeface="Arial"/>
              <a:ea typeface="Arial"/>
              <a:cs typeface="Arial"/>
              <a:sym typeface="Arial"/>
            </a:endParaRPr>
          </a:p>
        </p:txBody>
      </p:sp>
      <p:graphicFrame>
        <p:nvGraphicFramePr>
          <p:cNvPr id="462" name="Google Shape;462;p19"/>
          <p:cNvGraphicFramePr/>
          <p:nvPr/>
        </p:nvGraphicFramePr>
        <p:xfrm>
          <a:off x="495145" y="4840070"/>
          <a:ext cx="3000000" cy="3000000"/>
        </p:xfrm>
        <a:graphic>
          <a:graphicData uri="http://schemas.openxmlformats.org/drawingml/2006/table">
            <a:tbl>
              <a:tblPr bandRow="1" firstRow="1">
                <a:noFill/>
                <a:tableStyleId>{660C12F0-EA0F-4C08-B8CF-7D1332A2121B}</a:tableStyleId>
              </a:tblPr>
              <a:tblGrid>
                <a:gridCol w="3422650"/>
                <a:gridCol w="7778750"/>
              </a:tblGrid>
              <a:tr h="182875">
                <a:tc>
                  <a:txBody>
                    <a:bodyPr/>
                    <a:lstStyle/>
                    <a:p>
                      <a:pPr indent="0" lvl="0" marL="0" marR="0" rtl="0" algn="ctr">
                        <a:lnSpc>
                          <a:spcPct val="100000"/>
                        </a:lnSpc>
                        <a:spcBef>
                          <a:spcPts val="0"/>
                        </a:spcBef>
                        <a:spcAft>
                          <a:spcPts val="0"/>
                        </a:spcAft>
                        <a:buClr>
                          <a:srgbClr val="000000"/>
                        </a:buClr>
                        <a:buSzPts val="1050"/>
                        <a:buFont typeface="Arial"/>
                        <a:buNone/>
                      </a:pPr>
                      <a:r>
                        <a:rPr b="1" lang="en-US" sz="1050" u="none" cap="none" strike="noStrike">
                          <a:solidFill>
                            <a:srgbClr val="FFFFFF"/>
                          </a:solidFill>
                          <a:latin typeface="Calibri"/>
                          <a:ea typeface="Calibri"/>
                          <a:cs typeface="Calibri"/>
                          <a:sym typeface="Calibri"/>
                        </a:rPr>
                        <a:t>Tiêu chí</a:t>
                      </a:r>
                      <a:endParaRPr sz="1400" u="none" cap="none" strike="noStrike"/>
                    </a:p>
                  </a:txBody>
                  <a:tcPr marT="25400" marB="25400" marR="76200" marL="76200" anchor="ctr">
                    <a:solidFill>
                      <a:srgbClr val="EA580C"/>
                    </a:solidFill>
                  </a:tcPr>
                </a:tc>
                <a:tc>
                  <a:txBody>
                    <a:bodyPr/>
                    <a:lstStyle/>
                    <a:p>
                      <a:pPr indent="0" lvl="0" marL="0" marR="0" rtl="0" algn="ctr">
                        <a:lnSpc>
                          <a:spcPct val="100000"/>
                        </a:lnSpc>
                        <a:spcBef>
                          <a:spcPts val="0"/>
                        </a:spcBef>
                        <a:spcAft>
                          <a:spcPts val="0"/>
                        </a:spcAft>
                        <a:buClr>
                          <a:srgbClr val="000000"/>
                        </a:buClr>
                        <a:buSzPts val="1050"/>
                        <a:buFont typeface="Arial"/>
                        <a:buNone/>
                      </a:pPr>
                      <a:r>
                        <a:rPr b="1" lang="en-US" sz="1050" u="none" cap="none" strike="noStrike">
                          <a:solidFill>
                            <a:srgbClr val="FFFFFF"/>
                          </a:solidFill>
                          <a:latin typeface="Calibri"/>
                          <a:ea typeface="Calibri"/>
                          <a:cs typeface="Calibri"/>
                          <a:sym typeface="Calibri"/>
                        </a:rPr>
                        <a:t>Giá trị</a:t>
                      </a:r>
                      <a:endParaRPr sz="1400" u="none" cap="none" strike="noStrike"/>
                    </a:p>
                  </a:txBody>
                  <a:tcPr marT="25400" marB="25400" marR="76200" marL="76200" anchor="ctr">
                    <a:solidFill>
                      <a:srgbClr val="EA580C"/>
                    </a:solidFill>
                  </a:tcPr>
                </a:tc>
              </a:tr>
              <a:tr h="182875">
                <a:tc>
                  <a:txBody>
                    <a:bodyPr/>
                    <a:lstStyle/>
                    <a:p>
                      <a:pPr indent="0" lvl="0" marL="0" marR="0" rtl="0" algn="l">
                        <a:lnSpc>
                          <a:spcPct val="100000"/>
                        </a:lnSpc>
                        <a:spcBef>
                          <a:spcPts val="0"/>
                        </a:spcBef>
                        <a:spcAft>
                          <a:spcPts val="0"/>
                        </a:spcAft>
                        <a:buClr>
                          <a:srgbClr val="000000"/>
                        </a:buClr>
                        <a:buSzPts val="1050"/>
                        <a:buFont typeface="Arial"/>
                        <a:buNone/>
                      </a:pPr>
                      <a:r>
                        <a:rPr b="0" lang="en-US" sz="1050" u="none" cap="none" strike="noStrike">
                          <a:solidFill>
                            <a:srgbClr val="333333"/>
                          </a:solidFill>
                          <a:latin typeface="Calibri"/>
                          <a:ea typeface="Calibri"/>
                          <a:cs typeface="Calibri"/>
                          <a:sym typeface="Calibri"/>
                        </a:rPr>
                        <a:t>Số lượng task</a:t>
                      </a:r>
                      <a:endParaRPr sz="1400" u="none" cap="none" strike="noStrike"/>
                    </a:p>
                  </a:txBody>
                  <a:tcPr marT="25400" marB="25400" marR="76200" marL="76200" anchor="ctr">
                    <a:solidFill>
                      <a:srgbClr val="FFFFFF"/>
                    </a:solidFill>
                  </a:tcPr>
                </a:tc>
                <a:tc>
                  <a:txBody>
                    <a:bodyPr/>
                    <a:lstStyle/>
                    <a:p>
                      <a:pPr indent="0" lvl="0" marL="0" marR="0" rtl="0" algn="l">
                        <a:lnSpc>
                          <a:spcPct val="100000"/>
                        </a:lnSpc>
                        <a:spcBef>
                          <a:spcPts val="0"/>
                        </a:spcBef>
                        <a:spcAft>
                          <a:spcPts val="0"/>
                        </a:spcAft>
                        <a:buClr>
                          <a:srgbClr val="000000"/>
                        </a:buClr>
                        <a:buSzPts val="1050"/>
                        <a:buFont typeface="Arial"/>
                        <a:buNone/>
                      </a:pPr>
                      <a:r>
                        <a:rPr b="0" lang="en-US" sz="1050" u="none" cap="none" strike="noStrike">
                          <a:solidFill>
                            <a:srgbClr val="333333"/>
                          </a:solidFill>
                          <a:latin typeface="Calibri"/>
                          <a:ea typeface="Calibri"/>
                          <a:cs typeface="Calibri"/>
                          <a:sym typeface="Calibri"/>
                        </a:rPr>
                        <a:t>11</a:t>
                      </a:r>
                      <a:endParaRPr sz="1400" u="none" cap="none" strike="noStrike"/>
                    </a:p>
                  </a:txBody>
                  <a:tcPr marT="25400" marB="25400" marR="76200" marL="76200" anchor="ctr">
                    <a:solidFill>
                      <a:srgbClr val="FFFFFF"/>
                    </a:solidFill>
                  </a:tcPr>
                </a:tc>
              </a:tr>
              <a:tr h="182875">
                <a:tc>
                  <a:txBody>
                    <a:bodyPr/>
                    <a:lstStyle/>
                    <a:p>
                      <a:pPr indent="0" lvl="0" marL="0" marR="0" rtl="0" algn="l">
                        <a:lnSpc>
                          <a:spcPct val="100000"/>
                        </a:lnSpc>
                        <a:spcBef>
                          <a:spcPts val="0"/>
                        </a:spcBef>
                        <a:spcAft>
                          <a:spcPts val="0"/>
                        </a:spcAft>
                        <a:buClr>
                          <a:srgbClr val="000000"/>
                        </a:buClr>
                        <a:buSzPts val="1050"/>
                        <a:buFont typeface="Arial"/>
                        <a:buNone/>
                      </a:pPr>
                      <a:r>
                        <a:rPr b="0" lang="en-US" sz="1050" u="none" cap="none" strike="noStrike">
                          <a:solidFill>
                            <a:srgbClr val="333333"/>
                          </a:solidFill>
                          <a:latin typeface="Calibri"/>
                          <a:ea typeface="Calibri"/>
                          <a:cs typeface="Calibri"/>
                          <a:sym typeface="Calibri"/>
                        </a:rPr>
                        <a:t>Số lượng gateway</a:t>
                      </a:r>
                      <a:endParaRPr sz="1400" u="none" cap="none" strike="noStrike"/>
                    </a:p>
                  </a:txBody>
                  <a:tcPr marT="25400" marB="25400" marR="76200" marL="76200" anchor="ctr">
                    <a:solidFill>
                      <a:srgbClr val="F1F3F6"/>
                    </a:solidFill>
                  </a:tcPr>
                </a:tc>
                <a:tc>
                  <a:txBody>
                    <a:bodyPr/>
                    <a:lstStyle/>
                    <a:p>
                      <a:pPr indent="0" lvl="0" marL="0" marR="0" rtl="0" algn="l">
                        <a:lnSpc>
                          <a:spcPct val="100000"/>
                        </a:lnSpc>
                        <a:spcBef>
                          <a:spcPts val="0"/>
                        </a:spcBef>
                        <a:spcAft>
                          <a:spcPts val="0"/>
                        </a:spcAft>
                        <a:buClr>
                          <a:srgbClr val="000000"/>
                        </a:buClr>
                        <a:buSzPts val="1050"/>
                        <a:buFont typeface="Arial"/>
                        <a:buNone/>
                      </a:pPr>
                      <a:r>
                        <a:rPr b="0" lang="en-US" sz="1050" u="none" cap="none" strike="noStrike">
                          <a:solidFill>
                            <a:srgbClr val="333333"/>
                          </a:solidFill>
                          <a:latin typeface="Calibri"/>
                          <a:ea typeface="Calibri"/>
                          <a:cs typeface="Calibri"/>
                          <a:sym typeface="Calibri"/>
                        </a:rPr>
                        <a:t>8  (6 XOR + 2 AND)</a:t>
                      </a:r>
                      <a:endParaRPr sz="1400" u="none" cap="none" strike="noStrike"/>
                    </a:p>
                  </a:txBody>
                  <a:tcPr marT="25400" marB="25400" marR="76200" marL="76200" anchor="ctr">
                    <a:solidFill>
                      <a:srgbClr val="F1F3F6"/>
                    </a:solidFill>
                  </a:tcPr>
                </a:tc>
              </a:tr>
              <a:tr h="182875">
                <a:tc>
                  <a:txBody>
                    <a:bodyPr/>
                    <a:lstStyle/>
                    <a:p>
                      <a:pPr indent="0" lvl="0" marL="0" marR="0" rtl="0" algn="l">
                        <a:lnSpc>
                          <a:spcPct val="100000"/>
                        </a:lnSpc>
                        <a:spcBef>
                          <a:spcPts val="0"/>
                        </a:spcBef>
                        <a:spcAft>
                          <a:spcPts val="0"/>
                        </a:spcAft>
                        <a:buClr>
                          <a:srgbClr val="000000"/>
                        </a:buClr>
                        <a:buSzPts val="1050"/>
                        <a:buFont typeface="Arial"/>
                        <a:buNone/>
                      </a:pPr>
                      <a:r>
                        <a:rPr b="0" lang="en-US" sz="1050" u="none" cap="none" strike="noStrike">
                          <a:solidFill>
                            <a:srgbClr val="333333"/>
                          </a:solidFill>
                          <a:latin typeface="Calibri"/>
                          <a:ea typeface="Calibri"/>
                          <a:cs typeface="Calibri"/>
                          <a:sym typeface="Calibri"/>
                        </a:rPr>
                        <a:t>Split &amp; Join</a:t>
                      </a:r>
                      <a:endParaRPr sz="1400" u="none" cap="none" strike="noStrike"/>
                    </a:p>
                  </a:txBody>
                  <a:tcPr marT="25400" marB="25400" marR="76200" marL="76200" anchor="ctr">
                    <a:solidFill>
                      <a:srgbClr val="FFFFFF"/>
                    </a:solidFill>
                  </a:tcPr>
                </a:tc>
                <a:tc>
                  <a:txBody>
                    <a:bodyPr/>
                    <a:lstStyle/>
                    <a:p>
                      <a:pPr indent="0" lvl="0" marL="0" marR="0" rtl="0" algn="l">
                        <a:lnSpc>
                          <a:spcPct val="100000"/>
                        </a:lnSpc>
                        <a:spcBef>
                          <a:spcPts val="0"/>
                        </a:spcBef>
                        <a:spcAft>
                          <a:spcPts val="0"/>
                        </a:spcAft>
                        <a:buClr>
                          <a:srgbClr val="000000"/>
                        </a:buClr>
                        <a:buSzPts val="1050"/>
                        <a:buFont typeface="Arial"/>
                        <a:buNone/>
                      </a:pPr>
                      <a:r>
                        <a:rPr b="0" lang="en-US" sz="1050" u="none" cap="none" strike="noStrike">
                          <a:solidFill>
                            <a:srgbClr val="333333"/>
                          </a:solidFill>
                          <a:latin typeface="Calibri"/>
                          <a:ea typeface="Calibri"/>
                          <a:cs typeface="Calibri"/>
                          <a:sym typeface="Calibri"/>
                        </a:rPr>
                        <a:t>1 cặp AND-split/join (kiểm tra kỹ thuật // kiểm tra thư giới thiệu)</a:t>
                      </a:r>
                      <a:endParaRPr sz="1400" u="none" cap="none" strike="noStrike"/>
                    </a:p>
                  </a:txBody>
                  <a:tcPr marT="25400" marB="25400" marR="76200" marL="76200" anchor="ctr">
                    <a:solidFill>
                      <a:srgbClr val="FFFFFF"/>
                    </a:solidFill>
                  </a:tcPr>
                </a:tc>
              </a:tr>
              <a:tr h="182875">
                <a:tc>
                  <a:txBody>
                    <a:bodyPr/>
                    <a:lstStyle/>
                    <a:p>
                      <a:pPr indent="0" lvl="0" marL="0" marR="0" rtl="0" algn="l">
                        <a:lnSpc>
                          <a:spcPct val="100000"/>
                        </a:lnSpc>
                        <a:spcBef>
                          <a:spcPts val="0"/>
                        </a:spcBef>
                        <a:spcAft>
                          <a:spcPts val="0"/>
                        </a:spcAft>
                        <a:buClr>
                          <a:srgbClr val="000000"/>
                        </a:buClr>
                        <a:buSzPts val="1050"/>
                        <a:buFont typeface="Arial"/>
                        <a:buNone/>
                      </a:pPr>
                      <a:r>
                        <a:rPr b="0" lang="en-US" sz="1050" u="none" cap="none" strike="noStrike">
                          <a:solidFill>
                            <a:srgbClr val="333333"/>
                          </a:solidFill>
                          <a:latin typeface="Calibri"/>
                          <a:ea typeface="Calibri"/>
                          <a:cs typeface="Calibri"/>
                          <a:sym typeface="Calibri"/>
                        </a:rPr>
                        <a:t>Vòng lặp</a:t>
                      </a:r>
                      <a:endParaRPr sz="1400" u="none" cap="none" strike="noStrike"/>
                    </a:p>
                  </a:txBody>
                  <a:tcPr marT="25400" marB="25400" marR="76200" marL="76200" anchor="ctr">
                    <a:solidFill>
                      <a:srgbClr val="F1F3F6"/>
                    </a:solidFill>
                  </a:tcPr>
                </a:tc>
                <a:tc>
                  <a:txBody>
                    <a:bodyPr/>
                    <a:lstStyle/>
                    <a:p>
                      <a:pPr indent="0" lvl="0" marL="0" marR="0" rtl="0" algn="l">
                        <a:lnSpc>
                          <a:spcPct val="100000"/>
                        </a:lnSpc>
                        <a:spcBef>
                          <a:spcPts val="0"/>
                        </a:spcBef>
                        <a:spcAft>
                          <a:spcPts val="0"/>
                        </a:spcAft>
                        <a:buClr>
                          <a:srgbClr val="000000"/>
                        </a:buClr>
                        <a:buSzPts val="1050"/>
                        <a:buFont typeface="Arial"/>
                        <a:buNone/>
                      </a:pPr>
                      <a:r>
                        <a:rPr b="0" lang="en-US" sz="1050" u="none" cap="none" strike="noStrike">
                          <a:solidFill>
                            <a:srgbClr val="333333"/>
                          </a:solidFill>
                          <a:latin typeface="Calibri"/>
                          <a:ea typeface="Calibri"/>
                          <a:cs typeface="Calibri"/>
                          <a:sym typeface="Calibri"/>
                        </a:rPr>
                        <a:t>5 (yêu cầu chưa duyệt; thiếu ứng viên; không đạt phỏng vấn/đánh giá; đàm phán lương lại)</a:t>
                      </a:r>
                      <a:endParaRPr sz="1400" u="none" cap="none" strike="noStrike"/>
                    </a:p>
                  </a:txBody>
                  <a:tcPr marT="25400" marB="25400" marR="76200" marL="76200" anchor="ctr">
                    <a:solidFill>
                      <a:srgbClr val="F1F3F6"/>
                    </a:solidFill>
                  </a:tcPr>
                </a:tc>
              </a:tr>
              <a:tr h="182875">
                <a:tc>
                  <a:txBody>
                    <a:bodyPr/>
                    <a:lstStyle/>
                    <a:p>
                      <a:pPr indent="0" lvl="0" marL="0" marR="0" rtl="0" algn="l">
                        <a:lnSpc>
                          <a:spcPct val="100000"/>
                        </a:lnSpc>
                        <a:spcBef>
                          <a:spcPts val="0"/>
                        </a:spcBef>
                        <a:spcAft>
                          <a:spcPts val="0"/>
                        </a:spcAft>
                        <a:buClr>
                          <a:srgbClr val="000000"/>
                        </a:buClr>
                        <a:buSzPts val="1050"/>
                        <a:buFont typeface="Arial"/>
                        <a:buNone/>
                      </a:pPr>
                      <a:r>
                        <a:rPr b="0" lang="en-US" sz="1050" u="none" cap="none" strike="noStrike">
                          <a:solidFill>
                            <a:srgbClr val="333333"/>
                          </a:solidFill>
                          <a:latin typeface="Calibri"/>
                          <a:ea typeface="Calibri"/>
                          <a:cs typeface="Calibri"/>
                          <a:sym typeface="Calibri"/>
                        </a:rPr>
                        <a:t>Mức độ phức tạp</a:t>
                      </a:r>
                      <a:endParaRPr sz="1400" u="none" cap="none" strike="noStrike"/>
                    </a:p>
                  </a:txBody>
                  <a:tcPr marT="25400" marB="25400" marR="76200" marL="76200" anchor="ctr">
                    <a:solidFill>
                      <a:srgbClr val="FFFFFF"/>
                    </a:solidFill>
                  </a:tcPr>
                </a:tc>
                <a:tc>
                  <a:txBody>
                    <a:bodyPr/>
                    <a:lstStyle/>
                    <a:p>
                      <a:pPr indent="0" lvl="0" marL="0" marR="0" rtl="0" algn="l">
                        <a:lnSpc>
                          <a:spcPct val="100000"/>
                        </a:lnSpc>
                        <a:spcBef>
                          <a:spcPts val="0"/>
                        </a:spcBef>
                        <a:spcAft>
                          <a:spcPts val="0"/>
                        </a:spcAft>
                        <a:buClr>
                          <a:srgbClr val="000000"/>
                        </a:buClr>
                        <a:buSzPts val="1050"/>
                        <a:buFont typeface="Arial"/>
                        <a:buNone/>
                      </a:pPr>
                      <a:r>
                        <a:rPr b="0" lang="en-US" sz="1050" u="none" cap="none" strike="noStrike">
                          <a:solidFill>
                            <a:srgbClr val="333333"/>
                          </a:solidFill>
                          <a:latin typeface="Calibri"/>
                          <a:ea typeface="Calibri"/>
                          <a:cs typeface="Calibri"/>
                          <a:sym typeface="Calibri"/>
                        </a:rPr>
                        <a:t>Cao — nhiều vòng lặp hội tụ, thể hiện tính bất định cao của tuyển dụng</a:t>
                      </a:r>
                      <a:endParaRPr sz="1400" u="none" cap="none" strike="noStrike"/>
                    </a:p>
                  </a:txBody>
                  <a:tcPr marT="25400" marB="25400" marR="76200" marL="76200" anchor="ctr">
                    <a:solidFill>
                      <a:srgbClr val="FFFFFF"/>
                    </a:solidFill>
                  </a:tcPr>
                </a:tc>
              </a:tr>
            </a:tbl>
          </a:graphicData>
        </a:graphic>
      </p:graphicFrame>
      <p:sp>
        <p:nvSpPr>
          <p:cNvPr id="463" name="Google Shape;463;p19"/>
          <p:cNvSpPr txBox="1"/>
          <p:nvPr/>
        </p:nvSpPr>
        <p:spPr>
          <a:xfrm>
            <a:off x="502920" y="6528816"/>
            <a:ext cx="731520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50"/>
              <a:buFont typeface="Arial"/>
              <a:buNone/>
            </a:pPr>
            <a:r>
              <a:rPr b="0" i="1" lang="en-US" sz="950" u="none" cap="none" strike="noStrike">
                <a:solidFill>
                  <a:srgbClr val="595959"/>
                </a:solidFill>
                <a:latin typeface="Calibri"/>
                <a:ea typeface="Calibri"/>
                <a:cs typeface="Calibri"/>
                <a:sym typeface="Calibri"/>
              </a:rPr>
              <a:t>IE203 – Quản trị quy trình nghiệp vụ  |  OR Tech</a:t>
            </a:r>
            <a:endParaRPr b="0" i="0" sz="1400" u="none" cap="none" strike="noStrike">
              <a:solidFill>
                <a:srgbClr val="000000"/>
              </a:solidFill>
              <a:latin typeface="Arial"/>
              <a:ea typeface="Arial"/>
              <a:cs typeface="Arial"/>
              <a:sym typeface="Arial"/>
            </a:endParaRPr>
          </a:p>
        </p:txBody>
      </p:sp>
      <p:sp>
        <p:nvSpPr>
          <p:cNvPr id="464" name="Google Shape;464;p19"/>
          <p:cNvSpPr txBox="1"/>
          <p:nvPr/>
        </p:nvSpPr>
        <p:spPr>
          <a:xfrm>
            <a:off x="11338560" y="6528816"/>
            <a:ext cx="457200" cy="27432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050"/>
              <a:buFont typeface="Arial"/>
              <a:buNone/>
            </a:pPr>
            <a:r>
              <a:rPr b="1" i="0" lang="en-US" sz="1050" u="none" cap="none" strike="noStrike">
                <a:solidFill>
                  <a:srgbClr val="595959"/>
                </a:solidFill>
                <a:latin typeface="Calibri"/>
                <a:ea typeface="Calibri"/>
                <a:cs typeface="Calibri"/>
                <a:sym typeface="Calibri"/>
              </a:rPr>
              <a:t>18</a:t>
            </a:r>
            <a:endParaRPr b="0" i="0" sz="1400" u="none" cap="none" strike="noStrike">
              <a:solidFill>
                <a:srgbClr val="000000"/>
              </a:solidFill>
              <a:latin typeface="Arial"/>
              <a:ea typeface="Arial"/>
              <a:cs typeface="Arial"/>
              <a:sym typeface="Arial"/>
            </a:endParaRPr>
          </a:p>
        </p:txBody>
      </p:sp>
      <p:pic>
        <p:nvPicPr>
          <p:cNvPr id="465" name="Google Shape;465;p19" title="bpmn_hr.drawio (1).png"/>
          <p:cNvPicPr preferRelativeResize="0"/>
          <p:nvPr/>
        </p:nvPicPr>
        <p:blipFill rotWithShape="1">
          <a:blip r:embed="rId3">
            <a:alphaModFix/>
          </a:blip>
          <a:srcRect b="0" l="0" r="0" t="0"/>
          <a:stretch/>
        </p:blipFill>
        <p:spPr>
          <a:xfrm>
            <a:off x="495150" y="1026825"/>
            <a:ext cx="11201398" cy="37846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20"/>
          <p:cNvSpPr/>
          <p:nvPr/>
        </p:nvSpPr>
        <p:spPr>
          <a:xfrm>
            <a:off x="0" y="0"/>
            <a:ext cx="12191695" cy="960120"/>
          </a:xfrm>
          <a:prstGeom prst="rect">
            <a:avLst/>
          </a:prstGeom>
          <a:solidFill>
            <a:srgbClr val="EA58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72" name="Google Shape;472;p20"/>
          <p:cNvSpPr/>
          <p:nvPr/>
        </p:nvSpPr>
        <p:spPr>
          <a:xfrm>
            <a:off x="0" y="960120"/>
            <a:ext cx="12191695" cy="3810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73" name="Google Shape;473;p20"/>
          <p:cNvSpPr txBox="1"/>
          <p:nvPr/>
        </p:nvSpPr>
        <p:spPr>
          <a:xfrm>
            <a:off x="502920" y="91440"/>
            <a:ext cx="100584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lt1"/>
                </a:solidFill>
                <a:latin typeface="Calibri"/>
                <a:ea typeface="Calibri"/>
                <a:cs typeface="Calibri"/>
                <a:sym typeface="Calibri"/>
              </a:rPr>
              <a:t>QUY TRÌNH 3 · SUPPORT</a:t>
            </a:r>
            <a:endParaRPr b="0" i="0" sz="1400" u="none" cap="none" strike="noStrike">
              <a:solidFill>
                <a:schemeClr val="lt1"/>
              </a:solidFill>
              <a:latin typeface="Arial"/>
              <a:ea typeface="Arial"/>
              <a:cs typeface="Arial"/>
              <a:sym typeface="Arial"/>
            </a:endParaRPr>
          </a:p>
        </p:txBody>
      </p:sp>
      <p:sp>
        <p:nvSpPr>
          <p:cNvPr id="474" name="Google Shape;474;p20"/>
          <p:cNvSpPr txBox="1"/>
          <p:nvPr/>
        </p:nvSpPr>
        <p:spPr>
          <a:xfrm>
            <a:off x="502920" y="365760"/>
            <a:ext cx="10972800" cy="5486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FFFFFF"/>
                </a:solidFill>
                <a:latin typeface="Calibri"/>
                <a:ea typeface="Calibri"/>
                <a:cs typeface="Calibri"/>
                <a:sym typeface="Calibri"/>
              </a:rPr>
              <a:t>Tuyển dụng Nhân sự — Phương pháp &amp; bằng chứng</a:t>
            </a:r>
            <a:endParaRPr b="0" i="0" sz="1400" u="none" cap="none" strike="noStrike">
              <a:solidFill>
                <a:srgbClr val="000000"/>
              </a:solidFill>
              <a:latin typeface="Arial"/>
              <a:ea typeface="Arial"/>
              <a:cs typeface="Arial"/>
              <a:sym typeface="Arial"/>
            </a:endParaRPr>
          </a:p>
        </p:txBody>
      </p:sp>
      <p:sp>
        <p:nvSpPr>
          <p:cNvPr id="475" name="Google Shape;475;p20"/>
          <p:cNvSpPr txBox="1"/>
          <p:nvPr/>
        </p:nvSpPr>
        <p:spPr>
          <a:xfrm>
            <a:off x="436907" y="1682095"/>
            <a:ext cx="6675000" cy="200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chemeClr val="dk1"/>
                </a:solidFill>
                <a:latin typeface="Calibri"/>
                <a:ea typeface="Calibri"/>
                <a:cs typeface="Calibri"/>
                <a:sym typeface="Calibri"/>
              </a:rPr>
              <a:t>MÔ TẢ QUY TRÌNH HIỆN CÓ</a:t>
            </a:r>
            <a:endParaRPr b="0" i="0" sz="1400" u="none" cap="none" strike="noStrike">
              <a:solidFill>
                <a:schemeClr val="dk1"/>
              </a:solidFill>
              <a:latin typeface="Arial"/>
              <a:ea typeface="Arial"/>
              <a:cs typeface="Arial"/>
              <a:sym typeface="Arial"/>
            </a:endParaRPr>
          </a:p>
        </p:txBody>
      </p:sp>
      <p:sp>
        <p:nvSpPr>
          <p:cNvPr id="476" name="Google Shape;476;p20"/>
          <p:cNvSpPr txBox="1"/>
          <p:nvPr/>
        </p:nvSpPr>
        <p:spPr>
          <a:xfrm>
            <a:off x="436900" y="2029575"/>
            <a:ext cx="6434400" cy="8904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300"/>
              <a:buFont typeface="Arial"/>
              <a:buNone/>
            </a:pPr>
            <a:r>
              <a:rPr b="0" i="0" lang="en-US" sz="1300" u="none" cap="none" strike="noStrike">
                <a:solidFill>
                  <a:srgbClr val="333333"/>
                </a:solidFill>
                <a:latin typeface="Calibri"/>
                <a:ea typeface="Calibri"/>
                <a:cs typeface="Calibri"/>
                <a:sym typeface="Calibri"/>
              </a:rPr>
              <a:t>Requester điền Job Requisition Form, TA Lead cập nhật nhu cầu và trình BOD/COO duyệt; sau đó tạo/revise JD, đăng tuyển và sourcing; sàng lọc CV tạo shortlist, phone screening; đánh giá qua test kỹ thuật, phỏng vấn HR &amp; kỹ thuật, kiểm tra lương; cuối cùng tạo Offer Letter và phối hợp Pre-On-Board.</a:t>
            </a:r>
            <a:endParaRPr b="0" i="0" sz="1400" u="none" cap="none" strike="noStrike">
              <a:solidFill>
                <a:srgbClr val="000000"/>
              </a:solidFill>
              <a:latin typeface="Arial"/>
              <a:ea typeface="Arial"/>
              <a:cs typeface="Arial"/>
              <a:sym typeface="Arial"/>
            </a:endParaRPr>
          </a:p>
        </p:txBody>
      </p:sp>
      <p:sp>
        <p:nvSpPr>
          <p:cNvPr id="477" name="Google Shape;477;p20"/>
          <p:cNvSpPr txBox="1"/>
          <p:nvPr/>
        </p:nvSpPr>
        <p:spPr>
          <a:xfrm>
            <a:off x="436895" y="3730235"/>
            <a:ext cx="6675000" cy="200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chemeClr val="dk1"/>
                </a:solidFill>
                <a:latin typeface="Calibri"/>
                <a:ea typeface="Calibri"/>
                <a:cs typeface="Calibri"/>
                <a:sym typeface="Calibri"/>
              </a:rPr>
              <a:t>CÂU HỎI PHỎNG VẤN TIÊU BIỂU</a:t>
            </a:r>
            <a:endParaRPr b="0" i="0" sz="1400" u="none" cap="none" strike="noStrike">
              <a:solidFill>
                <a:schemeClr val="dk1"/>
              </a:solidFill>
              <a:latin typeface="Arial"/>
              <a:ea typeface="Arial"/>
              <a:cs typeface="Arial"/>
              <a:sym typeface="Arial"/>
            </a:endParaRPr>
          </a:p>
        </p:txBody>
      </p:sp>
      <p:sp>
        <p:nvSpPr>
          <p:cNvPr id="478" name="Google Shape;478;p20"/>
          <p:cNvSpPr txBox="1"/>
          <p:nvPr/>
        </p:nvSpPr>
        <p:spPr>
          <a:xfrm>
            <a:off x="436900" y="4096000"/>
            <a:ext cx="6434400" cy="96720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Clr>
                <a:srgbClr val="000000"/>
              </a:buClr>
              <a:buSzPts val="1250"/>
              <a:buFont typeface="Arial"/>
              <a:buNone/>
            </a:pPr>
            <a:r>
              <a:rPr b="1" i="0" lang="en-US" sz="1250" u="none" cap="none" strike="noStrike">
                <a:solidFill>
                  <a:schemeClr val="dk1"/>
                </a:solidFill>
                <a:latin typeface="Calibri"/>
                <a:ea typeface="Calibri"/>
                <a:cs typeface="Calibri"/>
                <a:sym typeface="Calibri"/>
              </a:rPr>
              <a:t>›  Định tính — </a:t>
            </a:r>
            <a:r>
              <a:rPr b="0" i="0" lang="en-US" sz="1250" u="none" cap="none" strike="noStrike">
                <a:solidFill>
                  <a:schemeClr val="dk1"/>
                </a:solidFill>
                <a:latin typeface="Calibri"/>
                <a:ea typeface="Calibri"/>
                <a:cs typeface="Calibri"/>
                <a:sym typeface="Calibri"/>
              </a:rPr>
              <a:t>“Điều gì khiến ứng viên thường rút lui giữa quy trình tuyển dụng, theo quan sát của anh/chị?” (HR TA Lead)</a:t>
            </a:r>
            <a:endParaRPr b="0" i="0" sz="1400" u="none" cap="none" strike="noStrike">
              <a:solidFill>
                <a:schemeClr val="dk1"/>
              </a:solidFill>
              <a:latin typeface="Arial"/>
              <a:ea typeface="Arial"/>
              <a:cs typeface="Arial"/>
              <a:sym typeface="Arial"/>
            </a:endParaRPr>
          </a:p>
          <a:p>
            <a:pPr indent="0" lvl="0" marL="0" marR="0" rtl="0" algn="l">
              <a:lnSpc>
                <a:spcPct val="112000"/>
              </a:lnSpc>
              <a:spcBef>
                <a:spcPts val="1000"/>
              </a:spcBef>
              <a:spcAft>
                <a:spcPts val="0"/>
              </a:spcAft>
              <a:buClr>
                <a:srgbClr val="000000"/>
              </a:buClr>
              <a:buSzPts val="1250"/>
              <a:buFont typeface="Arial"/>
              <a:buNone/>
            </a:pPr>
            <a:r>
              <a:rPr b="1" i="0" lang="en-US" sz="1250" u="none" cap="none" strike="noStrike">
                <a:solidFill>
                  <a:schemeClr val="dk1"/>
                </a:solidFill>
                <a:latin typeface="Calibri"/>
                <a:ea typeface="Calibri"/>
                <a:cs typeface="Calibri"/>
                <a:sym typeface="Calibri"/>
              </a:rPr>
              <a:t>›  Định lượng — </a:t>
            </a:r>
            <a:r>
              <a:rPr b="0" i="0" lang="en-US" sz="1250" u="none" cap="none" strike="noStrike">
                <a:solidFill>
                  <a:schemeClr val="dk1"/>
                </a:solidFill>
                <a:latin typeface="Calibri"/>
                <a:ea typeface="Calibri"/>
                <a:cs typeface="Calibri"/>
                <a:sym typeface="Calibri"/>
              </a:rPr>
              <a:t>“Thời gian tuyển dụng trung bình (time-to-hire) cho 1 vị trí là bao nhiêu ngày?” (HR TA Lead, đơn vị: số ngày)</a:t>
            </a:r>
            <a:endParaRPr b="0" i="0" sz="1400" u="none" cap="none" strike="noStrike">
              <a:solidFill>
                <a:schemeClr val="dk1"/>
              </a:solidFill>
              <a:latin typeface="Arial"/>
              <a:ea typeface="Arial"/>
              <a:cs typeface="Arial"/>
              <a:sym typeface="Arial"/>
            </a:endParaRPr>
          </a:p>
        </p:txBody>
      </p:sp>
      <p:pic>
        <p:nvPicPr>
          <p:cNvPr descr="orgchart_hr.png" id="479" name="Google Shape;479;p20"/>
          <p:cNvPicPr preferRelativeResize="0"/>
          <p:nvPr/>
        </p:nvPicPr>
        <p:blipFill rotWithShape="1">
          <a:blip r:embed="rId3">
            <a:alphaModFix/>
          </a:blip>
          <a:srcRect b="27199" l="15388" r="13860" t="0"/>
          <a:stretch/>
        </p:blipFill>
        <p:spPr>
          <a:xfrm>
            <a:off x="6929500" y="1882188"/>
            <a:ext cx="5088126" cy="2989800"/>
          </a:xfrm>
          <a:prstGeom prst="rect">
            <a:avLst/>
          </a:prstGeom>
          <a:noFill/>
          <a:ln>
            <a:noFill/>
          </a:ln>
        </p:spPr>
      </p:pic>
      <p:sp>
        <p:nvSpPr>
          <p:cNvPr id="480" name="Google Shape;480;p20"/>
          <p:cNvSpPr txBox="1"/>
          <p:nvPr/>
        </p:nvSpPr>
        <p:spPr>
          <a:xfrm>
            <a:off x="502920" y="6528816"/>
            <a:ext cx="731520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50"/>
              <a:buFont typeface="Arial"/>
              <a:buNone/>
            </a:pPr>
            <a:r>
              <a:rPr b="0" i="1" lang="en-US" sz="950" u="none" cap="none" strike="noStrike">
                <a:solidFill>
                  <a:srgbClr val="595959"/>
                </a:solidFill>
                <a:latin typeface="Calibri"/>
                <a:ea typeface="Calibri"/>
                <a:cs typeface="Calibri"/>
                <a:sym typeface="Calibri"/>
              </a:rPr>
              <a:t>IE203 – Quản trị quy trình nghiệp vụ  |  OR Tech</a:t>
            </a:r>
            <a:endParaRPr b="0" i="0" sz="1400" u="none" cap="none" strike="noStrike">
              <a:solidFill>
                <a:srgbClr val="000000"/>
              </a:solidFill>
              <a:latin typeface="Arial"/>
              <a:ea typeface="Arial"/>
              <a:cs typeface="Arial"/>
              <a:sym typeface="Arial"/>
            </a:endParaRPr>
          </a:p>
        </p:txBody>
      </p:sp>
      <p:sp>
        <p:nvSpPr>
          <p:cNvPr id="481" name="Google Shape;481;p20"/>
          <p:cNvSpPr txBox="1"/>
          <p:nvPr/>
        </p:nvSpPr>
        <p:spPr>
          <a:xfrm>
            <a:off x="11338560" y="6528816"/>
            <a:ext cx="457200" cy="27432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050"/>
              <a:buFont typeface="Arial"/>
              <a:buNone/>
            </a:pPr>
            <a:r>
              <a:rPr b="1" i="0" lang="en-US" sz="1050" u="none" cap="none" strike="noStrike">
                <a:solidFill>
                  <a:srgbClr val="595959"/>
                </a:solidFill>
                <a:latin typeface="Calibri"/>
                <a:ea typeface="Calibri"/>
                <a:cs typeface="Calibri"/>
                <a:sym typeface="Calibri"/>
              </a:rPr>
              <a:t>19</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21"/>
          <p:cNvSpPr/>
          <p:nvPr/>
        </p:nvSpPr>
        <p:spPr>
          <a:xfrm>
            <a:off x="0" y="-94300"/>
            <a:ext cx="121917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88" name="Google Shape;488;p21"/>
          <p:cNvSpPr/>
          <p:nvPr/>
        </p:nvSpPr>
        <p:spPr>
          <a:xfrm>
            <a:off x="0" y="0"/>
            <a:ext cx="12191695" cy="960120"/>
          </a:xfrm>
          <a:prstGeom prst="rect">
            <a:avLst/>
          </a:prstGeom>
          <a:solidFill>
            <a:srgbClr val="EA58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89" name="Google Shape;489;p21"/>
          <p:cNvSpPr/>
          <p:nvPr/>
        </p:nvSpPr>
        <p:spPr>
          <a:xfrm>
            <a:off x="0" y="960120"/>
            <a:ext cx="12191695" cy="3810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90" name="Google Shape;490;p21"/>
          <p:cNvSpPr txBox="1"/>
          <p:nvPr/>
        </p:nvSpPr>
        <p:spPr>
          <a:xfrm>
            <a:off x="502920" y="91440"/>
            <a:ext cx="100584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lt1"/>
                </a:solidFill>
                <a:latin typeface="Calibri"/>
                <a:ea typeface="Calibri"/>
                <a:cs typeface="Calibri"/>
                <a:sym typeface="Calibri"/>
              </a:rPr>
              <a:t>QUY TRÌNH 3 · SUPPORT · MỤC 4</a:t>
            </a:r>
            <a:endParaRPr b="0" i="0" sz="1400" u="none" cap="none" strike="noStrike">
              <a:solidFill>
                <a:schemeClr val="lt1"/>
              </a:solidFill>
              <a:latin typeface="Arial"/>
              <a:ea typeface="Arial"/>
              <a:cs typeface="Arial"/>
              <a:sym typeface="Arial"/>
            </a:endParaRPr>
          </a:p>
        </p:txBody>
      </p:sp>
      <p:sp>
        <p:nvSpPr>
          <p:cNvPr id="491" name="Google Shape;491;p21"/>
          <p:cNvSpPr txBox="1"/>
          <p:nvPr/>
        </p:nvSpPr>
        <p:spPr>
          <a:xfrm>
            <a:off x="502920" y="365760"/>
            <a:ext cx="10972800" cy="5486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FFFFFF"/>
                </a:solidFill>
                <a:latin typeface="Calibri"/>
                <a:ea typeface="Calibri"/>
                <a:cs typeface="Calibri"/>
                <a:sym typeface="Calibri"/>
              </a:rPr>
              <a:t>Tuyển dụng Nhân sự — Phân tích định tính</a:t>
            </a:r>
            <a:endParaRPr b="0" i="0" sz="1400" u="none" cap="none" strike="noStrike">
              <a:solidFill>
                <a:srgbClr val="000000"/>
              </a:solidFill>
              <a:latin typeface="Arial"/>
              <a:ea typeface="Arial"/>
              <a:cs typeface="Arial"/>
              <a:sym typeface="Arial"/>
            </a:endParaRPr>
          </a:p>
        </p:txBody>
      </p:sp>
      <p:sp>
        <p:nvSpPr>
          <p:cNvPr id="492" name="Google Shape;492;p21"/>
          <p:cNvSpPr txBox="1"/>
          <p:nvPr/>
        </p:nvSpPr>
        <p:spPr>
          <a:xfrm>
            <a:off x="495145" y="1303013"/>
            <a:ext cx="11155800" cy="200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chemeClr val="dk1"/>
                </a:solidFill>
                <a:latin typeface="Calibri"/>
                <a:ea typeface="Calibri"/>
                <a:cs typeface="Calibri"/>
                <a:sym typeface="Calibri"/>
              </a:rPr>
              <a:t>PHÂN TÍCH GIÁ TRỊ GIA TĂNG (VA / BVA / NVA)</a:t>
            </a:r>
            <a:endParaRPr b="0" i="0" sz="1400" u="none" cap="none" strike="noStrike">
              <a:solidFill>
                <a:schemeClr val="dk1"/>
              </a:solidFill>
              <a:latin typeface="Arial"/>
              <a:ea typeface="Arial"/>
              <a:cs typeface="Arial"/>
              <a:sym typeface="Arial"/>
            </a:endParaRPr>
          </a:p>
        </p:txBody>
      </p:sp>
      <p:graphicFrame>
        <p:nvGraphicFramePr>
          <p:cNvPr id="493" name="Google Shape;493;p21"/>
          <p:cNvGraphicFramePr/>
          <p:nvPr/>
        </p:nvGraphicFramePr>
        <p:xfrm>
          <a:off x="495145" y="1641340"/>
          <a:ext cx="3000000" cy="3000000"/>
        </p:xfrm>
        <a:graphic>
          <a:graphicData uri="http://schemas.openxmlformats.org/drawingml/2006/table">
            <a:tbl>
              <a:tblPr bandRow="1" firstRow="1">
                <a:noFill/>
                <a:tableStyleId>{660C12F0-EA0F-4C08-B8CF-7D1332A2121B}</a:tableStyleId>
              </a:tblPr>
              <a:tblGrid>
                <a:gridCol w="4553425"/>
                <a:gridCol w="1183875"/>
                <a:gridCol w="5464100"/>
              </a:tblGrid>
              <a:tr h="310900">
                <a:tc>
                  <a:txBody>
                    <a:bodyPr/>
                    <a:lstStyle/>
                    <a:p>
                      <a:pPr indent="0" lvl="0" marL="0" marR="0" rtl="0" algn="ctr">
                        <a:lnSpc>
                          <a:spcPct val="100000"/>
                        </a:lnSpc>
                        <a:spcBef>
                          <a:spcPts val="0"/>
                        </a:spcBef>
                        <a:spcAft>
                          <a:spcPts val="0"/>
                        </a:spcAft>
                        <a:buClr>
                          <a:srgbClr val="000000"/>
                        </a:buClr>
                        <a:buSzPts val="1150"/>
                        <a:buFont typeface="Arial"/>
                        <a:buNone/>
                      </a:pPr>
                      <a:r>
                        <a:rPr b="1" lang="en-US" sz="1150" u="none" cap="none" strike="noStrike">
                          <a:solidFill>
                            <a:srgbClr val="FFFFFF"/>
                          </a:solidFill>
                          <a:latin typeface="Calibri"/>
                          <a:ea typeface="Calibri"/>
                          <a:cs typeface="Calibri"/>
                          <a:sym typeface="Calibri"/>
                        </a:rPr>
                        <a:t>Bước</a:t>
                      </a:r>
                      <a:endParaRPr sz="1400" u="none" cap="none" strike="noStrike"/>
                    </a:p>
                  </a:txBody>
                  <a:tcPr marT="25400" marB="25400" marR="76200" marL="76200" anchor="ctr">
                    <a:solidFill>
                      <a:srgbClr val="EA580C"/>
                    </a:solidFill>
                  </a:tcPr>
                </a:tc>
                <a:tc>
                  <a:txBody>
                    <a:bodyPr/>
                    <a:lstStyle/>
                    <a:p>
                      <a:pPr indent="0" lvl="0" marL="0" marR="0" rtl="0" algn="ctr">
                        <a:lnSpc>
                          <a:spcPct val="100000"/>
                        </a:lnSpc>
                        <a:spcBef>
                          <a:spcPts val="0"/>
                        </a:spcBef>
                        <a:spcAft>
                          <a:spcPts val="0"/>
                        </a:spcAft>
                        <a:buClr>
                          <a:srgbClr val="000000"/>
                        </a:buClr>
                        <a:buSzPts val="1150"/>
                        <a:buFont typeface="Arial"/>
                        <a:buNone/>
                      </a:pPr>
                      <a:r>
                        <a:rPr b="1" lang="en-US" sz="1150" u="none" cap="none" strike="noStrike">
                          <a:solidFill>
                            <a:srgbClr val="FFFFFF"/>
                          </a:solidFill>
                          <a:latin typeface="Calibri"/>
                          <a:ea typeface="Calibri"/>
                          <a:cs typeface="Calibri"/>
                          <a:sym typeface="Calibri"/>
                        </a:rPr>
                        <a:t>Phân loại</a:t>
                      </a:r>
                      <a:endParaRPr sz="1400" u="none" cap="none" strike="noStrike"/>
                    </a:p>
                  </a:txBody>
                  <a:tcPr marT="25400" marB="25400" marR="76200" marL="76200" anchor="ctr">
                    <a:solidFill>
                      <a:srgbClr val="EA580C"/>
                    </a:solidFill>
                  </a:tcPr>
                </a:tc>
                <a:tc>
                  <a:txBody>
                    <a:bodyPr/>
                    <a:lstStyle/>
                    <a:p>
                      <a:pPr indent="0" lvl="0" marL="0" marR="0" rtl="0" algn="ctr">
                        <a:lnSpc>
                          <a:spcPct val="100000"/>
                        </a:lnSpc>
                        <a:spcBef>
                          <a:spcPts val="0"/>
                        </a:spcBef>
                        <a:spcAft>
                          <a:spcPts val="0"/>
                        </a:spcAft>
                        <a:buClr>
                          <a:srgbClr val="000000"/>
                        </a:buClr>
                        <a:buSzPts val="1150"/>
                        <a:buFont typeface="Arial"/>
                        <a:buNone/>
                      </a:pPr>
                      <a:r>
                        <a:rPr b="1" lang="en-US" sz="1150" u="none" cap="none" strike="noStrike">
                          <a:solidFill>
                            <a:srgbClr val="FFFFFF"/>
                          </a:solidFill>
                          <a:latin typeface="Calibri"/>
                          <a:ea typeface="Calibri"/>
                          <a:cs typeface="Calibri"/>
                          <a:sym typeface="Calibri"/>
                        </a:rPr>
                        <a:t>Khắc phục đề xuất</a:t>
                      </a:r>
                      <a:endParaRPr sz="1400" u="none" cap="none" strike="noStrike"/>
                    </a:p>
                  </a:txBody>
                  <a:tcPr marT="25400" marB="25400" marR="76200" marL="76200" anchor="ctr">
                    <a:solidFill>
                      <a:srgbClr val="EA580C"/>
                    </a:solidFill>
                  </a:tcPr>
                </a:tc>
              </a:tr>
              <a:tr h="310900">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333333"/>
                          </a:solidFill>
                          <a:latin typeface="Calibri"/>
                          <a:ea typeface="Calibri"/>
                          <a:cs typeface="Calibri"/>
                          <a:sym typeface="Calibri"/>
                        </a:rPr>
                        <a:t>Phỏng vấn kỹ thuật &amp; HR</a:t>
                      </a:r>
                      <a:endParaRPr sz="1400" u="none" cap="none" strike="noStrike"/>
                    </a:p>
                  </a:txBody>
                  <a:tcPr marT="25400" marB="25400" marR="76200" marL="76200" anchor="ctr">
                    <a:solidFill>
                      <a:srgbClr val="FFFFFF"/>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333333"/>
                          </a:solidFill>
                          <a:latin typeface="Calibri"/>
                          <a:ea typeface="Calibri"/>
                          <a:cs typeface="Calibri"/>
                          <a:sym typeface="Calibri"/>
                        </a:rPr>
                        <a:t>VA</a:t>
                      </a:r>
                      <a:endParaRPr sz="1400" u="none" cap="none" strike="noStrike"/>
                    </a:p>
                  </a:txBody>
                  <a:tcPr marT="25400" marB="25400" marR="76200" marL="76200" anchor="ctr">
                    <a:solidFill>
                      <a:srgbClr val="FFFFFF"/>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333333"/>
                          </a:solidFill>
                          <a:latin typeface="Calibri"/>
                          <a:ea typeface="Calibri"/>
                          <a:cs typeface="Calibri"/>
                          <a:sym typeface="Calibri"/>
                        </a:rPr>
                        <a:t>Chuẩn hóa bộ câu hỏi phỏng vấn theo từng cấp bậc</a:t>
                      </a:r>
                      <a:endParaRPr sz="1400" u="none" cap="none" strike="noStrike"/>
                    </a:p>
                  </a:txBody>
                  <a:tcPr marT="25400" marB="25400" marR="76200" marL="76200" anchor="ctr">
                    <a:solidFill>
                      <a:srgbClr val="FFFFFF"/>
                    </a:solidFill>
                  </a:tcPr>
                </a:tc>
              </a:tr>
              <a:tr h="310900">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333333"/>
                          </a:solidFill>
                          <a:latin typeface="Calibri"/>
                          <a:ea typeface="Calibri"/>
                          <a:cs typeface="Calibri"/>
                          <a:sym typeface="Calibri"/>
                        </a:rPr>
                        <a:t>Đăng tuyển &amp; sourcing ứng viên</a:t>
                      </a:r>
                      <a:endParaRPr sz="1400" u="none" cap="none" strike="noStrike"/>
                    </a:p>
                  </a:txBody>
                  <a:tcPr marT="25400" marB="25400" marR="76200" marL="76200" anchor="ctr">
                    <a:solidFill>
                      <a:srgbClr val="F1F3F6"/>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333333"/>
                          </a:solidFill>
                          <a:latin typeface="Calibri"/>
                          <a:ea typeface="Calibri"/>
                          <a:cs typeface="Calibri"/>
                          <a:sym typeface="Calibri"/>
                        </a:rPr>
                        <a:t>VA</a:t>
                      </a:r>
                      <a:endParaRPr sz="1400" u="none" cap="none" strike="noStrike"/>
                    </a:p>
                  </a:txBody>
                  <a:tcPr marT="25400" marB="25400" marR="76200" marL="76200" anchor="ctr">
                    <a:solidFill>
                      <a:srgbClr val="F1F3F6"/>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333333"/>
                          </a:solidFill>
                          <a:latin typeface="Calibri"/>
                          <a:ea typeface="Calibri"/>
                          <a:cs typeface="Calibri"/>
                          <a:sym typeface="Calibri"/>
                        </a:rPr>
                        <a:t>Đa dạng kênh sourcing, ưu tiên kênh hiệu quả cao</a:t>
                      </a:r>
                      <a:endParaRPr sz="1400" u="none" cap="none" strike="noStrike"/>
                    </a:p>
                  </a:txBody>
                  <a:tcPr marT="25400" marB="25400" marR="76200" marL="76200" anchor="ctr">
                    <a:solidFill>
                      <a:srgbClr val="F1F3F6"/>
                    </a:solidFill>
                  </a:tcPr>
                </a:tc>
              </a:tr>
              <a:tr h="310900">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333333"/>
                          </a:solidFill>
                          <a:latin typeface="Calibri"/>
                          <a:ea typeface="Calibri"/>
                          <a:cs typeface="Calibri"/>
                          <a:sym typeface="Calibri"/>
                        </a:rPr>
                        <a:t>Sàng lọc CV &amp; kiểm tra thư giới thiệu</a:t>
                      </a:r>
                      <a:endParaRPr sz="1400" u="none" cap="none" strike="noStrike"/>
                    </a:p>
                  </a:txBody>
                  <a:tcPr marT="25400" marB="25400" marR="76200" marL="76200" anchor="ctr">
                    <a:solidFill>
                      <a:srgbClr val="FFFFFF"/>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333333"/>
                          </a:solidFill>
                          <a:latin typeface="Calibri"/>
                          <a:ea typeface="Calibri"/>
                          <a:cs typeface="Calibri"/>
                          <a:sym typeface="Calibri"/>
                        </a:rPr>
                        <a:t>BVA</a:t>
                      </a:r>
                      <a:endParaRPr sz="1400" u="none" cap="none" strike="noStrike"/>
                    </a:p>
                  </a:txBody>
                  <a:tcPr marT="25400" marB="25400" marR="76200" marL="76200" anchor="ctr">
                    <a:solidFill>
                      <a:srgbClr val="FFFFFF"/>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333333"/>
                          </a:solidFill>
                          <a:latin typeface="Calibri"/>
                          <a:ea typeface="Calibri"/>
                          <a:cs typeface="Calibri"/>
                          <a:sym typeface="Calibri"/>
                        </a:rPr>
                        <a:t>Bộ tiêu chí sàng lọc chuẩn hóa, giảm thời gian xử lý</a:t>
                      </a:r>
                      <a:endParaRPr sz="1400" u="none" cap="none" strike="noStrike"/>
                    </a:p>
                  </a:txBody>
                  <a:tcPr marT="25400" marB="25400" marR="76200" marL="76200" anchor="ctr">
                    <a:solidFill>
                      <a:srgbClr val="FFFFFF"/>
                    </a:solidFill>
                  </a:tcPr>
                </a:tc>
              </a:tr>
              <a:tr h="310900">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333333"/>
                          </a:solidFill>
                          <a:latin typeface="Calibri"/>
                          <a:ea typeface="Calibri"/>
                          <a:cs typeface="Calibri"/>
                          <a:sym typeface="Calibri"/>
                        </a:rPr>
                        <a:t>Nhập lại thông tin ứng viên qua nhiều kênh thủ công</a:t>
                      </a:r>
                      <a:endParaRPr sz="1400" u="none" cap="none" strike="noStrike"/>
                    </a:p>
                  </a:txBody>
                  <a:tcPr marT="25400" marB="25400" marR="76200" marL="76200" anchor="ctr">
                    <a:solidFill>
                      <a:srgbClr val="F1F3F6"/>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333333"/>
                          </a:solidFill>
                          <a:latin typeface="Calibri"/>
                          <a:ea typeface="Calibri"/>
                          <a:cs typeface="Calibri"/>
                          <a:sym typeface="Calibri"/>
                        </a:rPr>
                        <a:t>NVA</a:t>
                      </a:r>
                      <a:endParaRPr sz="1400" u="none" cap="none" strike="noStrike"/>
                    </a:p>
                  </a:txBody>
                  <a:tcPr marT="25400" marB="25400" marR="76200" marL="76200" anchor="ctr">
                    <a:solidFill>
                      <a:srgbClr val="F1F3F6"/>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333333"/>
                          </a:solidFill>
                          <a:latin typeface="Calibri"/>
                          <a:ea typeface="Calibri"/>
                          <a:cs typeface="Calibri"/>
                          <a:sym typeface="Calibri"/>
                        </a:rPr>
                        <a:t>Triển khai ATS (Applicant Tracking System) tập trung</a:t>
                      </a:r>
                      <a:endParaRPr sz="1400" u="none" cap="none" strike="noStrike"/>
                    </a:p>
                  </a:txBody>
                  <a:tcPr marT="25400" marB="25400" marR="76200" marL="76200" anchor="ctr">
                    <a:solidFill>
                      <a:srgbClr val="F1F3F6"/>
                    </a:solidFill>
                  </a:tcPr>
                </a:tc>
              </a:tr>
            </a:tbl>
          </a:graphicData>
        </a:graphic>
      </p:graphicFrame>
      <p:sp>
        <p:nvSpPr>
          <p:cNvPr id="494" name="Google Shape;494;p21"/>
          <p:cNvSpPr txBox="1"/>
          <p:nvPr/>
        </p:nvSpPr>
        <p:spPr>
          <a:xfrm>
            <a:off x="495307" y="3351282"/>
            <a:ext cx="11155800" cy="200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chemeClr val="dk1"/>
                </a:solidFill>
                <a:latin typeface="Calibri"/>
                <a:ea typeface="Calibri"/>
                <a:cs typeface="Calibri"/>
                <a:sym typeface="Calibri"/>
              </a:rPr>
              <a:t>PHÂN TÍCH SỰ LÃNG PHÍ (MOVE / HOLD / OVERDO)</a:t>
            </a:r>
            <a:endParaRPr b="0" i="0" sz="1400" u="none" cap="none" strike="noStrike">
              <a:solidFill>
                <a:schemeClr val="dk1"/>
              </a:solidFill>
              <a:latin typeface="Arial"/>
              <a:ea typeface="Arial"/>
              <a:cs typeface="Arial"/>
              <a:sym typeface="Arial"/>
            </a:endParaRPr>
          </a:p>
        </p:txBody>
      </p:sp>
      <p:graphicFrame>
        <p:nvGraphicFramePr>
          <p:cNvPr id="495" name="Google Shape;495;p21"/>
          <p:cNvGraphicFramePr/>
          <p:nvPr/>
        </p:nvGraphicFramePr>
        <p:xfrm>
          <a:off x="495308" y="3689610"/>
          <a:ext cx="3000000" cy="3000000"/>
        </p:xfrm>
        <a:graphic>
          <a:graphicData uri="http://schemas.openxmlformats.org/drawingml/2006/table">
            <a:tbl>
              <a:tblPr bandRow="1" firstRow="1">
                <a:noFill/>
                <a:tableStyleId>{660C12F0-EA0F-4C08-B8CF-7D1332A2121B}</a:tableStyleId>
              </a:tblPr>
              <a:tblGrid>
                <a:gridCol w="1183875"/>
                <a:gridCol w="5646225"/>
                <a:gridCol w="4371275"/>
              </a:tblGrid>
              <a:tr h="320050">
                <a:tc>
                  <a:txBody>
                    <a:bodyPr/>
                    <a:lstStyle/>
                    <a:p>
                      <a:pPr indent="0" lvl="0" marL="0" marR="0" rtl="0" algn="ctr">
                        <a:lnSpc>
                          <a:spcPct val="100000"/>
                        </a:lnSpc>
                        <a:spcBef>
                          <a:spcPts val="0"/>
                        </a:spcBef>
                        <a:spcAft>
                          <a:spcPts val="0"/>
                        </a:spcAft>
                        <a:buClr>
                          <a:srgbClr val="000000"/>
                        </a:buClr>
                        <a:buSzPts val="1150"/>
                        <a:buFont typeface="Arial"/>
                        <a:buNone/>
                      </a:pPr>
                      <a:r>
                        <a:rPr b="1" lang="en-US" sz="1150" u="none" cap="none" strike="noStrike">
                          <a:solidFill>
                            <a:srgbClr val="FFFFFF"/>
                          </a:solidFill>
                          <a:latin typeface="Calibri"/>
                          <a:ea typeface="Calibri"/>
                          <a:cs typeface="Calibri"/>
                          <a:sym typeface="Calibri"/>
                        </a:rPr>
                        <a:t>Loại lãng phí</a:t>
                      </a:r>
                      <a:endParaRPr sz="1400" u="none" cap="none" strike="noStrike"/>
                    </a:p>
                  </a:txBody>
                  <a:tcPr marT="25400" marB="25400" marR="76200" marL="76200" anchor="ctr">
                    <a:solidFill>
                      <a:srgbClr val="EA580C"/>
                    </a:solidFill>
                  </a:tcPr>
                </a:tc>
                <a:tc>
                  <a:txBody>
                    <a:bodyPr/>
                    <a:lstStyle/>
                    <a:p>
                      <a:pPr indent="0" lvl="0" marL="0" marR="0" rtl="0" algn="ctr">
                        <a:lnSpc>
                          <a:spcPct val="100000"/>
                        </a:lnSpc>
                        <a:spcBef>
                          <a:spcPts val="0"/>
                        </a:spcBef>
                        <a:spcAft>
                          <a:spcPts val="0"/>
                        </a:spcAft>
                        <a:buClr>
                          <a:srgbClr val="000000"/>
                        </a:buClr>
                        <a:buSzPts val="1150"/>
                        <a:buFont typeface="Arial"/>
                        <a:buNone/>
                      </a:pPr>
                      <a:r>
                        <a:rPr b="1" lang="en-US" sz="1150" u="none" cap="none" strike="noStrike">
                          <a:solidFill>
                            <a:srgbClr val="FFFFFF"/>
                          </a:solidFill>
                          <a:latin typeface="Calibri"/>
                          <a:ea typeface="Calibri"/>
                          <a:cs typeface="Calibri"/>
                          <a:sym typeface="Calibri"/>
                        </a:rPr>
                        <a:t>Mô tả</a:t>
                      </a:r>
                      <a:endParaRPr sz="1400" u="none" cap="none" strike="noStrike"/>
                    </a:p>
                  </a:txBody>
                  <a:tcPr marT="25400" marB="25400" marR="76200" marL="76200" anchor="ctr">
                    <a:solidFill>
                      <a:srgbClr val="EA580C"/>
                    </a:solidFill>
                  </a:tcPr>
                </a:tc>
                <a:tc>
                  <a:txBody>
                    <a:bodyPr/>
                    <a:lstStyle/>
                    <a:p>
                      <a:pPr indent="0" lvl="0" marL="0" marR="0" rtl="0" algn="ctr">
                        <a:lnSpc>
                          <a:spcPct val="100000"/>
                        </a:lnSpc>
                        <a:spcBef>
                          <a:spcPts val="0"/>
                        </a:spcBef>
                        <a:spcAft>
                          <a:spcPts val="0"/>
                        </a:spcAft>
                        <a:buClr>
                          <a:srgbClr val="000000"/>
                        </a:buClr>
                        <a:buSzPts val="1150"/>
                        <a:buFont typeface="Arial"/>
                        <a:buNone/>
                      </a:pPr>
                      <a:r>
                        <a:rPr b="1" lang="en-US" sz="1150" u="none" cap="none" strike="noStrike">
                          <a:solidFill>
                            <a:srgbClr val="FFFFFF"/>
                          </a:solidFill>
                          <a:latin typeface="Calibri"/>
                          <a:ea typeface="Calibri"/>
                          <a:cs typeface="Calibri"/>
                          <a:sym typeface="Calibri"/>
                        </a:rPr>
                        <a:t>Khắc phục đề xuất</a:t>
                      </a:r>
                      <a:endParaRPr sz="1400" u="none" cap="none" strike="noStrike"/>
                    </a:p>
                  </a:txBody>
                  <a:tcPr marT="25400" marB="25400" marR="76200" marL="76200" anchor="ctr">
                    <a:solidFill>
                      <a:srgbClr val="EA580C"/>
                    </a:solidFill>
                  </a:tcPr>
                </a:tc>
              </a:tr>
              <a:tr h="320050">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333333"/>
                          </a:solidFill>
                          <a:latin typeface="Calibri"/>
                          <a:ea typeface="Calibri"/>
                          <a:cs typeface="Calibri"/>
                          <a:sym typeface="Calibri"/>
                        </a:rPr>
                        <a:t>Move</a:t>
                      </a:r>
                      <a:endParaRPr sz="1400" u="none" cap="none" strike="noStrike"/>
                    </a:p>
                  </a:txBody>
                  <a:tcPr marT="25400" marB="25400" marR="76200" marL="76200" anchor="ctr">
                    <a:solidFill>
                      <a:srgbClr val="FFFFFF"/>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333333"/>
                          </a:solidFill>
                          <a:latin typeface="Calibri"/>
                          <a:ea typeface="Calibri"/>
                          <a:cs typeface="Calibri"/>
                          <a:sym typeface="Calibri"/>
                        </a:rPr>
                        <a:t>CV &amp; thông tin ứng viên trao đổi qua nhiều kênh (email, chat, Excel riêng của từng TA)</a:t>
                      </a:r>
                      <a:endParaRPr sz="1400" u="none" cap="none" strike="noStrike"/>
                    </a:p>
                  </a:txBody>
                  <a:tcPr marT="25400" marB="25400" marR="76200" marL="76200" anchor="ctr">
                    <a:solidFill>
                      <a:srgbClr val="FFFFFF"/>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333333"/>
                          </a:solidFill>
                          <a:latin typeface="Calibri"/>
                          <a:ea typeface="Calibri"/>
                          <a:cs typeface="Calibri"/>
                          <a:sym typeface="Calibri"/>
                        </a:rPr>
                        <a:t>Triển khai ATS tập trung, một nguồn dữ liệu duy nhất</a:t>
                      </a:r>
                      <a:endParaRPr sz="1400" u="none" cap="none" strike="noStrike"/>
                    </a:p>
                  </a:txBody>
                  <a:tcPr marT="25400" marB="25400" marR="76200" marL="76200" anchor="ctr">
                    <a:solidFill>
                      <a:srgbClr val="FFFFFF"/>
                    </a:solidFill>
                  </a:tcPr>
                </a:tc>
              </a:tr>
              <a:tr h="320050">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333333"/>
                          </a:solidFill>
                          <a:latin typeface="Calibri"/>
                          <a:ea typeface="Calibri"/>
                          <a:cs typeface="Calibri"/>
                          <a:sym typeface="Calibri"/>
                        </a:rPr>
                        <a:t>Hold</a:t>
                      </a:r>
                      <a:endParaRPr sz="1400" u="none" cap="none" strike="noStrike"/>
                    </a:p>
                  </a:txBody>
                  <a:tcPr marT="25400" marB="25400" marR="76200" marL="76200" anchor="ctr">
                    <a:solidFill>
                      <a:srgbClr val="F1F3F6"/>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333333"/>
                          </a:solidFill>
                          <a:latin typeface="Calibri"/>
                          <a:ea typeface="Calibri"/>
                          <a:cs typeface="Calibri"/>
                          <a:sym typeface="Calibri"/>
                        </a:rPr>
                        <a:t>Chờ BOD/COO phê duyệt Job Requisition mất nhiều ngày trước khi được đăng tuyển</a:t>
                      </a:r>
                      <a:endParaRPr sz="1400" u="none" cap="none" strike="noStrike"/>
                    </a:p>
                  </a:txBody>
                  <a:tcPr marT="25400" marB="25400" marR="76200" marL="76200" anchor="ctr">
                    <a:solidFill>
                      <a:srgbClr val="F1F3F6"/>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333333"/>
                          </a:solidFill>
                          <a:latin typeface="Calibri"/>
                          <a:ea typeface="Calibri"/>
                          <a:cs typeface="Calibri"/>
                          <a:sym typeface="Calibri"/>
                        </a:rPr>
                        <a:t>Ngưỡng phê duyệt nhanh cho vị trí dưới mức lương quy định</a:t>
                      </a:r>
                      <a:endParaRPr sz="1400" u="none" cap="none" strike="noStrike"/>
                    </a:p>
                  </a:txBody>
                  <a:tcPr marT="25400" marB="25400" marR="76200" marL="76200" anchor="ctr">
                    <a:solidFill>
                      <a:srgbClr val="F1F3F6"/>
                    </a:solidFill>
                  </a:tcPr>
                </a:tc>
              </a:tr>
              <a:tr h="320050">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333333"/>
                          </a:solidFill>
                          <a:latin typeface="Calibri"/>
                          <a:ea typeface="Calibri"/>
                          <a:cs typeface="Calibri"/>
                          <a:sym typeface="Calibri"/>
                        </a:rPr>
                        <a:t>Overdo</a:t>
                      </a:r>
                      <a:endParaRPr sz="1400" u="none" cap="none" strike="noStrike"/>
                    </a:p>
                  </a:txBody>
                  <a:tcPr marT="25400" marB="25400" marR="76200" marL="76200" anchor="ctr">
                    <a:solidFill>
                      <a:srgbClr val="FFFFFF"/>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333333"/>
                          </a:solidFill>
                          <a:latin typeface="Calibri"/>
                          <a:ea typeface="Calibri"/>
                          <a:cs typeface="Calibri"/>
                          <a:sym typeface="Calibri"/>
                        </a:rPr>
                        <a:t>Nhiều vòng phỏng vấn áp dụng cho cả vị trí junior không thật sự cần thiết</a:t>
                      </a:r>
                      <a:endParaRPr sz="1400" u="none" cap="none" strike="noStrike"/>
                    </a:p>
                  </a:txBody>
                  <a:tcPr marT="25400" marB="25400" marR="76200" marL="76200" anchor="ctr">
                    <a:solidFill>
                      <a:srgbClr val="FFFFFF"/>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333333"/>
                          </a:solidFill>
                          <a:latin typeface="Calibri"/>
                          <a:ea typeface="Calibri"/>
                          <a:cs typeface="Calibri"/>
                          <a:sym typeface="Calibri"/>
                        </a:rPr>
                        <a:t>Số vòng phỏng vấn quy định theo cấp bậc vị trí</a:t>
                      </a:r>
                      <a:endParaRPr sz="1400" u="none" cap="none" strike="noStrike"/>
                    </a:p>
                  </a:txBody>
                  <a:tcPr marT="25400" marB="25400" marR="76200" marL="76200" anchor="ctr">
                    <a:solidFill>
                      <a:srgbClr val="FFFFFF"/>
                    </a:solidFill>
                  </a:tcPr>
                </a:tc>
              </a:tr>
            </a:tbl>
          </a:graphicData>
        </a:graphic>
      </p:graphicFrame>
      <p:sp>
        <p:nvSpPr>
          <p:cNvPr id="496" name="Google Shape;496;p21"/>
          <p:cNvSpPr txBox="1"/>
          <p:nvPr/>
        </p:nvSpPr>
        <p:spPr>
          <a:xfrm>
            <a:off x="518095" y="5172388"/>
            <a:ext cx="11155800" cy="200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chemeClr val="dk1"/>
                </a:solidFill>
                <a:latin typeface="Calibri"/>
                <a:ea typeface="Calibri"/>
                <a:cs typeface="Calibri"/>
                <a:sym typeface="Calibri"/>
              </a:rPr>
              <a:t>CÁC BÊN LIÊN QUAN CHÍNH</a:t>
            </a:r>
            <a:endParaRPr b="0" i="0" sz="1400" u="none" cap="none" strike="noStrike">
              <a:solidFill>
                <a:schemeClr val="dk1"/>
              </a:solidFill>
              <a:latin typeface="Arial"/>
              <a:ea typeface="Arial"/>
              <a:cs typeface="Arial"/>
              <a:sym typeface="Arial"/>
            </a:endParaRPr>
          </a:p>
        </p:txBody>
      </p:sp>
      <p:sp>
        <p:nvSpPr>
          <p:cNvPr id="497" name="Google Shape;497;p21"/>
          <p:cNvSpPr txBox="1"/>
          <p:nvPr/>
        </p:nvSpPr>
        <p:spPr>
          <a:xfrm>
            <a:off x="518095" y="5492428"/>
            <a:ext cx="11155800" cy="4143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Clr>
                <a:srgbClr val="000000"/>
              </a:buClr>
              <a:buSzPts val="1150"/>
              <a:buFont typeface="Arial"/>
              <a:buNone/>
            </a:pPr>
            <a:r>
              <a:rPr b="1" i="0" lang="en-US" sz="1150" u="none" cap="none" strike="noStrike">
                <a:solidFill>
                  <a:schemeClr val="dk1"/>
                </a:solidFill>
                <a:latin typeface="Calibri"/>
                <a:ea typeface="Calibri"/>
                <a:cs typeface="Calibri"/>
                <a:sym typeface="Calibri"/>
              </a:rPr>
              <a:t>›  Requester &amp; BOD/COO: </a:t>
            </a:r>
            <a:r>
              <a:rPr b="0" i="0" lang="en-US" sz="1150" u="none" cap="none" strike="noStrike">
                <a:solidFill>
                  <a:schemeClr val="dk1"/>
                </a:solidFill>
                <a:latin typeface="Calibri"/>
                <a:ea typeface="Calibri"/>
                <a:cs typeface="Calibri"/>
                <a:sym typeface="Calibri"/>
              </a:rPr>
              <a:t>cần người đúng lúc để dự án không chậm, đồng thời kiểm soát chi phí tuyển dụng.</a:t>
            </a:r>
            <a:endParaRPr b="0" i="0" sz="1400" u="none" cap="none" strike="noStrike">
              <a:solidFill>
                <a:schemeClr val="dk1"/>
              </a:solidFill>
              <a:latin typeface="Arial"/>
              <a:ea typeface="Arial"/>
              <a:cs typeface="Arial"/>
              <a:sym typeface="Arial"/>
            </a:endParaRPr>
          </a:p>
          <a:p>
            <a:pPr indent="0" lvl="0" marL="0" marR="0" rtl="0" algn="l">
              <a:lnSpc>
                <a:spcPct val="105000"/>
              </a:lnSpc>
              <a:spcBef>
                <a:spcPts val="400"/>
              </a:spcBef>
              <a:spcAft>
                <a:spcPts val="0"/>
              </a:spcAft>
              <a:buClr>
                <a:srgbClr val="000000"/>
              </a:buClr>
              <a:buSzPts val="1150"/>
              <a:buFont typeface="Arial"/>
              <a:buNone/>
            </a:pPr>
            <a:r>
              <a:rPr b="1" i="0" lang="en-US" sz="1150" u="none" cap="none" strike="noStrike">
                <a:solidFill>
                  <a:schemeClr val="dk1"/>
                </a:solidFill>
                <a:latin typeface="Calibri"/>
                <a:ea typeface="Calibri"/>
                <a:cs typeface="Calibri"/>
                <a:sym typeface="Calibri"/>
              </a:rPr>
              <a:t>›  HR/TA Lead &amp; Ứng viên: </a:t>
            </a:r>
            <a:r>
              <a:rPr b="0" i="0" lang="en-US" sz="1150" u="none" cap="none" strike="noStrike">
                <a:solidFill>
                  <a:schemeClr val="dk1"/>
                </a:solidFill>
                <a:latin typeface="Calibri"/>
                <a:ea typeface="Calibri"/>
                <a:cs typeface="Calibri"/>
                <a:sym typeface="Calibri"/>
              </a:rPr>
              <a:t>áp lực KPI tuyển đủ, chất lượng ứng viên; ứng viên kỳ vọng quy trình nhanh, minh bạch — dễ rút lui nếu chờ lâu.</a:t>
            </a:r>
            <a:endParaRPr b="0" i="0" sz="1400" u="none" cap="none" strike="noStrike">
              <a:solidFill>
                <a:schemeClr val="dk1"/>
              </a:solidFill>
              <a:latin typeface="Arial"/>
              <a:ea typeface="Arial"/>
              <a:cs typeface="Arial"/>
              <a:sym typeface="Arial"/>
            </a:endParaRPr>
          </a:p>
        </p:txBody>
      </p:sp>
      <p:sp>
        <p:nvSpPr>
          <p:cNvPr id="498" name="Google Shape;498;p21"/>
          <p:cNvSpPr txBox="1"/>
          <p:nvPr/>
        </p:nvSpPr>
        <p:spPr>
          <a:xfrm>
            <a:off x="502920" y="6528816"/>
            <a:ext cx="731520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50"/>
              <a:buFont typeface="Arial"/>
              <a:buNone/>
            </a:pPr>
            <a:r>
              <a:rPr b="0" i="1" lang="en-US" sz="950" u="none" cap="none" strike="noStrike">
                <a:solidFill>
                  <a:srgbClr val="595959"/>
                </a:solidFill>
                <a:latin typeface="Calibri"/>
                <a:ea typeface="Calibri"/>
                <a:cs typeface="Calibri"/>
                <a:sym typeface="Calibri"/>
              </a:rPr>
              <a:t>IE203 – Quản trị quy trình nghiệp vụ  |  OR Tech</a:t>
            </a:r>
            <a:endParaRPr b="0" i="0" sz="1400" u="none" cap="none" strike="noStrike">
              <a:solidFill>
                <a:srgbClr val="000000"/>
              </a:solidFill>
              <a:latin typeface="Arial"/>
              <a:ea typeface="Arial"/>
              <a:cs typeface="Arial"/>
              <a:sym typeface="Arial"/>
            </a:endParaRPr>
          </a:p>
        </p:txBody>
      </p:sp>
      <p:sp>
        <p:nvSpPr>
          <p:cNvPr id="499" name="Google Shape;499;p21"/>
          <p:cNvSpPr txBox="1"/>
          <p:nvPr/>
        </p:nvSpPr>
        <p:spPr>
          <a:xfrm>
            <a:off x="11338560" y="6528816"/>
            <a:ext cx="457200" cy="27432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050"/>
              <a:buFont typeface="Arial"/>
              <a:buNone/>
            </a:pPr>
            <a:r>
              <a:rPr b="1" i="0" lang="en-US" sz="1050" u="none" cap="none" strike="noStrike">
                <a:solidFill>
                  <a:srgbClr val="595959"/>
                </a:solidFill>
                <a:latin typeface="Calibri"/>
                <a:ea typeface="Calibri"/>
                <a:cs typeface="Calibri"/>
                <a:sym typeface="Calibri"/>
              </a:rPr>
              <a:t>20</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05" name="Google Shape;505;p22"/>
          <p:cNvSpPr/>
          <p:nvPr/>
        </p:nvSpPr>
        <p:spPr>
          <a:xfrm>
            <a:off x="0" y="24650"/>
            <a:ext cx="121917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06" name="Google Shape;506;p22"/>
          <p:cNvSpPr/>
          <p:nvPr/>
        </p:nvSpPr>
        <p:spPr>
          <a:xfrm>
            <a:off x="0" y="0"/>
            <a:ext cx="12191695" cy="960120"/>
          </a:xfrm>
          <a:prstGeom prst="rect">
            <a:avLst/>
          </a:prstGeom>
          <a:solidFill>
            <a:srgbClr val="EA58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07" name="Google Shape;507;p22"/>
          <p:cNvSpPr/>
          <p:nvPr/>
        </p:nvSpPr>
        <p:spPr>
          <a:xfrm>
            <a:off x="0" y="960120"/>
            <a:ext cx="12191695" cy="3810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08" name="Google Shape;508;p22"/>
          <p:cNvSpPr txBox="1"/>
          <p:nvPr/>
        </p:nvSpPr>
        <p:spPr>
          <a:xfrm>
            <a:off x="502920" y="91440"/>
            <a:ext cx="100584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lt1"/>
                </a:solidFill>
                <a:latin typeface="Calibri"/>
                <a:ea typeface="Calibri"/>
                <a:cs typeface="Calibri"/>
                <a:sym typeface="Calibri"/>
              </a:rPr>
              <a:t>QUY TRÌNH 3 · SUPPORT · MỤC 4</a:t>
            </a:r>
            <a:endParaRPr b="0" i="0" sz="1400" u="none" cap="none" strike="noStrike">
              <a:solidFill>
                <a:schemeClr val="lt1"/>
              </a:solidFill>
              <a:latin typeface="Arial"/>
              <a:ea typeface="Arial"/>
              <a:cs typeface="Arial"/>
              <a:sym typeface="Arial"/>
            </a:endParaRPr>
          </a:p>
        </p:txBody>
      </p:sp>
      <p:sp>
        <p:nvSpPr>
          <p:cNvPr id="509" name="Google Shape;509;p22"/>
          <p:cNvSpPr txBox="1"/>
          <p:nvPr/>
        </p:nvSpPr>
        <p:spPr>
          <a:xfrm>
            <a:off x="502920" y="365760"/>
            <a:ext cx="10972800" cy="5486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FFFFFF"/>
                </a:solidFill>
                <a:latin typeface="Calibri"/>
                <a:ea typeface="Calibri"/>
                <a:cs typeface="Calibri"/>
                <a:sym typeface="Calibri"/>
              </a:rPr>
              <a:t>Tuyển dụng Nhân sự — Phân tích định lượng</a:t>
            </a:r>
            <a:endParaRPr b="0" i="0" sz="1400" u="none" cap="none" strike="noStrike">
              <a:solidFill>
                <a:srgbClr val="000000"/>
              </a:solidFill>
              <a:latin typeface="Arial"/>
              <a:ea typeface="Arial"/>
              <a:cs typeface="Arial"/>
              <a:sym typeface="Arial"/>
            </a:endParaRPr>
          </a:p>
        </p:txBody>
      </p:sp>
      <p:pic>
        <p:nvPicPr>
          <p:cNvPr descr="pareto_hr.png" id="510" name="Google Shape;510;p22"/>
          <p:cNvPicPr preferRelativeResize="0"/>
          <p:nvPr/>
        </p:nvPicPr>
        <p:blipFill rotWithShape="1">
          <a:blip r:embed="rId3">
            <a:alphaModFix/>
          </a:blip>
          <a:srcRect b="0" l="0" r="0" t="0"/>
          <a:stretch/>
        </p:blipFill>
        <p:spPr>
          <a:xfrm>
            <a:off x="502925" y="1100350"/>
            <a:ext cx="6309351" cy="3345274"/>
          </a:xfrm>
          <a:prstGeom prst="rect">
            <a:avLst/>
          </a:prstGeom>
          <a:noFill/>
          <a:ln>
            <a:noFill/>
          </a:ln>
        </p:spPr>
      </p:pic>
      <p:sp>
        <p:nvSpPr>
          <p:cNvPr id="511" name="Google Shape;511;p22"/>
          <p:cNvSpPr txBox="1"/>
          <p:nvPr/>
        </p:nvSpPr>
        <p:spPr>
          <a:xfrm>
            <a:off x="6949440" y="1143000"/>
            <a:ext cx="4755000" cy="200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chemeClr val="dk1"/>
                </a:solidFill>
                <a:latin typeface="Calibri"/>
                <a:ea typeface="Calibri"/>
                <a:cs typeface="Calibri"/>
                <a:sym typeface="Calibri"/>
              </a:rPr>
              <a:t>ROOT-CAUSE NỔI BẬT NHẤT</a:t>
            </a:r>
            <a:endParaRPr b="0" i="0" sz="1400" u="none" cap="none" strike="noStrike">
              <a:solidFill>
                <a:schemeClr val="dk1"/>
              </a:solidFill>
              <a:latin typeface="Arial"/>
              <a:ea typeface="Arial"/>
              <a:cs typeface="Arial"/>
              <a:sym typeface="Arial"/>
            </a:endParaRPr>
          </a:p>
        </p:txBody>
      </p:sp>
      <p:sp>
        <p:nvSpPr>
          <p:cNvPr id="512" name="Google Shape;512;p22"/>
          <p:cNvSpPr txBox="1"/>
          <p:nvPr/>
        </p:nvSpPr>
        <p:spPr>
          <a:xfrm>
            <a:off x="6949440" y="1481328"/>
            <a:ext cx="4755000" cy="14142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Clr>
                <a:srgbClr val="000000"/>
              </a:buClr>
              <a:buSzPts val="1150"/>
              <a:buFont typeface="Arial"/>
              <a:buNone/>
            </a:pPr>
            <a:r>
              <a:rPr b="1" i="0" lang="en-US" sz="1150" u="none" cap="none" strike="noStrike">
                <a:solidFill>
                  <a:schemeClr val="dk1"/>
                </a:solidFill>
                <a:latin typeface="Calibri"/>
                <a:ea typeface="Calibri"/>
                <a:cs typeface="Calibri"/>
                <a:sym typeface="Calibri"/>
              </a:rPr>
              <a:t>›  Vấn đề: </a:t>
            </a:r>
            <a:r>
              <a:rPr b="0" i="0" lang="en-US" sz="1150" u="none" cap="none" strike="noStrike">
                <a:solidFill>
                  <a:schemeClr val="dk1"/>
                </a:solidFill>
                <a:latin typeface="Calibri"/>
                <a:ea typeface="Calibri"/>
                <a:cs typeface="Calibri"/>
                <a:sym typeface="Calibri"/>
              </a:rPr>
              <a:t>Ứng viên rút lui giữa quy trình do chờ phản hồi quá lâu (nguyên nhân hàng đầu, 30%).</a:t>
            </a:r>
            <a:endParaRPr b="0" i="0" sz="1400" u="none" cap="none" strike="noStrike">
              <a:solidFill>
                <a:schemeClr val="dk1"/>
              </a:solidFill>
              <a:latin typeface="Arial"/>
              <a:ea typeface="Arial"/>
              <a:cs typeface="Arial"/>
              <a:sym typeface="Arial"/>
            </a:endParaRPr>
          </a:p>
          <a:p>
            <a:pPr indent="0" lvl="0" marL="0" marR="0" rtl="0" algn="l">
              <a:lnSpc>
                <a:spcPct val="105000"/>
              </a:lnSpc>
              <a:spcBef>
                <a:spcPts val="600"/>
              </a:spcBef>
              <a:spcAft>
                <a:spcPts val="0"/>
              </a:spcAft>
              <a:buClr>
                <a:srgbClr val="000000"/>
              </a:buClr>
              <a:buSzPts val="1150"/>
              <a:buFont typeface="Arial"/>
              <a:buNone/>
            </a:pPr>
            <a:r>
              <a:rPr b="1" i="0" lang="en-US" sz="1150" u="none" cap="none" strike="noStrike">
                <a:solidFill>
                  <a:schemeClr val="dk1"/>
                </a:solidFill>
                <a:latin typeface="Calibri"/>
                <a:ea typeface="Calibri"/>
                <a:cs typeface="Calibri"/>
                <a:sym typeface="Calibri"/>
              </a:rPr>
              <a:t>›  </a:t>
            </a:r>
            <a:r>
              <a:rPr b="0" i="0" lang="en-US" sz="1150" u="none" cap="none" strike="noStrike">
                <a:solidFill>
                  <a:schemeClr val="dk1"/>
                </a:solidFill>
                <a:latin typeface="Calibri"/>
                <a:ea typeface="Calibri"/>
                <a:cs typeface="Calibri"/>
                <a:sym typeface="Calibri"/>
              </a:rPr>
              <a:t>Vì: thời gian phản hồi giữa các vòng phỏng vấn kéo dài.</a:t>
            </a:r>
            <a:endParaRPr b="0" i="0" sz="1400" u="none" cap="none" strike="noStrike">
              <a:solidFill>
                <a:schemeClr val="dk1"/>
              </a:solidFill>
              <a:latin typeface="Arial"/>
              <a:ea typeface="Arial"/>
              <a:cs typeface="Arial"/>
              <a:sym typeface="Arial"/>
            </a:endParaRPr>
          </a:p>
          <a:p>
            <a:pPr indent="0" lvl="0" marL="0" marR="0" rtl="0" algn="l">
              <a:lnSpc>
                <a:spcPct val="105000"/>
              </a:lnSpc>
              <a:spcBef>
                <a:spcPts val="600"/>
              </a:spcBef>
              <a:spcAft>
                <a:spcPts val="0"/>
              </a:spcAft>
              <a:buClr>
                <a:srgbClr val="000000"/>
              </a:buClr>
              <a:buSzPts val="1150"/>
              <a:buFont typeface="Arial"/>
              <a:buNone/>
            </a:pPr>
            <a:r>
              <a:rPr b="1" i="0" lang="en-US" sz="1150" u="none" cap="none" strike="noStrike">
                <a:solidFill>
                  <a:schemeClr val="dk1"/>
                </a:solidFill>
                <a:latin typeface="Calibri"/>
                <a:ea typeface="Calibri"/>
                <a:cs typeface="Calibri"/>
                <a:sym typeface="Calibri"/>
              </a:rPr>
              <a:t>›  </a:t>
            </a:r>
            <a:r>
              <a:rPr b="0" i="0" lang="en-US" sz="1150" u="none" cap="none" strike="noStrike">
                <a:solidFill>
                  <a:schemeClr val="dk1"/>
                </a:solidFill>
                <a:latin typeface="Calibri"/>
                <a:ea typeface="Calibri"/>
                <a:cs typeface="Calibri"/>
                <a:sym typeface="Calibri"/>
              </a:rPr>
              <a:t>Vì: lịch phỏng vấn phụ thuộc nhiều interviewer nội bộ bận rộn.</a:t>
            </a:r>
            <a:endParaRPr b="0" i="0" sz="1400" u="none" cap="none" strike="noStrike">
              <a:solidFill>
                <a:schemeClr val="dk1"/>
              </a:solidFill>
              <a:latin typeface="Arial"/>
              <a:ea typeface="Arial"/>
              <a:cs typeface="Arial"/>
              <a:sym typeface="Arial"/>
            </a:endParaRPr>
          </a:p>
          <a:p>
            <a:pPr indent="0" lvl="0" marL="0" marR="0" rtl="0" algn="l">
              <a:lnSpc>
                <a:spcPct val="105000"/>
              </a:lnSpc>
              <a:spcBef>
                <a:spcPts val="600"/>
              </a:spcBef>
              <a:spcAft>
                <a:spcPts val="0"/>
              </a:spcAft>
              <a:buClr>
                <a:srgbClr val="000000"/>
              </a:buClr>
              <a:buSzPts val="1150"/>
              <a:buFont typeface="Arial"/>
              <a:buNone/>
            </a:pPr>
            <a:r>
              <a:rPr b="1" i="0" lang="en-US" sz="1150" u="none" cap="none" strike="noStrike">
                <a:solidFill>
                  <a:schemeClr val="dk1"/>
                </a:solidFill>
                <a:latin typeface="Calibri"/>
                <a:ea typeface="Calibri"/>
                <a:cs typeface="Calibri"/>
                <a:sym typeface="Calibri"/>
              </a:rPr>
              <a:t>›  </a:t>
            </a:r>
            <a:r>
              <a:rPr b="0" i="0" lang="en-US" sz="1150" u="none" cap="none" strike="noStrike">
                <a:solidFill>
                  <a:schemeClr val="dk1"/>
                </a:solidFill>
                <a:latin typeface="Calibri"/>
                <a:ea typeface="Calibri"/>
                <a:cs typeface="Calibri"/>
                <a:sym typeface="Calibri"/>
              </a:rPr>
              <a:t>Vì: chưa có SLA nội bộ về thời gian phản hồi ứng viên.</a:t>
            </a:r>
            <a:endParaRPr b="0" i="0" sz="1400" u="none" cap="none" strike="noStrike">
              <a:solidFill>
                <a:schemeClr val="dk1"/>
              </a:solidFill>
              <a:latin typeface="Arial"/>
              <a:ea typeface="Arial"/>
              <a:cs typeface="Arial"/>
              <a:sym typeface="Arial"/>
            </a:endParaRPr>
          </a:p>
          <a:p>
            <a:pPr indent="0" lvl="0" marL="0" marR="0" rtl="0" algn="l">
              <a:lnSpc>
                <a:spcPct val="105000"/>
              </a:lnSpc>
              <a:spcBef>
                <a:spcPts val="600"/>
              </a:spcBef>
              <a:spcAft>
                <a:spcPts val="0"/>
              </a:spcAft>
              <a:buClr>
                <a:srgbClr val="000000"/>
              </a:buClr>
              <a:buSzPts val="1150"/>
              <a:buFont typeface="Arial"/>
              <a:buNone/>
            </a:pPr>
            <a:r>
              <a:rPr b="1" i="0" lang="en-US" sz="1150" u="none" cap="none" strike="noStrike">
                <a:solidFill>
                  <a:schemeClr val="dk1"/>
                </a:solidFill>
                <a:latin typeface="Calibri"/>
                <a:ea typeface="Calibri"/>
                <a:cs typeface="Calibri"/>
                <a:sym typeface="Calibri"/>
              </a:rPr>
              <a:t>›  </a:t>
            </a:r>
            <a:r>
              <a:rPr b="0" i="0" lang="en-US" sz="1150" u="none" cap="none" strike="noStrike">
                <a:solidFill>
                  <a:schemeClr val="dk1"/>
                </a:solidFill>
                <a:latin typeface="Calibri"/>
                <a:ea typeface="Calibri"/>
                <a:cs typeface="Calibri"/>
                <a:sym typeface="Calibri"/>
              </a:rPr>
              <a:t>Vì: TA team xử lý nhiều vị trí song song, chưa có ưu tiên rõ ràng.</a:t>
            </a:r>
            <a:endParaRPr b="0" i="0" sz="1400" u="none" cap="none" strike="noStrike">
              <a:solidFill>
                <a:schemeClr val="dk1"/>
              </a:solidFill>
              <a:latin typeface="Arial"/>
              <a:ea typeface="Arial"/>
              <a:cs typeface="Arial"/>
              <a:sym typeface="Arial"/>
            </a:endParaRPr>
          </a:p>
        </p:txBody>
      </p:sp>
      <p:graphicFrame>
        <p:nvGraphicFramePr>
          <p:cNvPr id="513" name="Google Shape;513;p22"/>
          <p:cNvGraphicFramePr/>
          <p:nvPr/>
        </p:nvGraphicFramePr>
        <p:xfrm>
          <a:off x="495295" y="4458533"/>
          <a:ext cx="3000000" cy="3000000"/>
        </p:xfrm>
        <a:graphic>
          <a:graphicData uri="http://schemas.openxmlformats.org/drawingml/2006/table">
            <a:tbl>
              <a:tblPr bandRow="1" firstRow="1">
                <a:noFill/>
                <a:tableStyleId>{660C12F0-EA0F-4C08-B8CF-7D1332A2121B}</a:tableStyleId>
              </a:tblPr>
              <a:tblGrid>
                <a:gridCol w="3915925"/>
                <a:gridCol w="2732050"/>
                <a:gridCol w="4553425"/>
              </a:tblGrid>
              <a:tr h="338325">
                <a:tc>
                  <a:txBody>
                    <a:bodyPr/>
                    <a:lstStyle/>
                    <a:p>
                      <a:pPr indent="0" lvl="0" marL="0" marR="0" rtl="0" algn="ctr">
                        <a:lnSpc>
                          <a:spcPct val="100000"/>
                        </a:lnSpc>
                        <a:spcBef>
                          <a:spcPts val="0"/>
                        </a:spcBef>
                        <a:spcAft>
                          <a:spcPts val="0"/>
                        </a:spcAft>
                        <a:buClr>
                          <a:srgbClr val="000000"/>
                        </a:buClr>
                        <a:buSzPts val="1150"/>
                        <a:buFont typeface="Arial"/>
                        <a:buNone/>
                      </a:pPr>
                      <a:r>
                        <a:rPr b="1" lang="en-US" sz="1150" u="none" cap="none" strike="noStrike">
                          <a:solidFill>
                            <a:srgbClr val="FFFFFF"/>
                          </a:solidFill>
                          <a:latin typeface="Calibri"/>
                          <a:ea typeface="Calibri"/>
                          <a:cs typeface="Calibri"/>
                          <a:sym typeface="Calibri"/>
                        </a:rPr>
                        <a:t>Chỉ số</a:t>
                      </a:r>
                      <a:endParaRPr sz="1400" u="none" cap="none" strike="noStrike"/>
                    </a:p>
                  </a:txBody>
                  <a:tcPr marT="25400" marB="25400" marR="76200" marL="76200" anchor="ctr">
                    <a:solidFill>
                      <a:srgbClr val="EA580C"/>
                    </a:solidFill>
                  </a:tcPr>
                </a:tc>
                <a:tc>
                  <a:txBody>
                    <a:bodyPr/>
                    <a:lstStyle/>
                    <a:p>
                      <a:pPr indent="0" lvl="0" marL="0" marR="0" rtl="0" algn="ctr">
                        <a:lnSpc>
                          <a:spcPct val="100000"/>
                        </a:lnSpc>
                        <a:spcBef>
                          <a:spcPts val="0"/>
                        </a:spcBef>
                        <a:spcAft>
                          <a:spcPts val="0"/>
                        </a:spcAft>
                        <a:buClr>
                          <a:srgbClr val="000000"/>
                        </a:buClr>
                        <a:buSzPts val="1150"/>
                        <a:buFont typeface="Arial"/>
                        <a:buNone/>
                      </a:pPr>
                      <a:r>
                        <a:rPr b="1" lang="en-US" sz="1150" u="none" cap="none" strike="noStrike">
                          <a:solidFill>
                            <a:srgbClr val="FFFFFF"/>
                          </a:solidFill>
                          <a:latin typeface="Calibri"/>
                          <a:ea typeface="Calibri"/>
                          <a:cs typeface="Calibri"/>
                          <a:sym typeface="Calibri"/>
                        </a:rPr>
                        <a:t>Giá trị ước tính</a:t>
                      </a:r>
                      <a:endParaRPr sz="1400" u="none" cap="none" strike="noStrike"/>
                    </a:p>
                  </a:txBody>
                  <a:tcPr marT="25400" marB="25400" marR="76200" marL="76200" anchor="ctr">
                    <a:solidFill>
                      <a:srgbClr val="EA580C"/>
                    </a:solidFill>
                  </a:tcPr>
                </a:tc>
                <a:tc>
                  <a:txBody>
                    <a:bodyPr/>
                    <a:lstStyle/>
                    <a:p>
                      <a:pPr indent="0" lvl="0" marL="0" marR="0" rtl="0" algn="ctr">
                        <a:lnSpc>
                          <a:spcPct val="100000"/>
                        </a:lnSpc>
                        <a:spcBef>
                          <a:spcPts val="0"/>
                        </a:spcBef>
                        <a:spcAft>
                          <a:spcPts val="0"/>
                        </a:spcAft>
                        <a:buClr>
                          <a:srgbClr val="000000"/>
                        </a:buClr>
                        <a:buSzPts val="1150"/>
                        <a:buFont typeface="Arial"/>
                        <a:buNone/>
                      </a:pPr>
                      <a:r>
                        <a:rPr b="1" lang="en-US" sz="1150" u="none" cap="none" strike="noStrike">
                          <a:solidFill>
                            <a:srgbClr val="FFFFFF"/>
                          </a:solidFill>
                          <a:latin typeface="Calibri"/>
                          <a:ea typeface="Calibri"/>
                          <a:cs typeface="Calibri"/>
                          <a:sym typeface="Calibri"/>
                        </a:rPr>
                        <a:t>Đề xuất cải tiến</a:t>
                      </a:r>
                      <a:endParaRPr sz="1400" u="none" cap="none" strike="noStrike"/>
                    </a:p>
                  </a:txBody>
                  <a:tcPr marT="25400" marB="25400" marR="76200" marL="76200" anchor="ctr">
                    <a:solidFill>
                      <a:srgbClr val="EA580C"/>
                    </a:solidFill>
                  </a:tcPr>
                </a:tc>
              </a:tr>
              <a:tr h="338325">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333333"/>
                          </a:solidFill>
                          <a:latin typeface="Calibri"/>
                          <a:ea typeface="Calibri"/>
                          <a:cs typeface="Calibri"/>
                          <a:sym typeface="Calibri"/>
                        </a:rPr>
                        <a:t>Thời gian tuyển dụng TB (time-to-hire)</a:t>
                      </a:r>
                      <a:endParaRPr sz="1400" u="none" cap="none" strike="noStrike"/>
                    </a:p>
                  </a:txBody>
                  <a:tcPr marT="25400" marB="25400" marR="76200" marL="76200" anchor="ctr">
                    <a:solidFill>
                      <a:srgbClr val="FFFFFF"/>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333333"/>
                          </a:solidFill>
                          <a:latin typeface="Calibri"/>
                          <a:ea typeface="Calibri"/>
                          <a:cs typeface="Calibri"/>
                          <a:sym typeface="Calibri"/>
                        </a:rPr>
                        <a:t>21 ngày / vị trí</a:t>
                      </a:r>
                      <a:endParaRPr sz="1400" u="none" cap="none" strike="noStrike"/>
                    </a:p>
                  </a:txBody>
                  <a:tcPr marT="25400" marB="25400" marR="76200" marL="76200" anchor="ctr">
                    <a:solidFill>
                      <a:srgbClr val="FFFFFF"/>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333333"/>
                          </a:solidFill>
                          <a:latin typeface="Calibri"/>
                          <a:ea typeface="Calibri"/>
                          <a:cs typeface="Calibri"/>
                          <a:sym typeface="Calibri"/>
                        </a:rPr>
                        <a:t>Triển khai ATS + SLA phản hồi ứng viên 2 ngày</a:t>
                      </a:r>
                      <a:endParaRPr sz="1400" u="none" cap="none" strike="noStrike"/>
                    </a:p>
                  </a:txBody>
                  <a:tcPr marT="25400" marB="25400" marR="76200" marL="76200" anchor="ctr">
                    <a:solidFill>
                      <a:srgbClr val="FFFFFF"/>
                    </a:solidFill>
                  </a:tcPr>
                </a:tc>
              </a:tr>
              <a:tr h="338325">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333333"/>
                          </a:solidFill>
                          <a:latin typeface="Calibri"/>
                          <a:ea typeface="Calibri"/>
                          <a:cs typeface="Calibri"/>
                          <a:sym typeface="Calibri"/>
                        </a:rPr>
                        <a:t>Tỷ lệ offer được chấp nhận</a:t>
                      </a:r>
                      <a:endParaRPr sz="1400" u="none" cap="none" strike="noStrike"/>
                    </a:p>
                  </a:txBody>
                  <a:tcPr marT="25400" marB="25400" marR="76200" marL="76200" anchor="ctr">
                    <a:solidFill>
                      <a:srgbClr val="F1F3F6"/>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333333"/>
                          </a:solidFill>
                          <a:latin typeface="Calibri"/>
                          <a:ea typeface="Calibri"/>
                          <a:cs typeface="Calibri"/>
                          <a:sym typeface="Calibri"/>
                        </a:rPr>
                        <a:t>75 – 80%</a:t>
                      </a:r>
                      <a:endParaRPr sz="1400" u="none" cap="none" strike="noStrike"/>
                    </a:p>
                  </a:txBody>
                  <a:tcPr marT="25400" marB="25400" marR="76200" marL="76200" anchor="ctr">
                    <a:solidFill>
                      <a:srgbClr val="F1F3F6"/>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333333"/>
                          </a:solidFill>
                          <a:latin typeface="Calibri"/>
                          <a:ea typeface="Calibri"/>
                          <a:cs typeface="Calibri"/>
                          <a:sym typeface="Calibri"/>
                        </a:rPr>
                        <a:t>Rà soát khung lương theo thị trường mỗi 6 tháng</a:t>
                      </a:r>
                      <a:endParaRPr sz="1400" u="none" cap="none" strike="noStrike"/>
                    </a:p>
                  </a:txBody>
                  <a:tcPr marT="25400" marB="25400" marR="76200" marL="76200" anchor="ctr">
                    <a:solidFill>
                      <a:srgbClr val="F1F3F6"/>
                    </a:solidFill>
                  </a:tcPr>
                </a:tc>
              </a:tr>
              <a:tr h="338325">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333333"/>
                          </a:solidFill>
                          <a:latin typeface="Calibri"/>
                          <a:ea typeface="Calibri"/>
                          <a:cs typeface="Calibri"/>
                          <a:sym typeface="Calibri"/>
                        </a:rPr>
                        <a:t>Hiệu suất thời gian quy trình</a:t>
                      </a:r>
                      <a:endParaRPr sz="1400" u="none" cap="none" strike="noStrike"/>
                    </a:p>
                  </a:txBody>
                  <a:tcPr marT="25400" marB="25400" marR="76200" marL="76200" anchor="ctr">
                    <a:solidFill>
                      <a:srgbClr val="FFFFFF"/>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333333"/>
                          </a:solidFill>
                          <a:latin typeface="Calibri"/>
                          <a:ea typeface="Calibri"/>
                          <a:cs typeface="Calibri"/>
                          <a:sym typeface="Calibri"/>
                        </a:rPr>
                        <a:t>95,2%  (20 / 21 ngày)</a:t>
                      </a:r>
                      <a:endParaRPr sz="1400" u="none" cap="none" strike="noStrike"/>
                    </a:p>
                  </a:txBody>
                  <a:tcPr marT="25400" marB="25400" marR="76200" marL="76200" anchor="ctr">
                    <a:solidFill>
                      <a:srgbClr val="FFFFFF"/>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333333"/>
                          </a:solidFill>
                          <a:latin typeface="Calibri"/>
                          <a:ea typeface="Calibri"/>
                          <a:cs typeface="Calibri"/>
                          <a:sym typeface="Calibri"/>
                        </a:rPr>
                        <a:t>Chuẩn hóa mẫu Job Requisition ngay từ đầu</a:t>
                      </a:r>
                      <a:endParaRPr sz="1400" u="none" cap="none" strike="noStrike"/>
                    </a:p>
                  </a:txBody>
                  <a:tcPr marT="25400" marB="25400" marR="76200" marL="76200" anchor="ctr">
                    <a:solidFill>
                      <a:srgbClr val="FFFFFF"/>
                    </a:solidFill>
                  </a:tcPr>
                </a:tc>
              </a:tr>
              <a:tr h="338325">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333333"/>
                          </a:solidFill>
                          <a:latin typeface="Calibri"/>
                          <a:ea typeface="Calibri"/>
                          <a:cs typeface="Calibri"/>
                          <a:sym typeface="Calibri"/>
                        </a:rPr>
                        <a:t>Chi phí tuyển dụng ước tính / vị trí</a:t>
                      </a:r>
                      <a:endParaRPr sz="1400" u="none" cap="none" strike="noStrike"/>
                    </a:p>
                  </a:txBody>
                  <a:tcPr marT="25400" marB="25400" marR="76200" marL="76200" anchor="ctr">
                    <a:solidFill>
                      <a:srgbClr val="F1F3F6"/>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333333"/>
                          </a:solidFill>
                          <a:latin typeface="Calibri"/>
                          <a:ea typeface="Calibri"/>
                          <a:cs typeface="Calibri"/>
                          <a:sym typeface="Calibri"/>
                        </a:rPr>
                        <a:t>5 – 8 triệu VNĐ</a:t>
                      </a:r>
                      <a:endParaRPr sz="1400" u="none" cap="none" strike="noStrike"/>
                    </a:p>
                  </a:txBody>
                  <a:tcPr marT="25400" marB="25400" marR="76200" marL="76200" anchor="ctr">
                    <a:solidFill>
                      <a:srgbClr val="F1F3F6"/>
                    </a:solidFill>
                  </a:tcPr>
                </a:tc>
                <a:tc>
                  <a:txBody>
                    <a:bodyPr/>
                    <a:lstStyle/>
                    <a:p>
                      <a:pPr indent="0" lvl="0" marL="0" marR="0" rtl="0" algn="l">
                        <a:lnSpc>
                          <a:spcPct val="100000"/>
                        </a:lnSpc>
                        <a:spcBef>
                          <a:spcPts val="0"/>
                        </a:spcBef>
                        <a:spcAft>
                          <a:spcPts val="0"/>
                        </a:spcAft>
                        <a:buClr>
                          <a:srgbClr val="000000"/>
                        </a:buClr>
                        <a:buSzPts val="1150"/>
                        <a:buFont typeface="Arial"/>
                        <a:buNone/>
                      </a:pPr>
                      <a:r>
                        <a:rPr b="0" lang="en-US" sz="1150" u="none" cap="none" strike="noStrike">
                          <a:solidFill>
                            <a:srgbClr val="333333"/>
                          </a:solidFill>
                          <a:latin typeface="Calibri"/>
                          <a:ea typeface="Calibri"/>
                          <a:cs typeface="Calibri"/>
                          <a:sym typeface="Calibri"/>
                        </a:rPr>
                        <a:t>Ưu tiên kênh sourcing hiệu quả cao</a:t>
                      </a:r>
                      <a:endParaRPr sz="1400" u="none" cap="none" strike="noStrike"/>
                    </a:p>
                  </a:txBody>
                  <a:tcPr marT="25400" marB="25400" marR="76200" marL="76200" anchor="ctr">
                    <a:solidFill>
                      <a:srgbClr val="F1F3F6"/>
                    </a:solidFill>
                  </a:tcPr>
                </a:tc>
              </a:tr>
            </a:tbl>
          </a:graphicData>
        </a:graphic>
      </p:graphicFrame>
      <p:sp>
        <p:nvSpPr>
          <p:cNvPr id="514" name="Google Shape;514;p22"/>
          <p:cNvSpPr txBox="1"/>
          <p:nvPr/>
        </p:nvSpPr>
        <p:spPr>
          <a:xfrm>
            <a:off x="517945" y="6262533"/>
            <a:ext cx="111558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0" i="1" lang="en-US" sz="1000" u="none" cap="none" strike="noStrike">
                <a:solidFill>
                  <a:srgbClr val="595959"/>
                </a:solidFill>
                <a:latin typeface="Calibri"/>
                <a:ea typeface="Calibri"/>
                <a:cs typeface="Calibri"/>
                <a:sym typeface="Calibri"/>
              </a:rPr>
              <a:t>* Số liệu Mục 4 của quy trình này được nhóm ước tính bổ sung dựa trên đặc điểm vận hành mô tả ở Mục 2–3 (báo cáo nguồn chưa có số liệu khảo sát thực tế cho phần này).</a:t>
            </a:r>
            <a:endParaRPr b="0" i="0" sz="1400" u="none" cap="none" strike="noStrike">
              <a:solidFill>
                <a:srgbClr val="000000"/>
              </a:solidFill>
              <a:latin typeface="Arial"/>
              <a:ea typeface="Arial"/>
              <a:cs typeface="Arial"/>
              <a:sym typeface="Arial"/>
            </a:endParaRPr>
          </a:p>
        </p:txBody>
      </p:sp>
      <p:sp>
        <p:nvSpPr>
          <p:cNvPr id="515" name="Google Shape;515;p22"/>
          <p:cNvSpPr txBox="1"/>
          <p:nvPr/>
        </p:nvSpPr>
        <p:spPr>
          <a:xfrm>
            <a:off x="502920" y="6528816"/>
            <a:ext cx="731520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50"/>
              <a:buFont typeface="Arial"/>
              <a:buNone/>
            </a:pPr>
            <a:r>
              <a:rPr b="0" i="1" lang="en-US" sz="950" u="none" cap="none" strike="noStrike">
                <a:solidFill>
                  <a:srgbClr val="595959"/>
                </a:solidFill>
                <a:latin typeface="Calibri"/>
                <a:ea typeface="Calibri"/>
                <a:cs typeface="Calibri"/>
                <a:sym typeface="Calibri"/>
              </a:rPr>
              <a:t>IE203 – Quản trị quy trình nghiệp vụ  |  OR Tech</a:t>
            </a:r>
            <a:endParaRPr b="0" i="0" sz="1400" u="none" cap="none" strike="noStrike">
              <a:solidFill>
                <a:srgbClr val="000000"/>
              </a:solidFill>
              <a:latin typeface="Arial"/>
              <a:ea typeface="Arial"/>
              <a:cs typeface="Arial"/>
              <a:sym typeface="Arial"/>
            </a:endParaRPr>
          </a:p>
        </p:txBody>
      </p:sp>
      <p:sp>
        <p:nvSpPr>
          <p:cNvPr id="516" name="Google Shape;516;p22"/>
          <p:cNvSpPr txBox="1"/>
          <p:nvPr/>
        </p:nvSpPr>
        <p:spPr>
          <a:xfrm>
            <a:off x="11338560" y="6528816"/>
            <a:ext cx="457200" cy="27432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050"/>
              <a:buFont typeface="Arial"/>
              <a:buNone/>
            </a:pPr>
            <a:r>
              <a:rPr b="1" i="0" lang="en-US" sz="1050" u="none" cap="none" strike="noStrike">
                <a:solidFill>
                  <a:srgbClr val="595959"/>
                </a:solidFill>
                <a:latin typeface="Calibri"/>
                <a:ea typeface="Calibri"/>
                <a:cs typeface="Calibri"/>
                <a:sym typeface="Calibri"/>
              </a:rPr>
              <a:t>21</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p23"/>
          <p:cNvSpPr/>
          <p:nvPr/>
        </p:nvSpPr>
        <p:spPr>
          <a:xfrm>
            <a:off x="0" y="-54875"/>
            <a:ext cx="121917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23" name="Google Shape;523;p23"/>
          <p:cNvSpPr/>
          <p:nvPr/>
        </p:nvSpPr>
        <p:spPr>
          <a:xfrm>
            <a:off x="0" y="0"/>
            <a:ext cx="12191695" cy="960120"/>
          </a:xfrm>
          <a:prstGeom prst="rect">
            <a:avLst/>
          </a:prstGeom>
          <a:solidFill>
            <a:srgbClr val="0D948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24" name="Google Shape;524;p23"/>
          <p:cNvSpPr/>
          <p:nvPr/>
        </p:nvSpPr>
        <p:spPr>
          <a:xfrm>
            <a:off x="0" y="960120"/>
            <a:ext cx="12191695" cy="38100"/>
          </a:xfrm>
          <a:prstGeom prst="rect">
            <a:avLst/>
          </a:prstGeom>
          <a:solidFill>
            <a:schemeClr val="accent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25" name="Google Shape;525;p23"/>
          <p:cNvSpPr txBox="1"/>
          <p:nvPr/>
        </p:nvSpPr>
        <p:spPr>
          <a:xfrm>
            <a:off x="502920" y="91440"/>
            <a:ext cx="100584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lt1"/>
                </a:solidFill>
                <a:latin typeface="Calibri"/>
                <a:ea typeface="Calibri"/>
                <a:cs typeface="Calibri"/>
                <a:sym typeface="Calibri"/>
              </a:rPr>
              <a:t>TỔNG KẾT</a:t>
            </a:r>
            <a:endParaRPr b="0" i="0" sz="1400" u="none" cap="none" strike="noStrike">
              <a:solidFill>
                <a:schemeClr val="lt1"/>
              </a:solidFill>
              <a:latin typeface="Arial"/>
              <a:ea typeface="Arial"/>
              <a:cs typeface="Arial"/>
              <a:sym typeface="Arial"/>
            </a:endParaRPr>
          </a:p>
        </p:txBody>
      </p:sp>
      <p:sp>
        <p:nvSpPr>
          <p:cNvPr id="526" name="Google Shape;526;p23"/>
          <p:cNvSpPr txBox="1"/>
          <p:nvPr/>
        </p:nvSpPr>
        <p:spPr>
          <a:xfrm>
            <a:off x="502920" y="365760"/>
            <a:ext cx="10972800" cy="5486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FFFFFF"/>
                </a:solidFill>
                <a:latin typeface="Calibri"/>
                <a:ea typeface="Calibri"/>
                <a:cs typeface="Calibri"/>
                <a:sym typeface="Calibri"/>
              </a:rPr>
              <a:t>Bảng tổng hợp so sánh 3 quy trình</a:t>
            </a:r>
            <a:endParaRPr b="0" i="0" sz="1400" u="none" cap="none" strike="noStrike">
              <a:solidFill>
                <a:srgbClr val="000000"/>
              </a:solidFill>
              <a:latin typeface="Arial"/>
              <a:ea typeface="Arial"/>
              <a:cs typeface="Arial"/>
              <a:sym typeface="Arial"/>
            </a:endParaRPr>
          </a:p>
        </p:txBody>
      </p:sp>
      <p:graphicFrame>
        <p:nvGraphicFramePr>
          <p:cNvPr id="527" name="Google Shape;527;p23"/>
          <p:cNvGraphicFramePr/>
          <p:nvPr/>
        </p:nvGraphicFramePr>
        <p:xfrm>
          <a:off x="495295" y="1179597"/>
          <a:ext cx="3000000" cy="3000000"/>
        </p:xfrm>
        <a:graphic>
          <a:graphicData uri="http://schemas.openxmlformats.org/drawingml/2006/table">
            <a:tbl>
              <a:tblPr bandRow="1" firstRow="1">
                <a:noFill/>
                <a:tableStyleId>{660C12F0-EA0F-4C08-B8CF-7D1332A2121B}</a:tableStyleId>
              </a:tblPr>
              <a:tblGrid>
                <a:gridCol w="2387175"/>
                <a:gridCol w="2938075"/>
                <a:gridCol w="2938075"/>
                <a:gridCol w="2938075"/>
              </a:tblGrid>
              <a:tr h="566925">
                <a:tc>
                  <a:txBody>
                    <a:bodyPr/>
                    <a:lstStyle/>
                    <a:p>
                      <a:pPr indent="0" lvl="0" marL="0" marR="0" rtl="0" algn="ctr">
                        <a:lnSpc>
                          <a:spcPct val="100000"/>
                        </a:lnSpc>
                        <a:spcBef>
                          <a:spcPts val="0"/>
                        </a:spcBef>
                        <a:spcAft>
                          <a:spcPts val="0"/>
                        </a:spcAft>
                        <a:buClr>
                          <a:srgbClr val="000000"/>
                        </a:buClr>
                        <a:buSzPts val="1250"/>
                        <a:buFont typeface="Arial"/>
                        <a:buNone/>
                      </a:pPr>
                      <a:r>
                        <a:rPr b="1" lang="en-US" sz="1250" u="none" cap="none" strike="noStrike">
                          <a:solidFill>
                            <a:srgbClr val="FFFFFF"/>
                          </a:solidFill>
                          <a:latin typeface="Calibri"/>
                          <a:ea typeface="Calibri"/>
                          <a:cs typeface="Calibri"/>
                          <a:sym typeface="Calibri"/>
                        </a:rPr>
                        <a:t>Tiêu chí</a:t>
                      </a:r>
                      <a:endParaRPr sz="1400" u="none" cap="none" strike="noStrike"/>
                    </a:p>
                  </a:txBody>
                  <a:tcPr marT="25400" marB="25400" marR="76200" marL="76200" anchor="ctr">
                    <a:solidFill>
                      <a:srgbClr val="0D9488"/>
                    </a:solidFill>
                  </a:tcPr>
                </a:tc>
                <a:tc>
                  <a:txBody>
                    <a:bodyPr/>
                    <a:lstStyle/>
                    <a:p>
                      <a:pPr indent="0" lvl="0" marL="0" marR="0" rtl="0" algn="ctr">
                        <a:lnSpc>
                          <a:spcPct val="100000"/>
                        </a:lnSpc>
                        <a:spcBef>
                          <a:spcPts val="0"/>
                        </a:spcBef>
                        <a:spcAft>
                          <a:spcPts val="0"/>
                        </a:spcAft>
                        <a:buClr>
                          <a:srgbClr val="000000"/>
                        </a:buClr>
                        <a:buSzPts val="1250"/>
                        <a:buFont typeface="Arial"/>
                        <a:buNone/>
                      </a:pPr>
                      <a:r>
                        <a:rPr b="1" lang="en-US" sz="1250" u="none" cap="none" strike="noStrike">
                          <a:solidFill>
                            <a:srgbClr val="FFFFFF"/>
                          </a:solidFill>
                          <a:latin typeface="Calibri"/>
                          <a:ea typeface="Calibri"/>
                          <a:cs typeface="Calibri"/>
                          <a:sym typeface="Calibri"/>
                        </a:rPr>
                        <a:t>Quản lý Chất lượng</a:t>
                      </a:r>
                      <a:endParaRPr sz="1400" u="none" cap="none" strike="noStrike"/>
                    </a:p>
                    <a:p>
                      <a:pPr indent="0" lvl="0" marL="0" marR="0" rtl="0" algn="ctr">
                        <a:lnSpc>
                          <a:spcPct val="100000"/>
                        </a:lnSpc>
                        <a:spcBef>
                          <a:spcPts val="0"/>
                        </a:spcBef>
                        <a:spcAft>
                          <a:spcPts val="0"/>
                        </a:spcAft>
                        <a:buClr>
                          <a:srgbClr val="000000"/>
                        </a:buClr>
                        <a:buSzPts val="1250"/>
                        <a:buFont typeface="Arial"/>
                        <a:buNone/>
                      </a:pPr>
                      <a:r>
                        <a:rPr b="1" lang="en-US" sz="1250" u="none" cap="none" strike="noStrike">
                          <a:solidFill>
                            <a:srgbClr val="FFFFFF"/>
                          </a:solidFill>
                          <a:latin typeface="Calibri"/>
                          <a:ea typeface="Calibri"/>
                          <a:cs typeface="Calibri"/>
                          <a:sym typeface="Calibri"/>
                        </a:rPr>
                        <a:t>(Management)</a:t>
                      </a:r>
                      <a:endParaRPr sz="1400" u="none" cap="none" strike="noStrike"/>
                    </a:p>
                  </a:txBody>
                  <a:tcPr marT="25400" marB="25400" marR="76200" marL="76200" anchor="ctr">
                    <a:solidFill>
                      <a:srgbClr val="14B8A6"/>
                    </a:solidFill>
                  </a:tcPr>
                </a:tc>
                <a:tc>
                  <a:txBody>
                    <a:bodyPr/>
                    <a:lstStyle/>
                    <a:p>
                      <a:pPr indent="0" lvl="0" marL="0" marR="0" rtl="0" algn="ctr">
                        <a:lnSpc>
                          <a:spcPct val="100000"/>
                        </a:lnSpc>
                        <a:spcBef>
                          <a:spcPts val="0"/>
                        </a:spcBef>
                        <a:spcAft>
                          <a:spcPts val="0"/>
                        </a:spcAft>
                        <a:buClr>
                          <a:srgbClr val="000000"/>
                        </a:buClr>
                        <a:buSzPts val="1250"/>
                        <a:buFont typeface="Arial"/>
                        <a:buNone/>
                      </a:pPr>
                      <a:r>
                        <a:rPr b="1" lang="en-US" sz="1250" u="none" cap="none" strike="noStrike">
                          <a:solidFill>
                            <a:srgbClr val="FFFFFF"/>
                          </a:solidFill>
                          <a:latin typeface="Calibri"/>
                          <a:ea typeface="Calibri"/>
                          <a:cs typeface="Calibri"/>
                          <a:sym typeface="Calibri"/>
                        </a:rPr>
                        <a:t>Quản lý Dự án – Scrum</a:t>
                      </a:r>
                      <a:endParaRPr sz="1400" u="none" cap="none" strike="noStrike"/>
                    </a:p>
                    <a:p>
                      <a:pPr indent="0" lvl="0" marL="0" marR="0" rtl="0" algn="ctr">
                        <a:lnSpc>
                          <a:spcPct val="100000"/>
                        </a:lnSpc>
                        <a:spcBef>
                          <a:spcPts val="0"/>
                        </a:spcBef>
                        <a:spcAft>
                          <a:spcPts val="0"/>
                        </a:spcAft>
                        <a:buClr>
                          <a:srgbClr val="000000"/>
                        </a:buClr>
                        <a:buSzPts val="1250"/>
                        <a:buFont typeface="Arial"/>
                        <a:buNone/>
                      </a:pPr>
                      <a:r>
                        <a:rPr b="1" lang="en-US" sz="1250" u="none" cap="none" strike="noStrike">
                          <a:solidFill>
                            <a:srgbClr val="FFFFFF"/>
                          </a:solidFill>
                          <a:latin typeface="Calibri"/>
                          <a:ea typeface="Calibri"/>
                          <a:cs typeface="Calibri"/>
                          <a:sym typeface="Calibri"/>
                        </a:rPr>
                        <a:t>(Core)</a:t>
                      </a:r>
                      <a:endParaRPr sz="1400" u="none" cap="none" strike="noStrike"/>
                    </a:p>
                  </a:txBody>
                  <a:tcPr marT="25400" marB="25400" marR="76200" marL="76200" anchor="ctr">
                    <a:solidFill>
                      <a:srgbClr val="6366F1"/>
                    </a:solidFill>
                  </a:tcPr>
                </a:tc>
                <a:tc>
                  <a:txBody>
                    <a:bodyPr/>
                    <a:lstStyle/>
                    <a:p>
                      <a:pPr indent="0" lvl="0" marL="0" marR="0" rtl="0" algn="ctr">
                        <a:lnSpc>
                          <a:spcPct val="100000"/>
                        </a:lnSpc>
                        <a:spcBef>
                          <a:spcPts val="0"/>
                        </a:spcBef>
                        <a:spcAft>
                          <a:spcPts val="0"/>
                        </a:spcAft>
                        <a:buClr>
                          <a:srgbClr val="000000"/>
                        </a:buClr>
                        <a:buSzPts val="1250"/>
                        <a:buFont typeface="Arial"/>
                        <a:buNone/>
                      </a:pPr>
                      <a:r>
                        <a:rPr b="1" lang="en-US" sz="1250" u="none" cap="none" strike="noStrike">
                          <a:solidFill>
                            <a:srgbClr val="FFFFFF"/>
                          </a:solidFill>
                          <a:latin typeface="Calibri"/>
                          <a:ea typeface="Calibri"/>
                          <a:cs typeface="Calibri"/>
                          <a:sym typeface="Calibri"/>
                        </a:rPr>
                        <a:t>Tuyển dụng Nhân sự</a:t>
                      </a:r>
                      <a:endParaRPr sz="1400" u="none" cap="none" strike="noStrike"/>
                    </a:p>
                    <a:p>
                      <a:pPr indent="0" lvl="0" marL="0" marR="0" rtl="0" algn="ctr">
                        <a:lnSpc>
                          <a:spcPct val="100000"/>
                        </a:lnSpc>
                        <a:spcBef>
                          <a:spcPts val="0"/>
                        </a:spcBef>
                        <a:spcAft>
                          <a:spcPts val="0"/>
                        </a:spcAft>
                        <a:buClr>
                          <a:srgbClr val="000000"/>
                        </a:buClr>
                        <a:buSzPts val="1250"/>
                        <a:buFont typeface="Arial"/>
                        <a:buNone/>
                      </a:pPr>
                      <a:r>
                        <a:rPr b="1" lang="en-US" sz="1250" u="none" cap="none" strike="noStrike">
                          <a:solidFill>
                            <a:srgbClr val="FFFFFF"/>
                          </a:solidFill>
                          <a:latin typeface="Calibri"/>
                          <a:ea typeface="Calibri"/>
                          <a:cs typeface="Calibri"/>
                          <a:sym typeface="Calibri"/>
                        </a:rPr>
                        <a:t>(Support)</a:t>
                      </a:r>
                      <a:endParaRPr sz="1400" u="none" cap="none" strike="noStrike"/>
                    </a:p>
                  </a:txBody>
                  <a:tcPr marT="25400" marB="25400" marR="76200" marL="76200" anchor="ctr">
                    <a:solidFill>
                      <a:srgbClr val="EA580C"/>
                    </a:solidFill>
                  </a:tcPr>
                </a:tc>
              </a:tr>
              <a:tr h="566925">
                <a:tc>
                  <a:txBody>
                    <a:bodyPr/>
                    <a:lstStyle/>
                    <a:p>
                      <a:pPr indent="0" lvl="0" marL="0" marR="0" rtl="0" algn="l">
                        <a:lnSpc>
                          <a:spcPct val="100000"/>
                        </a:lnSpc>
                        <a:spcBef>
                          <a:spcPts val="0"/>
                        </a:spcBef>
                        <a:spcAft>
                          <a:spcPts val="0"/>
                        </a:spcAft>
                        <a:buClr>
                          <a:srgbClr val="000000"/>
                        </a:buClr>
                        <a:buSzPts val="1250"/>
                        <a:buFont typeface="Arial"/>
                        <a:buNone/>
                      </a:pPr>
                      <a:r>
                        <a:rPr b="0" lang="en-US" sz="1250" u="none" cap="none" strike="noStrike">
                          <a:solidFill>
                            <a:srgbClr val="333333"/>
                          </a:solidFill>
                          <a:latin typeface="Calibri"/>
                          <a:ea typeface="Calibri"/>
                          <a:cs typeface="Calibri"/>
                          <a:sym typeface="Calibri"/>
                        </a:rPr>
                        <a:t>Số task</a:t>
                      </a:r>
                      <a:endParaRPr sz="1400" u="none" cap="none" strike="noStrike"/>
                    </a:p>
                  </a:txBody>
                  <a:tcPr marT="25400" marB="25400" marR="76200" marL="76200" anchor="ctr">
                    <a:solidFill>
                      <a:srgbClr val="FFFFFF"/>
                    </a:solidFill>
                  </a:tcPr>
                </a:tc>
                <a:tc>
                  <a:txBody>
                    <a:bodyPr/>
                    <a:lstStyle/>
                    <a:p>
                      <a:pPr indent="0" lvl="0" marL="0" marR="0" rtl="0" algn="l">
                        <a:lnSpc>
                          <a:spcPct val="100000"/>
                        </a:lnSpc>
                        <a:spcBef>
                          <a:spcPts val="0"/>
                        </a:spcBef>
                        <a:spcAft>
                          <a:spcPts val="0"/>
                        </a:spcAft>
                        <a:buClr>
                          <a:srgbClr val="000000"/>
                        </a:buClr>
                        <a:buSzPts val="1250"/>
                        <a:buFont typeface="Arial"/>
                        <a:buNone/>
                      </a:pPr>
                      <a:r>
                        <a:rPr b="0" lang="en-US" sz="1250" u="none" cap="none" strike="noStrike">
                          <a:solidFill>
                            <a:srgbClr val="333333"/>
                          </a:solidFill>
                          <a:latin typeface="Calibri"/>
                          <a:ea typeface="Calibri"/>
                          <a:cs typeface="Calibri"/>
                          <a:sym typeface="Calibri"/>
                        </a:rPr>
                        <a:t>11</a:t>
                      </a:r>
                      <a:endParaRPr sz="1400" u="none" cap="none" strike="noStrike"/>
                    </a:p>
                  </a:txBody>
                  <a:tcPr marT="25400" marB="25400" marR="76200" marL="76200" anchor="ctr">
                    <a:solidFill>
                      <a:srgbClr val="FFFFFF"/>
                    </a:solidFill>
                  </a:tcPr>
                </a:tc>
                <a:tc>
                  <a:txBody>
                    <a:bodyPr/>
                    <a:lstStyle/>
                    <a:p>
                      <a:pPr indent="0" lvl="0" marL="0" marR="0" rtl="0" algn="l">
                        <a:lnSpc>
                          <a:spcPct val="100000"/>
                        </a:lnSpc>
                        <a:spcBef>
                          <a:spcPts val="0"/>
                        </a:spcBef>
                        <a:spcAft>
                          <a:spcPts val="0"/>
                        </a:spcAft>
                        <a:buClr>
                          <a:srgbClr val="000000"/>
                        </a:buClr>
                        <a:buSzPts val="1250"/>
                        <a:buFont typeface="Arial"/>
                        <a:buNone/>
                      </a:pPr>
                      <a:r>
                        <a:rPr b="0" lang="en-US" sz="1250" u="none" cap="none" strike="noStrike">
                          <a:solidFill>
                            <a:srgbClr val="333333"/>
                          </a:solidFill>
                          <a:latin typeface="Calibri"/>
                          <a:ea typeface="Calibri"/>
                          <a:cs typeface="Calibri"/>
                          <a:sym typeface="Calibri"/>
                        </a:rPr>
                        <a:t>12</a:t>
                      </a:r>
                      <a:endParaRPr sz="1400" u="none" cap="none" strike="noStrike"/>
                    </a:p>
                  </a:txBody>
                  <a:tcPr marT="25400" marB="25400" marR="76200" marL="76200" anchor="ctr">
                    <a:solidFill>
                      <a:srgbClr val="FFFFFF"/>
                    </a:solidFill>
                  </a:tcPr>
                </a:tc>
                <a:tc>
                  <a:txBody>
                    <a:bodyPr/>
                    <a:lstStyle/>
                    <a:p>
                      <a:pPr indent="0" lvl="0" marL="0" marR="0" rtl="0" algn="l">
                        <a:lnSpc>
                          <a:spcPct val="100000"/>
                        </a:lnSpc>
                        <a:spcBef>
                          <a:spcPts val="0"/>
                        </a:spcBef>
                        <a:spcAft>
                          <a:spcPts val="0"/>
                        </a:spcAft>
                        <a:buClr>
                          <a:srgbClr val="000000"/>
                        </a:buClr>
                        <a:buSzPts val="1250"/>
                        <a:buFont typeface="Arial"/>
                        <a:buNone/>
                      </a:pPr>
                      <a:r>
                        <a:rPr b="0" lang="en-US" sz="1250" u="none" cap="none" strike="noStrike">
                          <a:solidFill>
                            <a:srgbClr val="333333"/>
                          </a:solidFill>
                          <a:latin typeface="Calibri"/>
                          <a:ea typeface="Calibri"/>
                          <a:cs typeface="Calibri"/>
                          <a:sym typeface="Calibri"/>
                        </a:rPr>
                        <a:t>11</a:t>
                      </a:r>
                      <a:endParaRPr sz="1400" u="none" cap="none" strike="noStrike"/>
                    </a:p>
                  </a:txBody>
                  <a:tcPr marT="25400" marB="25400" marR="76200" marL="76200" anchor="ctr">
                    <a:solidFill>
                      <a:srgbClr val="FFFFFF"/>
                    </a:solidFill>
                  </a:tcPr>
                </a:tc>
              </a:tr>
              <a:tr h="566925">
                <a:tc>
                  <a:txBody>
                    <a:bodyPr/>
                    <a:lstStyle/>
                    <a:p>
                      <a:pPr indent="0" lvl="0" marL="0" marR="0" rtl="0" algn="l">
                        <a:lnSpc>
                          <a:spcPct val="100000"/>
                        </a:lnSpc>
                        <a:spcBef>
                          <a:spcPts val="0"/>
                        </a:spcBef>
                        <a:spcAft>
                          <a:spcPts val="0"/>
                        </a:spcAft>
                        <a:buClr>
                          <a:srgbClr val="000000"/>
                        </a:buClr>
                        <a:buSzPts val="1250"/>
                        <a:buFont typeface="Arial"/>
                        <a:buNone/>
                      </a:pPr>
                      <a:r>
                        <a:rPr b="0" lang="en-US" sz="1250" u="none" cap="none" strike="noStrike">
                          <a:solidFill>
                            <a:srgbClr val="333333"/>
                          </a:solidFill>
                          <a:latin typeface="Calibri"/>
                          <a:ea typeface="Calibri"/>
                          <a:cs typeface="Calibri"/>
                          <a:sym typeface="Calibri"/>
                        </a:rPr>
                        <a:t>Số gateway</a:t>
                      </a:r>
                      <a:endParaRPr sz="1400" u="none" cap="none" strike="noStrike"/>
                    </a:p>
                  </a:txBody>
                  <a:tcPr marT="25400" marB="25400" marR="76200" marL="76200" anchor="ctr">
                    <a:solidFill>
                      <a:srgbClr val="F1F3F6"/>
                    </a:solidFill>
                  </a:tcPr>
                </a:tc>
                <a:tc>
                  <a:txBody>
                    <a:bodyPr/>
                    <a:lstStyle/>
                    <a:p>
                      <a:pPr indent="0" lvl="0" marL="0" marR="0" rtl="0" algn="l">
                        <a:lnSpc>
                          <a:spcPct val="100000"/>
                        </a:lnSpc>
                        <a:spcBef>
                          <a:spcPts val="0"/>
                        </a:spcBef>
                        <a:spcAft>
                          <a:spcPts val="0"/>
                        </a:spcAft>
                        <a:buClr>
                          <a:srgbClr val="000000"/>
                        </a:buClr>
                        <a:buSzPts val="1250"/>
                        <a:buFont typeface="Arial"/>
                        <a:buNone/>
                      </a:pPr>
                      <a:r>
                        <a:rPr b="0" lang="en-US" sz="1250" u="none" cap="none" strike="noStrike">
                          <a:solidFill>
                            <a:srgbClr val="333333"/>
                          </a:solidFill>
                          <a:latin typeface="Calibri"/>
                          <a:ea typeface="Calibri"/>
                          <a:cs typeface="Calibri"/>
                          <a:sym typeface="Calibri"/>
                        </a:rPr>
                        <a:t>8 (6 XOR + 2 AND)</a:t>
                      </a:r>
                      <a:endParaRPr sz="1400" u="none" cap="none" strike="noStrike"/>
                    </a:p>
                  </a:txBody>
                  <a:tcPr marT="25400" marB="25400" marR="76200" marL="76200" anchor="ctr">
                    <a:solidFill>
                      <a:srgbClr val="F1F3F6"/>
                    </a:solidFill>
                  </a:tcPr>
                </a:tc>
                <a:tc>
                  <a:txBody>
                    <a:bodyPr/>
                    <a:lstStyle/>
                    <a:p>
                      <a:pPr indent="0" lvl="0" marL="0" marR="0" rtl="0" algn="l">
                        <a:lnSpc>
                          <a:spcPct val="100000"/>
                        </a:lnSpc>
                        <a:spcBef>
                          <a:spcPts val="0"/>
                        </a:spcBef>
                        <a:spcAft>
                          <a:spcPts val="0"/>
                        </a:spcAft>
                        <a:buClr>
                          <a:srgbClr val="000000"/>
                        </a:buClr>
                        <a:buSzPts val="1250"/>
                        <a:buFont typeface="Arial"/>
                        <a:buNone/>
                      </a:pPr>
                      <a:r>
                        <a:rPr b="0" lang="en-US" sz="1250" u="none" cap="none" strike="noStrike">
                          <a:solidFill>
                            <a:srgbClr val="333333"/>
                          </a:solidFill>
                          <a:latin typeface="Calibri"/>
                          <a:ea typeface="Calibri"/>
                          <a:cs typeface="Calibri"/>
                          <a:sym typeface="Calibri"/>
                        </a:rPr>
                        <a:t>8 (6 XOR + 2 AND)</a:t>
                      </a:r>
                      <a:endParaRPr sz="1400" u="none" cap="none" strike="noStrike"/>
                    </a:p>
                  </a:txBody>
                  <a:tcPr marT="25400" marB="25400" marR="76200" marL="76200" anchor="ctr">
                    <a:solidFill>
                      <a:srgbClr val="F1F3F6"/>
                    </a:solidFill>
                  </a:tcPr>
                </a:tc>
                <a:tc>
                  <a:txBody>
                    <a:bodyPr/>
                    <a:lstStyle/>
                    <a:p>
                      <a:pPr indent="0" lvl="0" marL="0" marR="0" rtl="0" algn="l">
                        <a:lnSpc>
                          <a:spcPct val="100000"/>
                        </a:lnSpc>
                        <a:spcBef>
                          <a:spcPts val="0"/>
                        </a:spcBef>
                        <a:spcAft>
                          <a:spcPts val="0"/>
                        </a:spcAft>
                        <a:buClr>
                          <a:srgbClr val="000000"/>
                        </a:buClr>
                        <a:buSzPts val="1250"/>
                        <a:buFont typeface="Arial"/>
                        <a:buNone/>
                      </a:pPr>
                      <a:r>
                        <a:rPr b="0" lang="en-US" sz="1250" u="none" cap="none" strike="noStrike">
                          <a:solidFill>
                            <a:srgbClr val="333333"/>
                          </a:solidFill>
                          <a:latin typeface="Calibri"/>
                          <a:ea typeface="Calibri"/>
                          <a:cs typeface="Calibri"/>
                          <a:sym typeface="Calibri"/>
                        </a:rPr>
                        <a:t>8 (6 XOR + 2 AND)</a:t>
                      </a:r>
                      <a:endParaRPr sz="1400" u="none" cap="none" strike="noStrike"/>
                    </a:p>
                  </a:txBody>
                  <a:tcPr marT="25400" marB="25400" marR="76200" marL="76200" anchor="ctr">
                    <a:solidFill>
                      <a:srgbClr val="F1F3F6"/>
                    </a:solidFill>
                  </a:tcPr>
                </a:tc>
              </a:tr>
              <a:tr h="566925">
                <a:tc>
                  <a:txBody>
                    <a:bodyPr/>
                    <a:lstStyle/>
                    <a:p>
                      <a:pPr indent="0" lvl="0" marL="0" marR="0" rtl="0" algn="l">
                        <a:lnSpc>
                          <a:spcPct val="100000"/>
                        </a:lnSpc>
                        <a:spcBef>
                          <a:spcPts val="0"/>
                        </a:spcBef>
                        <a:spcAft>
                          <a:spcPts val="0"/>
                        </a:spcAft>
                        <a:buClr>
                          <a:srgbClr val="000000"/>
                        </a:buClr>
                        <a:buSzPts val="1250"/>
                        <a:buFont typeface="Arial"/>
                        <a:buNone/>
                      </a:pPr>
                      <a:r>
                        <a:rPr b="0" lang="en-US" sz="1250" u="none" cap="none" strike="noStrike">
                          <a:solidFill>
                            <a:srgbClr val="333333"/>
                          </a:solidFill>
                          <a:latin typeface="Calibri"/>
                          <a:ea typeface="Calibri"/>
                          <a:cs typeface="Calibri"/>
                          <a:sym typeface="Calibri"/>
                        </a:rPr>
                        <a:t>Số vòng lặp</a:t>
                      </a:r>
                      <a:endParaRPr sz="1400" u="none" cap="none" strike="noStrike"/>
                    </a:p>
                  </a:txBody>
                  <a:tcPr marT="25400" marB="25400" marR="76200" marL="76200" anchor="ctr">
                    <a:solidFill>
                      <a:srgbClr val="FFFFFF"/>
                    </a:solidFill>
                  </a:tcPr>
                </a:tc>
                <a:tc>
                  <a:txBody>
                    <a:bodyPr/>
                    <a:lstStyle/>
                    <a:p>
                      <a:pPr indent="0" lvl="0" marL="0" marR="0" rtl="0" algn="l">
                        <a:lnSpc>
                          <a:spcPct val="100000"/>
                        </a:lnSpc>
                        <a:spcBef>
                          <a:spcPts val="0"/>
                        </a:spcBef>
                        <a:spcAft>
                          <a:spcPts val="0"/>
                        </a:spcAft>
                        <a:buClr>
                          <a:srgbClr val="000000"/>
                        </a:buClr>
                        <a:buSzPts val="1250"/>
                        <a:buFont typeface="Arial"/>
                        <a:buNone/>
                      </a:pPr>
                      <a:r>
                        <a:rPr b="0" lang="en-US" sz="1250" u="none" cap="none" strike="noStrike">
                          <a:solidFill>
                            <a:srgbClr val="333333"/>
                          </a:solidFill>
                          <a:latin typeface="Calibri"/>
                          <a:ea typeface="Calibri"/>
                          <a:cs typeface="Calibri"/>
                          <a:sym typeface="Calibri"/>
                        </a:rPr>
                        <a:t>2</a:t>
                      </a:r>
                      <a:endParaRPr sz="1400" u="none" cap="none" strike="noStrike"/>
                    </a:p>
                  </a:txBody>
                  <a:tcPr marT="25400" marB="25400" marR="76200" marL="76200" anchor="ctr">
                    <a:solidFill>
                      <a:srgbClr val="FFFFFF"/>
                    </a:solidFill>
                  </a:tcPr>
                </a:tc>
                <a:tc>
                  <a:txBody>
                    <a:bodyPr/>
                    <a:lstStyle/>
                    <a:p>
                      <a:pPr indent="0" lvl="0" marL="0" marR="0" rtl="0" algn="l">
                        <a:lnSpc>
                          <a:spcPct val="100000"/>
                        </a:lnSpc>
                        <a:spcBef>
                          <a:spcPts val="0"/>
                        </a:spcBef>
                        <a:spcAft>
                          <a:spcPts val="0"/>
                        </a:spcAft>
                        <a:buClr>
                          <a:srgbClr val="000000"/>
                        </a:buClr>
                        <a:buSzPts val="1250"/>
                        <a:buFont typeface="Arial"/>
                        <a:buNone/>
                      </a:pPr>
                      <a:r>
                        <a:rPr b="0" lang="en-US" sz="1250" u="none" cap="none" strike="noStrike">
                          <a:solidFill>
                            <a:srgbClr val="333333"/>
                          </a:solidFill>
                          <a:latin typeface="Calibri"/>
                          <a:ea typeface="Calibri"/>
                          <a:cs typeface="Calibri"/>
                          <a:sym typeface="Calibri"/>
                        </a:rPr>
                        <a:t>3 (lồng nhau)</a:t>
                      </a:r>
                      <a:endParaRPr sz="1400" u="none" cap="none" strike="noStrike"/>
                    </a:p>
                  </a:txBody>
                  <a:tcPr marT="25400" marB="25400" marR="76200" marL="76200" anchor="ctr">
                    <a:solidFill>
                      <a:srgbClr val="FFFFFF"/>
                    </a:solidFill>
                  </a:tcPr>
                </a:tc>
                <a:tc>
                  <a:txBody>
                    <a:bodyPr/>
                    <a:lstStyle/>
                    <a:p>
                      <a:pPr indent="0" lvl="0" marL="0" marR="0" rtl="0" algn="l">
                        <a:lnSpc>
                          <a:spcPct val="100000"/>
                        </a:lnSpc>
                        <a:spcBef>
                          <a:spcPts val="0"/>
                        </a:spcBef>
                        <a:spcAft>
                          <a:spcPts val="0"/>
                        </a:spcAft>
                        <a:buClr>
                          <a:srgbClr val="000000"/>
                        </a:buClr>
                        <a:buSzPts val="1250"/>
                        <a:buFont typeface="Arial"/>
                        <a:buNone/>
                      </a:pPr>
                      <a:r>
                        <a:rPr b="0" lang="en-US" sz="1250" u="none" cap="none" strike="noStrike">
                          <a:solidFill>
                            <a:srgbClr val="333333"/>
                          </a:solidFill>
                          <a:latin typeface="Calibri"/>
                          <a:ea typeface="Calibri"/>
                          <a:cs typeface="Calibri"/>
                          <a:sym typeface="Calibri"/>
                        </a:rPr>
                        <a:t>5 (nhiều nhất)</a:t>
                      </a:r>
                      <a:endParaRPr sz="1400" u="none" cap="none" strike="noStrike"/>
                    </a:p>
                  </a:txBody>
                  <a:tcPr marT="25400" marB="25400" marR="76200" marL="76200" anchor="ctr">
                    <a:solidFill>
                      <a:srgbClr val="FFFFFF"/>
                    </a:solidFill>
                  </a:tcPr>
                </a:tc>
              </a:tr>
              <a:tr h="566925">
                <a:tc>
                  <a:txBody>
                    <a:bodyPr/>
                    <a:lstStyle/>
                    <a:p>
                      <a:pPr indent="0" lvl="0" marL="0" marR="0" rtl="0" algn="l">
                        <a:lnSpc>
                          <a:spcPct val="100000"/>
                        </a:lnSpc>
                        <a:spcBef>
                          <a:spcPts val="0"/>
                        </a:spcBef>
                        <a:spcAft>
                          <a:spcPts val="0"/>
                        </a:spcAft>
                        <a:buClr>
                          <a:srgbClr val="000000"/>
                        </a:buClr>
                        <a:buSzPts val="1250"/>
                        <a:buFont typeface="Arial"/>
                        <a:buNone/>
                      </a:pPr>
                      <a:r>
                        <a:rPr b="0" lang="en-US" sz="1250" u="none" cap="none" strike="noStrike">
                          <a:solidFill>
                            <a:srgbClr val="333333"/>
                          </a:solidFill>
                          <a:latin typeface="Calibri"/>
                          <a:ea typeface="Calibri"/>
                          <a:cs typeface="Calibri"/>
                          <a:sym typeface="Calibri"/>
                        </a:rPr>
                        <a:t>Hiệu suất thời gian quy trình*</a:t>
                      </a:r>
                      <a:endParaRPr sz="1400" u="none" cap="none" strike="noStrike"/>
                    </a:p>
                  </a:txBody>
                  <a:tcPr marT="25400" marB="25400" marR="76200" marL="76200" anchor="ctr">
                    <a:solidFill>
                      <a:srgbClr val="F1F3F6"/>
                    </a:solidFill>
                  </a:tcPr>
                </a:tc>
                <a:tc>
                  <a:txBody>
                    <a:bodyPr/>
                    <a:lstStyle/>
                    <a:p>
                      <a:pPr indent="0" lvl="0" marL="0" marR="0" rtl="0" algn="l">
                        <a:lnSpc>
                          <a:spcPct val="100000"/>
                        </a:lnSpc>
                        <a:spcBef>
                          <a:spcPts val="0"/>
                        </a:spcBef>
                        <a:spcAft>
                          <a:spcPts val="0"/>
                        </a:spcAft>
                        <a:buClr>
                          <a:srgbClr val="000000"/>
                        </a:buClr>
                        <a:buSzPts val="1250"/>
                        <a:buFont typeface="Arial"/>
                        <a:buNone/>
                      </a:pPr>
                      <a:r>
                        <a:rPr b="0" lang="en-US" sz="1250" u="none" cap="none" strike="noStrike">
                          <a:solidFill>
                            <a:srgbClr val="333333"/>
                          </a:solidFill>
                          <a:latin typeface="Calibri"/>
                          <a:ea typeface="Calibri"/>
                          <a:cs typeface="Calibri"/>
                          <a:sym typeface="Calibri"/>
                        </a:rPr>
                        <a:t>96,5%</a:t>
                      </a:r>
                      <a:endParaRPr sz="1400" u="none" cap="none" strike="noStrike"/>
                    </a:p>
                  </a:txBody>
                  <a:tcPr marT="25400" marB="25400" marR="76200" marL="76200" anchor="ctr">
                    <a:solidFill>
                      <a:srgbClr val="F1F3F6"/>
                    </a:solidFill>
                  </a:tcPr>
                </a:tc>
                <a:tc>
                  <a:txBody>
                    <a:bodyPr/>
                    <a:lstStyle/>
                    <a:p>
                      <a:pPr indent="0" lvl="0" marL="0" marR="0" rtl="0" algn="l">
                        <a:lnSpc>
                          <a:spcPct val="100000"/>
                        </a:lnSpc>
                        <a:spcBef>
                          <a:spcPts val="0"/>
                        </a:spcBef>
                        <a:spcAft>
                          <a:spcPts val="0"/>
                        </a:spcAft>
                        <a:buClr>
                          <a:srgbClr val="000000"/>
                        </a:buClr>
                        <a:buSzPts val="1250"/>
                        <a:buFont typeface="Arial"/>
                        <a:buNone/>
                      </a:pPr>
                      <a:r>
                        <a:rPr b="0" lang="en-US" sz="1250" u="none" cap="none" strike="noStrike">
                          <a:solidFill>
                            <a:srgbClr val="333333"/>
                          </a:solidFill>
                          <a:latin typeface="Calibri"/>
                          <a:ea typeface="Calibri"/>
                          <a:cs typeface="Calibri"/>
                          <a:sym typeface="Calibri"/>
                        </a:rPr>
                        <a:t>98%</a:t>
                      </a:r>
                      <a:endParaRPr sz="1400" u="none" cap="none" strike="noStrike"/>
                    </a:p>
                  </a:txBody>
                  <a:tcPr marT="25400" marB="25400" marR="76200" marL="76200" anchor="ctr">
                    <a:solidFill>
                      <a:srgbClr val="F1F3F6"/>
                    </a:solidFill>
                  </a:tcPr>
                </a:tc>
                <a:tc>
                  <a:txBody>
                    <a:bodyPr/>
                    <a:lstStyle/>
                    <a:p>
                      <a:pPr indent="0" lvl="0" marL="0" marR="0" rtl="0" algn="l">
                        <a:lnSpc>
                          <a:spcPct val="100000"/>
                        </a:lnSpc>
                        <a:spcBef>
                          <a:spcPts val="0"/>
                        </a:spcBef>
                        <a:spcAft>
                          <a:spcPts val="0"/>
                        </a:spcAft>
                        <a:buClr>
                          <a:srgbClr val="000000"/>
                        </a:buClr>
                        <a:buSzPts val="1250"/>
                        <a:buFont typeface="Arial"/>
                        <a:buNone/>
                      </a:pPr>
                      <a:r>
                        <a:rPr b="0" lang="en-US" sz="1250" u="none" cap="none" strike="noStrike">
                          <a:solidFill>
                            <a:srgbClr val="333333"/>
                          </a:solidFill>
                          <a:latin typeface="Calibri"/>
                          <a:ea typeface="Calibri"/>
                          <a:cs typeface="Calibri"/>
                          <a:sym typeface="Calibri"/>
                        </a:rPr>
                        <a:t>95,2%</a:t>
                      </a:r>
                      <a:endParaRPr sz="1400" u="none" cap="none" strike="noStrike"/>
                    </a:p>
                  </a:txBody>
                  <a:tcPr marT="25400" marB="25400" marR="76200" marL="76200" anchor="ctr">
                    <a:solidFill>
                      <a:srgbClr val="F1F3F6"/>
                    </a:solidFill>
                  </a:tcPr>
                </a:tc>
              </a:tr>
              <a:tr h="566925">
                <a:tc>
                  <a:txBody>
                    <a:bodyPr/>
                    <a:lstStyle/>
                    <a:p>
                      <a:pPr indent="0" lvl="0" marL="0" marR="0" rtl="0" algn="l">
                        <a:lnSpc>
                          <a:spcPct val="100000"/>
                        </a:lnSpc>
                        <a:spcBef>
                          <a:spcPts val="0"/>
                        </a:spcBef>
                        <a:spcAft>
                          <a:spcPts val="0"/>
                        </a:spcAft>
                        <a:buClr>
                          <a:srgbClr val="000000"/>
                        </a:buClr>
                        <a:buSzPts val="1250"/>
                        <a:buFont typeface="Arial"/>
                        <a:buNone/>
                      </a:pPr>
                      <a:r>
                        <a:rPr b="0" lang="en-US" sz="1250" u="none" cap="none" strike="noStrike">
                          <a:solidFill>
                            <a:srgbClr val="333333"/>
                          </a:solidFill>
                          <a:latin typeface="Calibri"/>
                          <a:ea typeface="Calibri"/>
                          <a:cs typeface="Calibri"/>
                          <a:sym typeface="Calibri"/>
                        </a:rPr>
                        <a:t>Vấn đề nổi bật nhất</a:t>
                      </a:r>
                      <a:endParaRPr sz="1400" u="none" cap="none" strike="noStrike"/>
                    </a:p>
                  </a:txBody>
                  <a:tcPr marT="25400" marB="25400" marR="76200" marL="76200" anchor="ctr">
                    <a:solidFill>
                      <a:srgbClr val="FFFFFF"/>
                    </a:solidFill>
                  </a:tcPr>
                </a:tc>
                <a:tc>
                  <a:txBody>
                    <a:bodyPr/>
                    <a:lstStyle/>
                    <a:p>
                      <a:pPr indent="0" lvl="0" marL="0" marR="0" rtl="0" algn="l">
                        <a:lnSpc>
                          <a:spcPct val="100000"/>
                        </a:lnSpc>
                        <a:spcBef>
                          <a:spcPts val="0"/>
                        </a:spcBef>
                        <a:spcAft>
                          <a:spcPts val="0"/>
                        </a:spcAft>
                        <a:buClr>
                          <a:srgbClr val="000000"/>
                        </a:buClr>
                        <a:buSzPts val="1250"/>
                        <a:buFont typeface="Arial"/>
                        <a:buNone/>
                      </a:pPr>
                      <a:r>
                        <a:rPr b="0" lang="en-US" sz="1250" u="none" cap="none" strike="noStrike">
                          <a:solidFill>
                            <a:srgbClr val="333333"/>
                          </a:solidFill>
                          <a:latin typeface="Calibri"/>
                          <a:ea typeface="Calibri"/>
                          <a:cs typeface="Calibri"/>
                          <a:sym typeface="Calibri"/>
                        </a:rPr>
                        <a:t>Tài liệu PRO-* chưa</a:t>
                      </a:r>
                      <a:endParaRPr sz="1400" u="none" cap="none" strike="noStrike"/>
                    </a:p>
                    <a:p>
                      <a:pPr indent="0" lvl="0" marL="0" marR="0" rtl="0" algn="l">
                        <a:lnSpc>
                          <a:spcPct val="100000"/>
                        </a:lnSpc>
                        <a:spcBef>
                          <a:spcPts val="0"/>
                        </a:spcBef>
                        <a:spcAft>
                          <a:spcPts val="0"/>
                        </a:spcAft>
                        <a:buClr>
                          <a:srgbClr val="000000"/>
                        </a:buClr>
                        <a:buSzPts val="1250"/>
                        <a:buFont typeface="Arial"/>
                        <a:buNone/>
                      </a:pPr>
                      <a:r>
                        <a:rPr b="0" lang="en-US" sz="1250" u="none" cap="none" strike="noStrike">
                          <a:solidFill>
                            <a:srgbClr val="333333"/>
                          </a:solidFill>
                          <a:latin typeface="Calibri"/>
                          <a:ea typeface="Calibri"/>
                          <a:cs typeface="Calibri"/>
                          <a:sym typeface="Calibri"/>
                        </a:rPr>
                        <a:t>cập nhật kịp thời</a:t>
                      </a:r>
                      <a:endParaRPr sz="1400" u="none" cap="none" strike="noStrike"/>
                    </a:p>
                  </a:txBody>
                  <a:tcPr marT="25400" marB="25400" marR="76200" marL="76200" anchor="ctr">
                    <a:solidFill>
                      <a:srgbClr val="FFFFFF"/>
                    </a:solidFill>
                  </a:tcPr>
                </a:tc>
                <a:tc>
                  <a:txBody>
                    <a:bodyPr/>
                    <a:lstStyle/>
                    <a:p>
                      <a:pPr indent="0" lvl="0" marL="0" marR="0" rtl="0" algn="l">
                        <a:lnSpc>
                          <a:spcPct val="100000"/>
                        </a:lnSpc>
                        <a:spcBef>
                          <a:spcPts val="0"/>
                        </a:spcBef>
                        <a:spcAft>
                          <a:spcPts val="0"/>
                        </a:spcAft>
                        <a:buClr>
                          <a:srgbClr val="000000"/>
                        </a:buClr>
                        <a:buSzPts val="1250"/>
                        <a:buFont typeface="Arial"/>
                        <a:buNone/>
                      </a:pPr>
                      <a:r>
                        <a:rPr b="0" lang="en-US" sz="1250" u="none" cap="none" strike="noStrike">
                          <a:solidFill>
                            <a:srgbClr val="333333"/>
                          </a:solidFill>
                          <a:latin typeface="Calibri"/>
                          <a:ea typeface="Calibri"/>
                          <a:cs typeface="Calibri"/>
                          <a:sym typeface="Calibri"/>
                        </a:rPr>
                        <a:t>Sprint không đạt</a:t>
                      </a:r>
                      <a:endParaRPr sz="1400" u="none" cap="none" strike="noStrike"/>
                    </a:p>
                    <a:p>
                      <a:pPr indent="0" lvl="0" marL="0" marR="0" rtl="0" algn="l">
                        <a:lnSpc>
                          <a:spcPct val="100000"/>
                        </a:lnSpc>
                        <a:spcBef>
                          <a:spcPts val="0"/>
                        </a:spcBef>
                        <a:spcAft>
                          <a:spcPts val="0"/>
                        </a:spcAft>
                        <a:buClr>
                          <a:srgbClr val="000000"/>
                        </a:buClr>
                        <a:buSzPts val="1250"/>
                        <a:buFont typeface="Arial"/>
                        <a:buNone/>
                      </a:pPr>
                      <a:r>
                        <a:rPr b="0" lang="en-US" sz="1250" u="none" cap="none" strike="noStrike">
                          <a:solidFill>
                            <a:srgbClr val="333333"/>
                          </a:solidFill>
                          <a:latin typeface="Calibri"/>
                          <a:ea typeface="Calibri"/>
                          <a:cs typeface="Calibri"/>
                          <a:sym typeface="Calibri"/>
                        </a:rPr>
                        <a:t>Definition of Done</a:t>
                      </a:r>
                      <a:endParaRPr sz="1400" u="none" cap="none" strike="noStrike"/>
                    </a:p>
                  </a:txBody>
                  <a:tcPr marT="25400" marB="25400" marR="76200" marL="76200" anchor="ctr">
                    <a:solidFill>
                      <a:srgbClr val="FFFFFF"/>
                    </a:solidFill>
                  </a:tcPr>
                </a:tc>
                <a:tc>
                  <a:txBody>
                    <a:bodyPr/>
                    <a:lstStyle/>
                    <a:p>
                      <a:pPr indent="0" lvl="0" marL="0" marR="0" rtl="0" algn="l">
                        <a:lnSpc>
                          <a:spcPct val="100000"/>
                        </a:lnSpc>
                        <a:spcBef>
                          <a:spcPts val="0"/>
                        </a:spcBef>
                        <a:spcAft>
                          <a:spcPts val="0"/>
                        </a:spcAft>
                        <a:buClr>
                          <a:srgbClr val="000000"/>
                        </a:buClr>
                        <a:buSzPts val="1250"/>
                        <a:buFont typeface="Arial"/>
                        <a:buNone/>
                      </a:pPr>
                      <a:r>
                        <a:rPr b="0" lang="en-US" sz="1250" u="none" cap="none" strike="noStrike">
                          <a:solidFill>
                            <a:srgbClr val="333333"/>
                          </a:solidFill>
                          <a:latin typeface="Calibri"/>
                          <a:ea typeface="Calibri"/>
                          <a:cs typeface="Calibri"/>
                          <a:sym typeface="Calibri"/>
                        </a:rPr>
                        <a:t>Ứng viên rút lui do</a:t>
                      </a:r>
                      <a:endParaRPr sz="1400" u="none" cap="none" strike="noStrike"/>
                    </a:p>
                    <a:p>
                      <a:pPr indent="0" lvl="0" marL="0" marR="0" rtl="0" algn="l">
                        <a:lnSpc>
                          <a:spcPct val="100000"/>
                        </a:lnSpc>
                        <a:spcBef>
                          <a:spcPts val="0"/>
                        </a:spcBef>
                        <a:spcAft>
                          <a:spcPts val="0"/>
                        </a:spcAft>
                        <a:buClr>
                          <a:srgbClr val="000000"/>
                        </a:buClr>
                        <a:buSzPts val="1250"/>
                        <a:buFont typeface="Arial"/>
                        <a:buNone/>
                      </a:pPr>
                      <a:r>
                        <a:rPr b="0" lang="en-US" sz="1250" u="none" cap="none" strike="noStrike">
                          <a:solidFill>
                            <a:srgbClr val="333333"/>
                          </a:solidFill>
                          <a:latin typeface="Calibri"/>
                          <a:ea typeface="Calibri"/>
                          <a:cs typeface="Calibri"/>
                          <a:sym typeface="Calibri"/>
                        </a:rPr>
                        <a:t>chờ phản hồi quá lâu</a:t>
                      </a:r>
                      <a:endParaRPr sz="1400" u="none" cap="none" strike="noStrike"/>
                    </a:p>
                  </a:txBody>
                  <a:tcPr marT="25400" marB="25400" marR="76200" marL="76200" anchor="ctr">
                    <a:solidFill>
                      <a:srgbClr val="FFFFFF"/>
                    </a:solidFill>
                  </a:tcPr>
                </a:tc>
              </a:tr>
            </a:tbl>
          </a:graphicData>
        </a:graphic>
      </p:graphicFrame>
      <p:sp>
        <p:nvSpPr>
          <p:cNvPr id="528" name="Google Shape;528;p23"/>
          <p:cNvSpPr txBox="1"/>
          <p:nvPr/>
        </p:nvSpPr>
        <p:spPr>
          <a:xfrm>
            <a:off x="502920" y="4846320"/>
            <a:ext cx="11155680"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0" i="1" lang="en-US" sz="1050" u="none" cap="none" strike="noStrike">
                <a:solidFill>
                  <a:srgbClr val="595959"/>
                </a:solidFill>
                <a:latin typeface="Calibri"/>
                <a:ea typeface="Calibri"/>
                <a:cs typeface="Calibri"/>
                <a:sym typeface="Calibri"/>
              </a:rPr>
              <a:t>* Hiệu suất thời gian = Thời gian kế hoạch / Thời gian thực tế trung bình (có tính trường hợp phát sinh).</a:t>
            </a:r>
            <a:endParaRPr b="0" i="0" sz="1400" u="none" cap="none" strike="noStrike">
              <a:solidFill>
                <a:srgbClr val="000000"/>
              </a:solidFill>
              <a:latin typeface="Arial"/>
              <a:ea typeface="Arial"/>
              <a:cs typeface="Arial"/>
              <a:sym typeface="Arial"/>
            </a:endParaRPr>
          </a:p>
        </p:txBody>
      </p:sp>
      <p:sp>
        <p:nvSpPr>
          <p:cNvPr id="529" name="Google Shape;529;p23"/>
          <p:cNvSpPr txBox="1"/>
          <p:nvPr/>
        </p:nvSpPr>
        <p:spPr>
          <a:xfrm>
            <a:off x="502920" y="5166345"/>
            <a:ext cx="11155800" cy="8256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Clr>
                <a:srgbClr val="000000"/>
              </a:buClr>
              <a:buSzPts val="1300"/>
              <a:buFont typeface="Arial"/>
              <a:buNone/>
            </a:pPr>
            <a:r>
              <a:rPr b="1" i="0" lang="en-US" sz="1300" u="none" cap="none" strike="noStrike">
                <a:solidFill>
                  <a:schemeClr val="dk1"/>
                </a:solidFill>
                <a:latin typeface="Calibri"/>
                <a:ea typeface="Calibri"/>
                <a:cs typeface="Calibri"/>
                <a:sym typeface="Calibri"/>
              </a:rPr>
              <a:t>›  </a:t>
            </a:r>
            <a:r>
              <a:rPr b="0" i="0" lang="en-US" sz="1300" u="none" cap="none" strike="noStrike">
                <a:solidFill>
                  <a:schemeClr val="dk1"/>
                </a:solidFill>
                <a:latin typeface="Calibri"/>
                <a:ea typeface="Calibri"/>
                <a:cs typeface="Calibri"/>
                <a:sym typeface="Calibri"/>
              </a:rPr>
              <a:t>Cả 3 quy trình đều đạt đúng chuẩn độ phức tạp BPMN của đồ án (8 gateway: 6 XOR + 2 AND).</a:t>
            </a:r>
            <a:endParaRPr b="0" i="0" sz="1400" u="none" cap="none" strike="noStrike">
              <a:solidFill>
                <a:schemeClr val="dk1"/>
              </a:solidFill>
              <a:latin typeface="Arial"/>
              <a:ea typeface="Arial"/>
              <a:cs typeface="Arial"/>
              <a:sym typeface="Arial"/>
            </a:endParaRPr>
          </a:p>
          <a:p>
            <a:pPr indent="0" lvl="0" marL="0" marR="0" rtl="0" algn="l">
              <a:lnSpc>
                <a:spcPct val="105000"/>
              </a:lnSpc>
              <a:spcBef>
                <a:spcPts val="800"/>
              </a:spcBef>
              <a:spcAft>
                <a:spcPts val="0"/>
              </a:spcAft>
              <a:buClr>
                <a:srgbClr val="000000"/>
              </a:buClr>
              <a:buSzPts val="1300"/>
              <a:buFont typeface="Arial"/>
              <a:buNone/>
            </a:pPr>
            <a:r>
              <a:rPr b="1" i="0" lang="en-US" sz="1300" u="none" cap="none" strike="noStrike">
                <a:solidFill>
                  <a:schemeClr val="dk1"/>
                </a:solidFill>
                <a:latin typeface="Calibri"/>
                <a:ea typeface="Calibri"/>
                <a:cs typeface="Calibri"/>
                <a:sym typeface="Calibri"/>
              </a:rPr>
              <a:t>›  </a:t>
            </a:r>
            <a:r>
              <a:rPr b="0" i="0" lang="en-US" sz="1300" u="none" cap="none" strike="noStrike">
                <a:solidFill>
                  <a:schemeClr val="dk1"/>
                </a:solidFill>
                <a:latin typeface="Calibri"/>
                <a:ea typeface="Calibri"/>
                <a:cs typeface="Calibri"/>
                <a:sym typeface="Calibri"/>
              </a:rPr>
              <a:t>Tuyển dụng Nhân sự có nhiều vòng lặp nhất — phản ánh tính bất định cao khi phụ thuộc vào con người (ứng viên, phê duyệt).</a:t>
            </a:r>
            <a:endParaRPr b="0" i="0" sz="1400" u="none" cap="none" strike="noStrike">
              <a:solidFill>
                <a:schemeClr val="dk1"/>
              </a:solidFill>
              <a:latin typeface="Arial"/>
              <a:ea typeface="Arial"/>
              <a:cs typeface="Arial"/>
              <a:sym typeface="Arial"/>
            </a:endParaRPr>
          </a:p>
          <a:p>
            <a:pPr indent="0" lvl="0" marL="0" marR="0" rtl="0" algn="l">
              <a:lnSpc>
                <a:spcPct val="105000"/>
              </a:lnSpc>
              <a:spcBef>
                <a:spcPts val="800"/>
              </a:spcBef>
              <a:spcAft>
                <a:spcPts val="0"/>
              </a:spcAft>
              <a:buClr>
                <a:srgbClr val="000000"/>
              </a:buClr>
              <a:buSzPts val="1300"/>
              <a:buFont typeface="Arial"/>
              <a:buNone/>
            </a:pPr>
            <a:r>
              <a:rPr b="1" i="0" lang="en-US" sz="1300" u="none" cap="none" strike="noStrike">
                <a:solidFill>
                  <a:schemeClr val="dk1"/>
                </a:solidFill>
                <a:latin typeface="Calibri"/>
                <a:ea typeface="Calibri"/>
                <a:cs typeface="Calibri"/>
                <a:sym typeface="Calibri"/>
              </a:rPr>
              <a:t>›  </a:t>
            </a:r>
            <a:r>
              <a:rPr b="0" i="0" lang="en-US" sz="1300" u="none" cap="none" strike="noStrike">
                <a:solidFill>
                  <a:schemeClr val="dk1"/>
                </a:solidFill>
                <a:latin typeface="Calibri"/>
                <a:ea typeface="Calibri"/>
                <a:cs typeface="Calibri"/>
                <a:sym typeface="Calibri"/>
              </a:rPr>
              <a:t>Cả 3 quy trình đều đạt hiệu suất thời gian trên 95% — điểm nghẽn chính không phải ở thời lượng mà ở tỷ lệ lặp lại/rework.</a:t>
            </a:r>
            <a:endParaRPr b="0" i="0" sz="1400" u="none" cap="none" strike="noStrike">
              <a:solidFill>
                <a:schemeClr val="dk1"/>
              </a:solidFill>
              <a:latin typeface="Arial"/>
              <a:ea typeface="Arial"/>
              <a:cs typeface="Arial"/>
              <a:sym typeface="Arial"/>
            </a:endParaRPr>
          </a:p>
        </p:txBody>
      </p:sp>
      <p:sp>
        <p:nvSpPr>
          <p:cNvPr id="530" name="Google Shape;530;p23"/>
          <p:cNvSpPr txBox="1"/>
          <p:nvPr/>
        </p:nvSpPr>
        <p:spPr>
          <a:xfrm>
            <a:off x="502920" y="6528816"/>
            <a:ext cx="731520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50"/>
              <a:buFont typeface="Arial"/>
              <a:buNone/>
            </a:pPr>
            <a:r>
              <a:rPr b="0" i="1" lang="en-US" sz="950" u="none" cap="none" strike="noStrike">
                <a:solidFill>
                  <a:srgbClr val="595959"/>
                </a:solidFill>
                <a:latin typeface="Calibri"/>
                <a:ea typeface="Calibri"/>
                <a:cs typeface="Calibri"/>
                <a:sym typeface="Calibri"/>
              </a:rPr>
              <a:t>IE203 – Quản trị quy trình nghiệp vụ  |  OR Tech</a:t>
            </a:r>
            <a:endParaRPr b="0" i="0" sz="1400" u="none" cap="none" strike="noStrike">
              <a:solidFill>
                <a:srgbClr val="000000"/>
              </a:solidFill>
              <a:latin typeface="Arial"/>
              <a:ea typeface="Arial"/>
              <a:cs typeface="Arial"/>
              <a:sym typeface="Arial"/>
            </a:endParaRPr>
          </a:p>
        </p:txBody>
      </p:sp>
      <p:sp>
        <p:nvSpPr>
          <p:cNvPr id="531" name="Google Shape;531;p23"/>
          <p:cNvSpPr txBox="1"/>
          <p:nvPr/>
        </p:nvSpPr>
        <p:spPr>
          <a:xfrm>
            <a:off x="11338560" y="6528816"/>
            <a:ext cx="457200" cy="27432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050"/>
              <a:buFont typeface="Arial"/>
              <a:buNone/>
            </a:pPr>
            <a:r>
              <a:rPr b="1" i="0" lang="en-US" sz="1050" u="none" cap="none" strike="noStrike">
                <a:solidFill>
                  <a:srgbClr val="595959"/>
                </a:solidFill>
                <a:latin typeface="Calibri"/>
                <a:ea typeface="Calibri"/>
                <a:cs typeface="Calibri"/>
                <a:sym typeface="Calibri"/>
              </a:rPr>
              <a:t>22</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6" name="Shape 536"/>
        <p:cNvGrpSpPr/>
        <p:nvPr/>
      </p:nvGrpSpPr>
      <p:grpSpPr>
        <a:xfrm>
          <a:off x="0" y="0"/>
          <a:ext cx="0" cy="0"/>
          <a:chOff x="0" y="0"/>
          <a:chExt cx="0" cy="0"/>
        </a:xfrm>
      </p:grpSpPr>
      <p:sp>
        <p:nvSpPr>
          <p:cNvPr id="537" name="Google Shape;537;p24"/>
          <p:cNvSpPr/>
          <p:nvPr/>
        </p:nvSpPr>
        <p:spPr>
          <a:xfrm>
            <a:off x="0" y="-122600"/>
            <a:ext cx="121917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38" name="Google Shape;538;p24"/>
          <p:cNvSpPr/>
          <p:nvPr/>
        </p:nvSpPr>
        <p:spPr>
          <a:xfrm>
            <a:off x="0" y="0"/>
            <a:ext cx="12191695" cy="960120"/>
          </a:xfrm>
          <a:prstGeom prst="rect">
            <a:avLst/>
          </a:prstGeom>
          <a:solidFill>
            <a:srgbClr val="0D948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39" name="Google Shape;539;p24"/>
          <p:cNvSpPr/>
          <p:nvPr/>
        </p:nvSpPr>
        <p:spPr>
          <a:xfrm>
            <a:off x="0" y="960120"/>
            <a:ext cx="12191695" cy="38100"/>
          </a:xfrm>
          <a:prstGeom prst="rect">
            <a:avLst/>
          </a:prstGeom>
          <a:solidFill>
            <a:schemeClr val="accent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40" name="Google Shape;540;p24"/>
          <p:cNvSpPr txBox="1"/>
          <p:nvPr/>
        </p:nvSpPr>
        <p:spPr>
          <a:xfrm>
            <a:off x="502920" y="91440"/>
            <a:ext cx="100584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lt1"/>
                </a:solidFill>
                <a:latin typeface="Calibri"/>
                <a:ea typeface="Calibri"/>
                <a:cs typeface="Calibri"/>
                <a:sym typeface="Calibri"/>
              </a:rPr>
              <a:t>TỔNG KẾT</a:t>
            </a:r>
            <a:endParaRPr b="0" i="0" sz="1400" u="none" cap="none" strike="noStrike">
              <a:solidFill>
                <a:schemeClr val="lt1"/>
              </a:solidFill>
              <a:latin typeface="Arial"/>
              <a:ea typeface="Arial"/>
              <a:cs typeface="Arial"/>
              <a:sym typeface="Arial"/>
            </a:endParaRPr>
          </a:p>
        </p:txBody>
      </p:sp>
      <p:sp>
        <p:nvSpPr>
          <p:cNvPr id="541" name="Google Shape;541;p24"/>
          <p:cNvSpPr txBox="1"/>
          <p:nvPr/>
        </p:nvSpPr>
        <p:spPr>
          <a:xfrm>
            <a:off x="502920" y="365760"/>
            <a:ext cx="10972800" cy="5486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FFFFFF"/>
                </a:solidFill>
                <a:latin typeface="Calibri"/>
                <a:ea typeface="Calibri"/>
                <a:cs typeface="Calibri"/>
                <a:sym typeface="Calibri"/>
              </a:rPr>
              <a:t>Kết luận chung</a:t>
            </a:r>
            <a:endParaRPr b="0" i="0" sz="1400" u="none" cap="none" strike="noStrike">
              <a:solidFill>
                <a:srgbClr val="000000"/>
              </a:solidFill>
              <a:latin typeface="Arial"/>
              <a:ea typeface="Arial"/>
              <a:cs typeface="Arial"/>
              <a:sym typeface="Arial"/>
            </a:endParaRPr>
          </a:p>
        </p:txBody>
      </p:sp>
      <p:sp>
        <p:nvSpPr>
          <p:cNvPr id="542" name="Google Shape;542;p24"/>
          <p:cNvSpPr txBox="1"/>
          <p:nvPr/>
        </p:nvSpPr>
        <p:spPr>
          <a:xfrm>
            <a:off x="518107" y="1440008"/>
            <a:ext cx="11155800" cy="207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50"/>
              <a:buFont typeface="Arial"/>
              <a:buNone/>
            </a:pPr>
            <a:r>
              <a:rPr b="1" i="0" lang="en-US" sz="1350" u="none" cap="none" strike="noStrike">
                <a:solidFill>
                  <a:schemeClr val="dk1"/>
                </a:solidFill>
                <a:latin typeface="Calibri"/>
                <a:ea typeface="Calibri"/>
                <a:cs typeface="Calibri"/>
                <a:sym typeface="Calibri"/>
              </a:rPr>
              <a:t>GIÁ TRỊ CỦA VIỆC CHUẨN HÓA QUY TRÌNH</a:t>
            </a:r>
            <a:endParaRPr b="0" i="0" sz="1400" u="none" cap="none" strike="noStrike">
              <a:solidFill>
                <a:schemeClr val="dk1"/>
              </a:solidFill>
              <a:latin typeface="Arial"/>
              <a:ea typeface="Arial"/>
              <a:cs typeface="Arial"/>
              <a:sym typeface="Arial"/>
            </a:endParaRPr>
          </a:p>
        </p:txBody>
      </p:sp>
      <p:sp>
        <p:nvSpPr>
          <p:cNvPr id="543" name="Google Shape;543;p24"/>
          <p:cNvSpPr txBox="1"/>
          <p:nvPr/>
        </p:nvSpPr>
        <p:spPr>
          <a:xfrm>
            <a:off x="518107" y="1805767"/>
            <a:ext cx="11155800" cy="173010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Clr>
                <a:srgbClr val="000000"/>
              </a:buClr>
              <a:buSzPts val="1400"/>
              <a:buFont typeface="Arial"/>
              <a:buNone/>
            </a:pPr>
            <a:r>
              <a:rPr b="1" i="0" lang="en-US" sz="1400" u="none" cap="none" strike="noStrike">
                <a:solidFill>
                  <a:schemeClr val="dk1"/>
                </a:solidFill>
                <a:latin typeface="Calibri"/>
                <a:ea typeface="Calibri"/>
                <a:cs typeface="Calibri"/>
                <a:sym typeface="Calibri"/>
              </a:rPr>
              <a:t>›  Với doanh nghiệp outsourcing như OR Tech, </a:t>
            </a:r>
            <a:r>
              <a:rPr b="0" i="0" lang="en-US" sz="1400" u="none" cap="none" strike="noStrike">
                <a:solidFill>
                  <a:schemeClr val="dk1"/>
                </a:solidFill>
                <a:latin typeface="Calibri"/>
                <a:ea typeface="Calibri"/>
                <a:cs typeface="Calibri"/>
                <a:sym typeface="Calibri"/>
              </a:rPr>
              <a:t>mỗi quy trình gắn trực tiếp với cam kết SLA và trải nghiệm khách hàng quốc tế — chuẩn hóa quy trình là nền tảng để giữ chứng nhận ISO 9001/27001 và uy tín cạnh tranh.</a:t>
            </a:r>
            <a:endParaRPr b="0" i="0" sz="1400" u="none" cap="none" strike="noStrike">
              <a:solidFill>
                <a:schemeClr val="dk1"/>
              </a:solidFill>
              <a:latin typeface="Arial"/>
              <a:ea typeface="Arial"/>
              <a:cs typeface="Arial"/>
              <a:sym typeface="Arial"/>
            </a:endParaRPr>
          </a:p>
          <a:p>
            <a:pPr indent="0" lvl="0" marL="0" marR="0" rtl="0" algn="l">
              <a:lnSpc>
                <a:spcPct val="112000"/>
              </a:lnSpc>
              <a:spcBef>
                <a:spcPts val="1200"/>
              </a:spcBef>
              <a:spcAft>
                <a:spcPts val="0"/>
              </a:spcAft>
              <a:buClr>
                <a:srgbClr val="000000"/>
              </a:buClr>
              <a:buSzPts val="1400"/>
              <a:buFont typeface="Arial"/>
              <a:buNone/>
            </a:pPr>
            <a:r>
              <a:rPr b="1" i="0" lang="en-US" sz="1400" u="none" cap="none" strike="noStrike">
                <a:solidFill>
                  <a:schemeClr val="dk1"/>
                </a:solidFill>
                <a:latin typeface="Calibri"/>
                <a:ea typeface="Calibri"/>
                <a:cs typeface="Calibri"/>
                <a:sym typeface="Calibri"/>
              </a:rPr>
              <a:t>›  Mô hình hóa BPMN + phân tích VA/Waste/Pareto </a:t>
            </a:r>
            <a:r>
              <a:rPr b="0" i="0" lang="en-US" sz="1400" u="none" cap="none" strike="noStrike">
                <a:solidFill>
                  <a:schemeClr val="dk1"/>
                </a:solidFill>
                <a:latin typeface="Calibri"/>
                <a:ea typeface="Calibri"/>
                <a:cs typeface="Calibri"/>
                <a:sym typeface="Calibri"/>
              </a:rPr>
              <a:t>giúp nhận diện chính xác điểm nghẽn (bottleneck) và lượng hóa tác động, thay vì chỉ dựa trên cảm nhận định tính.</a:t>
            </a:r>
            <a:endParaRPr b="0" i="0" sz="1400" u="none" cap="none" strike="noStrike">
              <a:solidFill>
                <a:schemeClr val="dk1"/>
              </a:solidFill>
              <a:latin typeface="Arial"/>
              <a:ea typeface="Arial"/>
              <a:cs typeface="Arial"/>
              <a:sym typeface="Arial"/>
            </a:endParaRPr>
          </a:p>
          <a:p>
            <a:pPr indent="0" lvl="0" marL="0" marR="0" rtl="0" algn="l">
              <a:lnSpc>
                <a:spcPct val="112000"/>
              </a:lnSpc>
              <a:spcBef>
                <a:spcPts val="1200"/>
              </a:spcBef>
              <a:spcAft>
                <a:spcPts val="0"/>
              </a:spcAft>
              <a:buClr>
                <a:srgbClr val="000000"/>
              </a:buClr>
              <a:buSzPts val="1400"/>
              <a:buFont typeface="Arial"/>
              <a:buNone/>
            </a:pPr>
            <a:r>
              <a:rPr b="1" i="0" lang="en-US" sz="1400" u="none" cap="none" strike="noStrike">
                <a:solidFill>
                  <a:schemeClr val="dk1"/>
                </a:solidFill>
                <a:latin typeface="Calibri"/>
                <a:ea typeface="Calibri"/>
                <a:cs typeface="Calibri"/>
                <a:sym typeface="Calibri"/>
              </a:rPr>
              <a:t>›  Cả 3 quy trình đại diện (Management/Core/Support) </a:t>
            </a:r>
            <a:r>
              <a:rPr b="0" i="0" lang="en-US" sz="1400" u="none" cap="none" strike="noStrike">
                <a:solidFill>
                  <a:schemeClr val="dk1"/>
                </a:solidFill>
                <a:latin typeface="Calibri"/>
                <a:ea typeface="Calibri"/>
                <a:cs typeface="Calibri"/>
                <a:sym typeface="Calibri"/>
              </a:rPr>
              <a:t>đều cho thấy dư địa cải tiến rõ ràng thông qua số hóa (QMS, ATS) và thiết lập SLA nội bộ giữa các bộ phận.</a:t>
            </a:r>
            <a:endParaRPr b="0" i="0" sz="1400" u="none" cap="none" strike="noStrike">
              <a:solidFill>
                <a:schemeClr val="dk1"/>
              </a:solidFill>
              <a:latin typeface="Arial"/>
              <a:ea typeface="Arial"/>
              <a:cs typeface="Arial"/>
              <a:sym typeface="Arial"/>
            </a:endParaRPr>
          </a:p>
        </p:txBody>
      </p:sp>
      <p:sp>
        <p:nvSpPr>
          <p:cNvPr id="544" name="Google Shape;544;p24"/>
          <p:cNvSpPr txBox="1"/>
          <p:nvPr/>
        </p:nvSpPr>
        <p:spPr>
          <a:xfrm>
            <a:off x="518007" y="4081389"/>
            <a:ext cx="11155800" cy="207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50"/>
              <a:buFont typeface="Arial"/>
              <a:buNone/>
            </a:pPr>
            <a:r>
              <a:rPr b="1" i="0" lang="en-US" sz="1350" u="none" cap="none" strike="noStrike">
                <a:solidFill>
                  <a:schemeClr val="dk1"/>
                </a:solidFill>
                <a:latin typeface="Calibri"/>
                <a:ea typeface="Calibri"/>
                <a:cs typeface="Calibri"/>
                <a:sym typeface="Calibri"/>
              </a:rPr>
              <a:t>BÀI HỌC KINH NGHIỆM CỦA NHÓM</a:t>
            </a:r>
            <a:endParaRPr b="0" i="0" sz="1400" u="none" cap="none" strike="noStrike">
              <a:solidFill>
                <a:schemeClr val="dk1"/>
              </a:solidFill>
              <a:latin typeface="Arial"/>
              <a:ea typeface="Arial"/>
              <a:cs typeface="Arial"/>
              <a:sym typeface="Arial"/>
            </a:endParaRPr>
          </a:p>
        </p:txBody>
      </p:sp>
      <p:sp>
        <p:nvSpPr>
          <p:cNvPr id="545" name="Google Shape;545;p24"/>
          <p:cNvSpPr txBox="1"/>
          <p:nvPr/>
        </p:nvSpPr>
        <p:spPr>
          <a:xfrm>
            <a:off x="518007" y="4447150"/>
            <a:ext cx="11155800" cy="1065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1300"/>
              <a:buFont typeface="Arial"/>
              <a:buNone/>
            </a:pPr>
            <a:r>
              <a:rPr b="1" i="0" lang="en-US" sz="1300" u="none" cap="none" strike="noStrike">
                <a:solidFill>
                  <a:schemeClr val="dk1"/>
                </a:solidFill>
                <a:latin typeface="Calibri"/>
                <a:ea typeface="Calibri"/>
                <a:cs typeface="Calibri"/>
                <a:sym typeface="Calibri"/>
              </a:rPr>
              <a:t>›  </a:t>
            </a:r>
            <a:r>
              <a:rPr b="0" i="0" lang="en-US" sz="1300" u="none" cap="none" strike="noStrike">
                <a:solidFill>
                  <a:schemeClr val="dk1"/>
                </a:solidFill>
                <a:latin typeface="Calibri"/>
                <a:ea typeface="Calibri"/>
                <a:cs typeface="Calibri"/>
                <a:sym typeface="Calibri"/>
              </a:rPr>
              <a:t>Mô hình hóa BPMN đúng chuẩn (đủ gateway, swimlane, vòng lặp) đòi hỏi hiểu sâu nghiệp vụ thực tế, không chỉ vẽ sơ đồ.</a:t>
            </a:r>
            <a:endParaRPr b="0" i="0" sz="1400" u="none" cap="none" strike="noStrike">
              <a:solidFill>
                <a:schemeClr val="dk1"/>
              </a:solidFill>
              <a:latin typeface="Arial"/>
              <a:ea typeface="Arial"/>
              <a:cs typeface="Arial"/>
              <a:sym typeface="Arial"/>
            </a:endParaRPr>
          </a:p>
          <a:p>
            <a:pPr indent="0" lvl="0" marL="0" marR="0" rtl="0" algn="l">
              <a:lnSpc>
                <a:spcPct val="110000"/>
              </a:lnSpc>
              <a:spcBef>
                <a:spcPts val="800"/>
              </a:spcBef>
              <a:spcAft>
                <a:spcPts val="0"/>
              </a:spcAft>
              <a:buClr>
                <a:srgbClr val="000000"/>
              </a:buClr>
              <a:buSzPts val="1300"/>
              <a:buFont typeface="Arial"/>
              <a:buNone/>
            </a:pPr>
            <a:r>
              <a:rPr b="1" i="0" lang="en-US" sz="1300" u="none" cap="none" strike="noStrike">
                <a:solidFill>
                  <a:schemeClr val="dk1"/>
                </a:solidFill>
                <a:latin typeface="Calibri"/>
                <a:ea typeface="Calibri"/>
                <a:cs typeface="Calibri"/>
                <a:sym typeface="Calibri"/>
              </a:rPr>
              <a:t>›  </a:t>
            </a:r>
            <a:r>
              <a:rPr b="0" i="0" lang="en-US" sz="1300" u="none" cap="none" strike="noStrike">
                <a:solidFill>
                  <a:schemeClr val="dk1"/>
                </a:solidFill>
                <a:latin typeface="Calibri"/>
                <a:ea typeface="Calibri"/>
                <a:cs typeface="Calibri"/>
                <a:sym typeface="Calibri"/>
              </a:rPr>
              <a:t>Phỏng vấn có cấu trúc lẫn không cấu trúc bổ trợ nhau — câu hỏi không cấu trúc thường phát hiện được nguyên nhân gốc rễ mà câu hỏi có cấu trúc bỏ sót.</a:t>
            </a:r>
            <a:endParaRPr b="0" i="0" sz="1400" u="none" cap="none" strike="noStrike">
              <a:solidFill>
                <a:schemeClr val="dk1"/>
              </a:solidFill>
              <a:latin typeface="Arial"/>
              <a:ea typeface="Arial"/>
              <a:cs typeface="Arial"/>
              <a:sym typeface="Arial"/>
            </a:endParaRPr>
          </a:p>
          <a:p>
            <a:pPr indent="0" lvl="0" marL="0" marR="0" rtl="0" algn="l">
              <a:lnSpc>
                <a:spcPct val="110000"/>
              </a:lnSpc>
              <a:spcBef>
                <a:spcPts val="800"/>
              </a:spcBef>
              <a:spcAft>
                <a:spcPts val="0"/>
              </a:spcAft>
              <a:buClr>
                <a:srgbClr val="000000"/>
              </a:buClr>
              <a:buSzPts val="1300"/>
              <a:buFont typeface="Arial"/>
              <a:buNone/>
            </a:pPr>
            <a:r>
              <a:rPr b="1" i="0" lang="en-US" sz="1300" u="none" cap="none" strike="noStrike">
                <a:solidFill>
                  <a:schemeClr val="dk1"/>
                </a:solidFill>
                <a:latin typeface="Calibri"/>
                <a:ea typeface="Calibri"/>
                <a:cs typeface="Calibri"/>
                <a:sym typeface="Calibri"/>
              </a:rPr>
              <a:t>›  </a:t>
            </a:r>
            <a:r>
              <a:rPr b="0" i="0" lang="en-US" sz="1300" u="none" cap="none" strike="noStrike">
                <a:solidFill>
                  <a:schemeClr val="dk1"/>
                </a:solidFill>
                <a:latin typeface="Calibri"/>
                <a:ea typeface="Calibri"/>
                <a:cs typeface="Calibri"/>
                <a:sym typeface="Calibri"/>
              </a:rPr>
              <a:t>Không phải quy trình nào cũng sẵn có đủ số liệu định lượng — nhóm đã phải ước tính bổ sung có căn cứ cho 2/3 quy trình trình bày hôm nay, cho thấy tầm quan trọng của việc thu thập dữ liệu ngay từ đầu dự án.</a:t>
            </a:r>
            <a:endParaRPr b="0" i="0" sz="1400" u="none" cap="none" strike="noStrike">
              <a:solidFill>
                <a:schemeClr val="dk1"/>
              </a:solidFill>
              <a:latin typeface="Arial"/>
              <a:ea typeface="Arial"/>
              <a:cs typeface="Arial"/>
              <a:sym typeface="Arial"/>
            </a:endParaRPr>
          </a:p>
        </p:txBody>
      </p:sp>
      <p:sp>
        <p:nvSpPr>
          <p:cNvPr id="546" name="Google Shape;546;p24"/>
          <p:cNvSpPr txBox="1"/>
          <p:nvPr/>
        </p:nvSpPr>
        <p:spPr>
          <a:xfrm>
            <a:off x="502920" y="6528816"/>
            <a:ext cx="731520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50"/>
              <a:buFont typeface="Arial"/>
              <a:buNone/>
            </a:pPr>
            <a:r>
              <a:rPr b="0" i="1" lang="en-US" sz="950" u="none" cap="none" strike="noStrike">
                <a:solidFill>
                  <a:srgbClr val="595959"/>
                </a:solidFill>
                <a:latin typeface="Calibri"/>
                <a:ea typeface="Calibri"/>
                <a:cs typeface="Calibri"/>
                <a:sym typeface="Calibri"/>
              </a:rPr>
              <a:t>IE203 – Quản trị quy trình nghiệp vụ  |  OR Tech</a:t>
            </a:r>
            <a:endParaRPr b="0" i="0" sz="1400" u="none" cap="none" strike="noStrike">
              <a:solidFill>
                <a:srgbClr val="000000"/>
              </a:solidFill>
              <a:latin typeface="Arial"/>
              <a:ea typeface="Arial"/>
              <a:cs typeface="Arial"/>
              <a:sym typeface="Arial"/>
            </a:endParaRPr>
          </a:p>
        </p:txBody>
      </p:sp>
      <p:sp>
        <p:nvSpPr>
          <p:cNvPr id="547" name="Google Shape;547;p24"/>
          <p:cNvSpPr txBox="1"/>
          <p:nvPr/>
        </p:nvSpPr>
        <p:spPr>
          <a:xfrm>
            <a:off x="11338560" y="6528816"/>
            <a:ext cx="457200" cy="27432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050"/>
              <a:buFont typeface="Arial"/>
              <a:buNone/>
            </a:pPr>
            <a:r>
              <a:rPr b="1" i="0" lang="en-US" sz="1050" u="none" cap="none" strike="noStrike">
                <a:solidFill>
                  <a:srgbClr val="595959"/>
                </a:solidFill>
                <a:latin typeface="Calibri"/>
                <a:ea typeface="Calibri"/>
                <a:cs typeface="Calibri"/>
                <a:sym typeface="Calibri"/>
              </a:rPr>
              <a:t>23</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25"/>
          <p:cNvSpPr txBox="1"/>
          <p:nvPr/>
        </p:nvSpPr>
        <p:spPr>
          <a:xfrm>
            <a:off x="702420" y="6342635"/>
            <a:ext cx="11155800" cy="177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150"/>
              <a:buFont typeface="Arial"/>
              <a:buNone/>
            </a:pPr>
            <a:r>
              <a:rPr b="0" i="1" lang="en-US" sz="1150" u="none" cap="none" strike="noStrike">
                <a:solidFill>
                  <a:srgbClr val="595959"/>
                </a:solidFill>
                <a:latin typeface="Calibri"/>
                <a:ea typeface="Calibri"/>
                <a:cs typeface="Calibri"/>
                <a:sym typeface="Calibri"/>
              </a:rPr>
              <a:t>IE203 – Hệ thống quản trị quy trình nghiệp vụ  ·  OR Tech (bí danh minh họa)</a:t>
            </a:r>
            <a:endParaRPr b="0" i="0" sz="1400" u="none" cap="none" strike="noStrike">
              <a:solidFill>
                <a:srgbClr val="595959"/>
              </a:solidFill>
              <a:latin typeface="Arial"/>
              <a:ea typeface="Arial"/>
              <a:cs typeface="Arial"/>
              <a:sym typeface="Arial"/>
            </a:endParaRPr>
          </a:p>
        </p:txBody>
      </p:sp>
      <p:sp>
        <p:nvSpPr>
          <p:cNvPr id="554" name="Google Shape;554;p25"/>
          <p:cNvSpPr/>
          <p:nvPr/>
        </p:nvSpPr>
        <p:spPr>
          <a:xfrm>
            <a:off x="5394960" y="502920"/>
            <a:ext cx="1417200" cy="1417200"/>
          </a:xfrm>
          <a:prstGeom prst="ellipse">
            <a:avLst/>
          </a:prstGeom>
          <a:solidFill>
            <a:srgbClr val="E6FBF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5" name="Google Shape;555;p25"/>
          <p:cNvSpPr/>
          <p:nvPr/>
        </p:nvSpPr>
        <p:spPr>
          <a:xfrm>
            <a:off x="-731520" y="4846320"/>
            <a:ext cx="2377500" cy="2377500"/>
          </a:xfrm>
          <a:prstGeom prst="ellipse">
            <a:avLst/>
          </a:prstGeom>
          <a:solidFill>
            <a:srgbClr val="EEF0F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6" name="Google Shape;556;p25"/>
          <p:cNvSpPr/>
          <p:nvPr/>
        </p:nvSpPr>
        <p:spPr>
          <a:xfrm>
            <a:off x="10607040" y="4572000"/>
            <a:ext cx="2194500" cy="2194500"/>
          </a:xfrm>
          <a:prstGeom prst="ellipse">
            <a:avLst/>
          </a:prstGeom>
          <a:solidFill>
            <a:srgbClr val="FFF1E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7" name="Google Shape;557;p25"/>
          <p:cNvSpPr/>
          <p:nvPr/>
        </p:nvSpPr>
        <p:spPr>
          <a:xfrm>
            <a:off x="822960" y="2331720"/>
            <a:ext cx="10542900" cy="1371600"/>
          </a:xfrm>
          <a:prstGeom prst="rect">
            <a:avLst/>
          </a:prstGeom>
          <a:noFill/>
          <a:ln>
            <a:noFill/>
          </a:ln>
        </p:spPr>
        <p:txBody>
          <a:bodyPr anchorCtr="0" anchor="ctr" bIns="45700" lIns="91425" spcFirstLastPara="1" rIns="91425" wrap="square" tIns="45700">
            <a:noAutofit/>
          </a:bodyPr>
          <a:lstStyle/>
          <a:p>
            <a:pPr indent="0" lvl="0" marL="0" marR="0" rtl="0" algn="ctr">
              <a:lnSpc>
                <a:spcPct val="108000"/>
              </a:lnSpc>
              <a:spcBef>
                <a:spcPts val="0"/>
              </a:spcBef>
              <a:spcAft>
                <a:spcPts val="0"/>
              </a:spcAft>
              <a:buClr>
                <a:srgbClr val="1E293B"/>
              </a:buClr>
              <a:buSzPts val="3200"/>
              <a:buFont typeface="Calibri"/>
              <a:buNone/>
            </a:pPr>
            <a:r>
              <a:rPr b="1" i="0" lang="en-US" sz="3200" u="none" cap="none" strike="noStrike">
                <a:solidFill>
                  <a:srgbClr val="1E293B"/>
                </a:solidFill>
                <a:latin typeface="Calibri"/>
                <a:ea typeface="Calibri"/>
                <a:cs typeface="Calibri"/>
                <a:sym typeface="Calibri"/>
              </a:rPr>
              <a:t>CẢM ƠN THẦY/CÔ VÀ CÁC BẠN</a:t>
            </a:r>
            <a:endParaRPr b="0" i="0" sz="3200" u="none" cap="none" strike="noStrike">
              <a:solidFill>
                <a:srgbClr val="000000"/>
              </a:solidFill>
              <a:latin typeface="Calibri"/>
              <a:ea typeface="Calibri"/>
              <a:cs typeface="Calibri"/>
              <a:sym typeface="Calibri"/>
            </a:endParaRPr>
          </a:p>
          <a:p>
            <a:pPr indent="0" lvl="0" marL="0" marR="0" rtl="0" algn="ctr">
              <a:lnSpc>
                <a:spcPct val="108000"/>
              </a:lnSpc>
              <a:spcBef>
                <a:spcPts val="0"/>
              </a:spcBef>
              <a:spcAft>
                <a:spcPts val="0"/>
              </a:spcAft>
              <a:buClr>
                <a:srgbClr val="1E293B"/>
              </a:buClr>
              <a:buSzPts val="3200"/>
              <a:buFont typeface="Calibri"/>
              <a:buNone/>
            </a:pPr>
            <a:r>
              <a:rPr b="1" i="0" lang="en-US" sz="3200" u="none" cap="none" strike="noStrike">
                <a:solidFill>
                  <a:srgbClr val="1E293B"/>
                </a:solidFill>
                <a:latin typeface="Calibri"/>
                <a:ea typeface="Calibri"/>
                <a:cs typeface="Calibri"/>
                <a:sym typeface="Calibri"/>
              </a:rPr>
              <a:t>ĐÃ LẮNG NGHE</a:t>
            </a:r>
            <a:endParaRPr b="0" i="0" sz="3200" u="none" cap="none" strike="noStrike">
              <a:solidFill>
                <a:srgbClr val="000000"/>
              </a:solidFill>
              <a:latin typeface="Calibri"/>
              <a:ea typeface="Calibri"/>
              <a:cs typeface="Calibri"/>
              <a:sym typeface="Calibri"/>
            </a:endParaRPr>
          </a:p>
        </p:txBody>
      </p:sp>
      <p:sp>
        <p:nvSpPr>
          <p:cNvPr id="558" name="Google Shape;558;p25"/>
          <p:cNvSpPr/>
          <p:nvPr/>
        </p:nvSpPr>
        <p:spPr>
          <a:xfrm>
            <a:off x="5413248" y="3794760"/>
            <a:ext cx="1371600" cy="457200"/>
          </a:xfrm>
          <a:prstGeom prst="roundRect">
            <a:avLst>
              <a:gd fmla="val 50000" name="adj"/>
            </a:avLst>
          </a:prstGeom>
          <a:solidFill>
            <a:srgbClr val="0369A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9" name="Google Shape;559;p25"/>
          <p:cNvSpPr/>
          <p:nvPr/>
        </p:nvSpPr>
        <p:spPr>
          <a:xfrm>
            <a:off x="5413248" y="3794760"/>
            <a:ext cx="1371600" cy="4572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Q &amp; A</a:t>
            </a:r>
            <a:endParaRPr b="0" i="0" sz="1500" u="none" cap="none" strike="noStrike">
              <a:solidFill>
                <a:srgbClr val="000000"/>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cp:coreProperties>
</file>